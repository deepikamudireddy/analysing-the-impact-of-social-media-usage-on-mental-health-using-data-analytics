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B5F53A-BC85-415A-953D-B1A9D603FC9E}">
          <p14:sldIdLst>
            <p14:sldId id="256"/>
            <p14:sldId id="257"/>
            <p14:sldId id="258"/>
            <p14:sldId id="259"/>
            <p14:sldId id="273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Untitled Section" id="{889268D5-3962-4B21-8AFA-1009FF93769B}">
          <p14:sldIdLst>
            <p14:sldId id="274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659"/>
    <a:srgbClr val="215287"/>
    <a:srgbClr val="6AB458"/>
    <a:srgbClr val="CBB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88" d="100"/>
          <a:sy n="88" d="100"/>
        </p:scale>
        <p:origin x="5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1"/><Relationship Id="rId2" Type="http://schemas.openxmlformats.org/officeDocument/2006/relationships/hyperlink" Target="https://www.pexels.com/video/woman-sleeping-at-work-7882753/" TargetMode="External"/><Relationship Id="rId1" Type="http://schemas.openxmlformats.org/officeDocument/2006/relationships/image" Target="../media/image10.jpg"/><Relationship Id="rId5" Type="http://schemas.openxmlformats.org/officeDocument/2006/relationships/image" Target="../media/image12.jpg"/><Relationship Id="rId4" Type="http://schemas.openxmlformats.org/officeDocument/2006/relationships/hyperlink" Target="https://www.rawpixel.com/search/clarity" TargetMode="Externa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1"/><Relationship Id="rId2" Type="http://schemas.openxmlformats.org/officeDocument/2006/relationships/hyperlink" Target="https://www.pexels.com/video/woman-sleeping-at-work-7882753/" TargetMode="External"/><Relationship Id="rId1" Type="http://schemas.openxmlformats.org/officeDocument/2006/relationships/image" Target="../media/image10.jpg"/><Relationship Id="rId5" Type="http://schemas.openxmlformats.org/officeDocument/2006/relationships/image" Target="../media/image12.jpg"/><Relationship Id="rId4" Type="http://schemas.openxmlformats.org/officeDocument/2006/relationships/hyperlink" Target="https://www.rawpixel.com/search/clarity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A2EB78-BB24-435D-B030-5F6AE9646DB0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3A57235-6823-4869-9FF5-B7D036E9E46D}">
      <dgm:prSet phldrT="[Text]"/>
      <dgm:spPr/>
      <dgm:t>
        <a:bodyPr/>
        <a:lstStyle/>
        <a:p>
          <a:pPr algn="l">
            <a:buNone/>
          </a:pPr>
          <a:r>
            <a:rPr lang="en-IN" dirty="0"/>
            <a:t>🟦 </a:t>
          </a:r>
          <a:r>
            <a:rPr lang="en-IN" b="1" dirty="0"/>
            <a:t>Sleep Quality</a:t>
          </a:r>
          <a:endParaRPr lang="en-IN" dirty="0"/>
        </a:p>
        <a:p>
          <a:pPr algn="l">
            <a:buNone/>
          </a:pPr>
          <a:r>
            <a:rPr lang="en-IN" dirty="0">
              <a:solidFill>
                <a:schemeClr val="bg2">
                  <a:lumMod val="50000"/>
                </a:schemeClr>
              </a:solidFill>
            </a:rPr>
            <a:t>Reduced sleep quality is linked to increased mental health concerns.</a:t>
          </a:r>
        </a:p>
      </dgm:t>
    </dgm:pt>
    <dgm:pt modelId="{215E9369-DC92-4DEE-9667-C8B0CDAF7F72}" type="parTrans" cxnId="{F82542EC-B170-4E6B-A1B8-44EFCFE54FF3}">
      <dgm:prSet/>
      <dgm:spPr/>
      <dgm:t>
        <a:bodyPr/>
        <a:lstStyle/>
        <a:p>
          <a:endParaRPr lang="en-IN"/>
        </a:p>
      </dgm:t>
    </dgm:pt>
    <dgm:pt modelId="{C4E74DEE-AB42-46D9-90F4-8D47DEA533CB}" type="sibTrans" cxnId="{F82542EC-B170-4E6B-A1B8-44EFCFE54FF3}">
      <dgm:prSet/>
      <dgm:spPr/>
      <dgm:t>
        <a:bodyPr/>
        <a:lstStyle/>
        <a:p>
          <a:endParaRPr lang="en-IN"/>
        </a:p>
      </dgm:t>
    </dgm:pt>
    <dgm:pt modelId="{63566441-1139-4245-9365-F9E144BBFFB5}">
      <dgm:prSet phldrT="[Text]"/>
      <dgm:spPr/>
      <dgm:t>
        <a:bodyPr/>
        <a:lstStyle/>
        <a:p>
          <a:pPr>
            <a:buNone/>
          </a:pPr>
          <a:r>
            <a:rPr lang="en-IN" dirty="0"/>
            <a:t>🟦 </a:t>
          </a:r>
          <a:r>
            <a:rPr lang="en-IN" b="1" dirty="0"/>
            <a:t>Overall Impact</a:t>
          </a:r>
          <a:endParaRPr lang="en-IN" dirty="0"/>
        </a:p>
        <a:p>
          <a:pPr>
            <a:buNone/>
          </a:pPr>
          <a:r>
            <a:rPr lang="en-IN" dirty="0">
              <a:solidFill>
                <a:schemeClr val="bg2">
                  <a:lumMod val="50000"/>
                </a:schemeClr>
              </a:solidFill>
            </a:rPr>
            <a:t>Maintaining healthy sleep patterns contributes to better emotional well-being.</a:t>
          </a:r>
        </a:p>
      </dgm:t>
    </dgm:pt>
    <dgm:pt modelId="{F8B8592A-9DA7-4787-9B77-F865786E4665}" type="parTrans" cxnId="{84203EF0-2A05-40CE-839B-AF127286C9CC}">
      <dgm:prSet/>
      <dgm:spPr/>
      <dgm:t>
        <a:bodyPr/>
        <a:lstStyle/>
        <a:p>
          <a:endParaRPr lang="en-IN"/>
        </a:p>
      </dgm:t>
    </dgm:pt>
    <dgm:pt modelId="{085C1233-32DD-4F10-99A3-599E95AFE70F}" type="sibTrans" cxnId="{84203EF0-2A05-40CE-839B-AF127286C9CC}">
      <dgm:prSet/>
      <dgm:spPr/>
      <dgm:t>
        <a:bodyPr/>
        <a:lstStyle/>
        <a:p>
          <a:endParaRPr lang="en-IN"/>
        </a:p>
      </dgm:t>
    </dgm:pt>
    <dgm:pt modelId="{F37514F8-2832-4E9D-B4E1-46DD3B8DE230}">
      <dgm:prSet phldrT="[Text]"/>
      <dgm:spPr/>
      <dgm:t>
        <a:bodyPr/>
        <a:lstStyle/>
        <a:p>
          <a:pPr>
            <a:buNone/>
          </a:pPr>
          <a:r>
            <a:rPr lang="en-IN" dirty="0"/>
            <a:t>🟦 </a:t>
          </a:r>
          <a:r>
            <a:rPr lang="en-IN" b="1" dirty="0"/>
            <a:t>Concentration</a:t>
          </a:r>
          <a:endParaRPr lang="en-IN" dirty="0"/>
        </a:p>
        <a:p>
          <a:pPr>
            <a:buNone/>
          </a:pPr>
          <a:r>
            <a:rPr lang="en-IN" dirty="0">
              <a:solidFill>
                <a:schemeClr val="bg2">
                  <a:lumMod val="50000"/>
                </a:schemeClr>
              </a:solidFill>
            </a:rPr>
            <a:t>Sleep disturbances significantly affect focus and daily performance</a:t>
          </a:r>
          <a:r>
            <a:rPr lang="en-IN" dirty="0"/>
            <a:t>.</a:t>
          </a:r>
        </a:p>
      </dgm:t>
    </dgm:pt>
    <dgm:pt modelId="{CDA31539-4C80-4C24-9CD8-6CDB4436BC7C}" type="parTrans" cxnId="{AE5321BA-A357-4B15-983F-7B804B50EEF5}">
      <dgm:prSet/>
      <dgm:spPr/>
      <dgm:t>
        <a:bodyPr/>
        <a:lstStyle/>
        <a:p>
          <a:endParaRPr lang="en-IN"/>
        </a:p>
      </dgm:t>
    </dgm:pt>
    <dgm:pt modelId="{5391434D-3333-4535-84DB-A8E7D507CC9B}" type="sibTrans" cxnId="{AE5321BA-A357-4B15-983F-7B804B50EEF5}">
      <dgm:prSet/>
      <dgm:spPr/>
      <dgm:t>
        <a:bodyPr/>
        <a:lstStyle/>
        <a:p>
          <a:endParaRPr lang="en-IN"/>
        </a:p>
      </dgm:t>
    </dgm:pt>
    <dgm:pt modelId="{5C5B6E80-D46D-4223-B0F8-1B7A6E6B744C}" type="pres">
      <dgm:prSet presAssocID="{36A2EB78-BB24-435D-B030-5F6AE9646DB0}" presName="Name0" presStyleCnt="0">
        <dgm:presLayoutVars>
          <dgm:dir/>
          <dgm:resizeHandles val="exact"/>
        </dgm:presLayoutVars>
      </dgm:prSet>
      <dgm:spPr/>
    </dgm:pt>
    <dgm:pt modelId="{3686E399-C3B5-4CDF-A5FB-9D8E07F8EA21}" type="pres">
      <dgm:prSet presAssocID="{53A57235-6823-4869-9FF5-B7D036E9E46D}" presName="composite" presStyleCnt="0"/>
      <dgm:spPr/>
    </dgm:pt>
    <dgm:pt modelId="{64F3DACF-590B-4F8B-887B-79028C5728D9}" type="pres">
      <dgm:prSet presAssocID="{53A57235-6823-4869-9FF5-B7D036E9E46D}" presName="rect1" presStyleLbl="trAlignAcc1" presStyleIdx="0" presStyleCnt="3">
        <dgm:presLayoutVars>
          <dgm:bulletEnabled val="1"/>
        </dgm:presLayoutVars>
      </dgm:prSet>
      <dgm:spPr/>
    </dgm:pt>
    <dgm:pt modelId="{D16E428F-043D-4A1F-AD62-015C09BF7C93}" type="pres">
      <dgm:prSet presAssocID="{53A57235-6823-4869-9FF5-B7D036E9E46D}" presName="rect2" presStyleLbl="fgImgPlace1" presStyleIdx="0" presStyleCnt="3" custScaleX="101132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83000" r="-83000"/>
          </a:stretch>
        </a:blipFill>
      </dgm:spPr>
    </dgm:pt>
    <dgm:pt modelId="{18308DBF-A6AE-4384-BD12-1FDE3E96DD1B}" type="pres">
      <dgm:prSet presAssocID="{C4E74DEE-AB42-46D9-90F4-8D47DEA533CB}" presName="sibTrans" presStyleCnt="0"/>
      <dgm:spPr/>
    </dgm:pt>
    <dgm:pt modelId="{E532520F-F638-4FDF-9804-54CDEB865D3A}" type="pres">
      <dgm:prSet presAssocID="{F37514F8-2832-4E9D-B4E1-46DD3B8DE230}" presName="composite" presStyleCnt="0"/>
      <dgm:spPr/>
    </dgm:pt>
    <dgm:pt modelId="{47000205-8B80-45FC-88EF-A3C023FB21AB}" type="pres">
      <dgm:prSet presAssocID="{F37514F8-2832-4E9D-B4E1-46DD3B8DE230}" presName="rect1" presStyleLbl="trAlignAcc1" presStyleIdx="1" presStyleCnt="3">
        <dgm:presLayoutVars>
          <dgm:bulletEnabled val="1"/>
        </dgm:presLayoutVars>
      </dgm:prSet>
      <dgm:spPr/>
    </dgm:pt>
    <dgm:pt modelId="{2C61B72A-914C-42B4-B75B-E2A326FF995C}" type="pres">
      <dgm:prSet presAssocID="{F37514F8-2832-4E9D-B4E1-46DD3B8DE230}" presName="rect2" presStyleLbl="fgImgPlace1" presStyleIdx="1" presStyleCnt="3" custLinFactNeighborX="12157" custLinFactNeighborY="-1191"/>
      <dgm:spPr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</dgm:spPr>
    </dgm:pt>
    <dgm:pt modelId="{E7B2797C-610D-4CCC-93CB-B79EF037CB4F}" type="pres">
      <dgm:prSet presAssocID="{5391434D-3333-4535-84DB-A8E7D507CC9B}" presName="sibTrans" presStyleCnt="0"/>
      <dgm:spPr/>
    </dgm:pt>
    <dgm:pt modelId="{A039ABFC-FC88-485E-ACE6-5D0448329D7A}" type="pres">
      <dgm:prSet presAssocID="{63566441-1139-4245-9365-F9E144BBFFB5}" presName="composite" presStyleCnt="0"/>
      <dgm:spPr/>
    </dgm:pt>
    <dgm:pt modelId="{376F5CB9-8B01-40C5-B32F-A314B3F02D3D}" type="pres">
      <dgm:prSet presAssocID="{63566441-1139-4245-9365-F9E144BBFFB5}" presName="rect1" presStyleLbl="trAlignAcc1" presStyleIdx="2" presStyleCnt="3">
        <dgm:presLayoutVars>
          <dgm:bulletEnabled val="1"/>
        </dgm:presLayoutVars>
      </dgm:prSet>
      <dgm:spPr/>
    </dgm:pt>
    <dgm:pt modelId="{718D9227-50E1-4177-A73D-A83BD8AE2854}" type="pres">
      <dgm:prSet presAssocID="{63566441-1139-4245-9365-F9E144BBFFB5}" presName="rect2" presStyleLbl="fgImgPlace1" presStyleIdx="2" presStyleCnt="3"/>
      <dgm:spPr>
        <a:blipFill>
          <a:blip xmlns:r="http://schemas.openxmlformats.org/officeDocument/2006/relationships" r:embed="rId5"/>
          <a:srcRect/>
          <a:stretch>
            <a:fillRect l="-63000" r="-63000"/>
          </a:stretch>
        </a:blipFill>
      </dgm:spPr>
    </dgm:pt>
  </dgm:ptLst>
  <dgm:cxnLst>
    <dgm:cxn modelId="{ACD1B972-F919-4E2E-9EC2-2E10E44A23E8}" type="presOf" srcId="{F37514F8-2832-4E9D-B4E1-46DD3B8DE230}" destId="{47000205-8B80-45FC-88EF-A3C023FB21AB}" srcOrd="0" destOrd="0" presId="urn:microsoft.com/office/officeart/2008/layout/PictureStrips"/>
    <dgm:cxn modelId="{AD13938C-AF9F-49C3-BBC1-A8DEDB27A8D3}" type="presOf" srcId="{53A57235-6823-4869-9FF5-B7D036E9E46D}" destId="{64F3DACF-590B-4F8B-887B-79028C5728D9}" srcOrd="0" destOrd="0" presId="urn:microsoft.com/office/officeart/2008/layout/PictureStrips"/>
    <dgm:cxn modelId="{806345AA-94CF-40ED-BDD3-E02D94134EFB}" type="presOf" srcId="{36A2EB78-BB24-435D-B030-5F6AE9646DB0}" destId="{5C5B6E80-D46D-4223-B0F8-1B7A6E6B744C}" srcOrd="0" destOrd="0" presId="urn:microsoft.com/office/officeart/2008/layout/PictureStrips"/>
    <dgm:cxn modelId="{AE5321BA-A357-4B15-983F-7B804B50EEF5}" srcId="{36A2EB78-BB24-435D-B030-5F6AE9646DB0}" destId="{F37514F8-2832-4E9D-B4E1-46DD3B8DE230}" srcOrd="1" destOrd="0" parTransId="{CDA31539-4C80-4C24-9CD8-6CDB4436BC7C}" sibTransId="{5391434D-3333-4535-84DB-A8E7D507CC9B}"/>
    <dgm:cxn modelId="{7E6208D8-D426-4D67-B6F3-98A9C2838425}" type="presOf" srcId="{63566441-1139-4245-9365-F9E144BBFFB5}" destId="{376F5CB9-8B01-40C5-B32F-A314B3F02D3D}" srcOrd="0" destOrd="0" presId="urn:microsoft.com/office/officeart/2008/layout/PictureStrips"/>
    <dgm:cxn modelId="{F82542EC-B170-4E6B-A1B8-44EFCFE54FF3}" srcId="{36A2EB78-BB24-435D-B030-5F6AE9646DB0}" destId="{53A57235-6823-4869-9FF5-B7D036E9E46D}" srcOrd="0" destOrd="0" parTransId="{215E9369-DC92-4DEE-9667-C8B0CDAF7F72}" sibTransId="{C4E74DEE-AB42-46D9-90F4-8D47DEA533CB}"/>
    <dgm:cxn modelId="{84203EF0-2A05-40CE-839B-AF127286C9CC}" srcId="{36A2EB78-BB24-435D-B030-5F6AE9646DB0}" destId="{63566441-1139-4245-9365-F9E144BBFFB5}" srcOrd="2" destOrd="0" parTransId="{F8B8592A-9DA7-4787-9B77-F865786E4665}" sibTransId="{085C1233-32DD-4F10-99A3-599E95AFE70F}"/>
    <dgm:cxn modelId="{7075291C-231D-4919-931A-8EA170450390}" type="presParOf" srcId="{5C5B6E80-D46D-4223-B0F8-1B7A6E6B744C}" destId="{3686E399-C3B5-4CDF-A5FB-9D8E07F8EA21}" srcOrd="0" destOrd="0" presId="urn:microsoft.com/office/officeart/2008/layout/PictureStrips"/>
    <dgm:cxn modelId="{BDF02769-5DE7-4870-884C-FC3BAEB91646}" type="presParOf" srcId="{3686E399-C3B5-4CDF-A5FB-9D8E07F8EA21}" destId="{64F3DACF-590B-4F8B-887B-79028C5728D9}" srcOrd="0" destOrd="0" presId="urn:microsoft.com/office/officeart/2008/layout/PictureStrips"/>
    <dgm:cxn modelId="{5360DDC6-2EAA-4CD2-9E38-1D46FB944006}" type="presParOf" srcId="{3686E399-C3B5-4CDF-A5FB-9D8E07F8EA21}" destId="{D16E428F-043D-4A1F-AD62-015C09BF7C93}" srcOrd="1" destOrd="0" presId="urn:microsoft.com/office/officeart/2008/layout/PictureStrips"/>
    <dgm:cxn modelId="{6C3B3F44-40BF-413E-89C2-1FC25E25F1F9}" type="presParOf" srcId="{5C5B6E80-D46D-4223-B0F8-1B7A6E6B744C}" destId="{18308DBF-A6AE-4384-BD12-1FDE3E96DD1B}" srcOrd="1" destOrd="0" presId="urn:microsoft.com/office/officeart/2008/layout/PictureStrips"/>
    <dgm:cxn modelId="{D367D310-6565-411D-B6BB-A75670B804CD}" type="presParOf" srcId="{5C5B6E80-D46D-4223-B0F8-1B7A6E6B744C}" destId="{E532520F-F638-4FDF-9804-54CDEB865D3A}" srcOrd="2" destOrd="0" presId="urn:microsoft.com/office/officeart/2008/layout/PictureStrips"/>
    <dgm:cxn modelId="{4CF903DF-1904-451F-B653-6A77724AF0CE}" type="presParOf" srcId="{E532520F-F638-4FDF-9804-54CDEB865D3A}" destId="{47000205-8B80-45FC-88EF-A3C023FB21AB}" srcOrd="0" destOrd="0" presId="urn:microsoft.com/office/officeart/2008/layout/PictureStrips"/>
    <dgm:cxn modelId="{A748BBB5-3643-4D5E-A8CD-1E5614113949}" type="presParOf" srcId="{E532520F-F638-4FDF-9804-54CDEB865D3A}" destId="{2C61B72A-914C-42B4-B75B-E2A326FF995C}" srcOrd="1" destOrd="0" presId="urn:microsoft.com/office/officeart/2008/layout/PictureStrips"/>
    <dgm:cxn modelId="{6A0050EA-FC81-4460-A3D7-F189699CC997}" type="presParOf" srcId="{5C5B6E80-D46D-4223-B0F8-1B7A6E6B744C}" destId="{E7B2797C-610D-4CCC-93CB-B79EF037CB4F}" srcOrd="3" destOrd="0" presId="urn:microsoft.com/office/officeart/2008/layout/PictureStrips"/>
    <dgm:cxn modelId="{E1526185-2549-4693-BAE8-0A357F11CBDA}" type="presParOf" srcId="{5C5B6E80-D46D-4223-B0F8-1B7A6E6B744C}" destId="{A039ABFC-FC88-485E-ACE6-5D0448329D7A}" srcOrd="4" destOrd="0" presId="urn:microsoft.com/office/officeart/2008/layout/PictureStrips"/>
    <dgm:cxn modelId="{EB0D1B22-40BE-4418-8221-BF1411A60660}" type="presParOf" srcId="{A039ABFC-FC88-485E-ACE6-5D0448329D7A}" destId="{376F5CB9-8B01-40C5-B32F-A314B3F02D3D}" srcOrd="0" destOrd="0" presId="urn:microsoft.com/office/officeart/2008/layout/PictureStrips"/>
    <dgm:cxn modelId="{658CE2AE-43F2-4255-8B8E-B0F5DC9D778D}" type="presParOf" srcId="{A039ABFC-FC88-485E-ACE6-5D0448329D7A}" destId="{718D9227-50E1-4177-A73D-A83BD8AE2854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55A711-CE3A-4A4A-B2A2-77EEBF22CFA8}" type="doc">
      <dgm:prSet loTypeId="urn:microsoft.com/office/officeart/2005/8/layout/vList3" loCatId="pictur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BA181B35-8B75-4455-9D23-02C235C153F0}">
      <dgm:prSet phldrT="[Text]" custT="1"/>
      <dgm:spPr/>
      <dgm:t>
        <a:bodyPr/>
        <a:lstStyle/>
        <a:p>
          <a:pPr algn="l">
            <a:buNone/>
          </a:pPr>
          <a:r>
            <a:rPr lang="en-IN" sz="1100" dirty="0"/>
            <a:t> </a:t>
          </a:r>
          <a:r>
            <a:rPr lang="en-IN" sz="1600" b="1" dirty="0"/>
            <a:t>Strongest Driver : </a:t>
          </a:r>
          <a:r>
            <a:rPr lang="en-IN" sz="1100" dirty="0"/>
            <a:t>Social comparison is the strongest factor influencing depression.</a:t>
          </a:r>
        </a:p>
      </dgm:t>
    </dgm:pt>
    <dgm:pt modelId="{E8144727-0A44-4FFC-801F-9381BF923E25}" type="parTrans" cxnId="{253EEED6-DE00-49A5-948C-A3AAB83D2FE2}">
      <dgm:prSet/>
      <dgm:spPr/>
      <dgm:t>
        <a:bodyPr/>
        <a:lstStyle/>
        <a:p>
          <a:endParaRPr lang="en-IN"/>
        </a:p>
      </dgm:t>
    </dgm:pt>
    <dgm:pt modelId="{A7AF9978-93B5-440E-8234-D9BE21AC8298}" type="sibTrans" cxnId="{253EEED6-DE00-49A5-948C-A3AAB83D2FE2}">
      <dgm:prSet/>
      <dgm:spPr/>
      <dgm:t>
        <a:bodyPr/>
        <a:lstStyle/>
        <a:p>
          <a:endParaRPr lang="en-IN"/>
        </a:p>
      </dgm:t>
    </dgm:pt>
    <dgm:pt modelId="{9E451384-346F-4F20-BA79-772A682B9B48}">
      <dgm:prSet phldrT="[Text]" custT="1"/>
      <dgm:spPr/>
      <dgm:t>
        <a:bodyPr/>
        <a:lstStyle/>
        <a:p>
          <a:pPr algn="l">
            <a:buNone/>
          </a:pPr>
          <a:r>
            <a:rPr lang="en-IN" sz="1600" b="1" dirty="0"/>
            <a:t>Correlation: </a:t>
          </a:r>
          <a:r>
            <a:rPr lang="en-IN" sz="1200" dirty="0"/>
            <a:t>Depression and worry show a strong positive relationship.</a:t>
          </a:r>
        </a:p>
      </dgm:t>
    </dgm:pt>
    <dgm:pt modelId="{B95FA690-1F16-4EF1-B7C0-434EBA1B8BD7}" type="parTrans" cxnId="{9423756A-60C5-4288-9B59-CE9F4A75FBB2}">
      <dgm:prSet/>
      <dgm:spPr/>
      <dgm:t>
        <a:bodyPr/>
        <a:lstStyle/>
        <a:p>
          <a:endParaRPr lang="en-IN"/>
        </a:p>
      </dgm:t>
    </dgm:pt>
    <dgm:pt modelId="{127D6123-64F8-4A1C-BB9D-9C33CB73017C}" type="sibTrans" cxnId="{9423756A-60C5-4288-9B59-CE9F4A75FBB2}">
      <dgm:prSet/>
      <dgm:spPr/>
      <dgm:t>
        <a:bodyPr/>
        <a:lstStyle/>
        <a:p>
          <a:endParaRPr lang="en-IN"/>
        </a:p>
      </dgm:t>
    </dgm:pt>
    <dgm:pt modelId="{466A4100-EF6A-4756-B628-31C5B3F1B961}">
      <dgm:prSet phldrT="[Text]" custT="1"/>
      <dgm:spPr/>
      <dgm:t>
        <a:bodyPr/>
        <a:lstStyle/>
        <a:p>
          <a:pPr algn="l">
            <a:buNone/>
          </a:pPr>
          <a:r>
            <a:rPr lang="en-IN" sz="1300" dirty="0"/>
            <a:t> </a:t>
          </a:r>
          <a:r>
            <a:rPr lang="en-IN" sz="1600" b="1" dirty="0"/>
            <a:t>Overall Finding: </a:t>
          </a:r>
          <a:r>
            <a:rPr lang="en-IN" sz="1200" dirty="0"/>
            <a:t>Mental health indicators are closely interconnected</a:t>
          </a:r>
          <a:r>
            <a:rPr lang="en-IN" sz="1300" dirty="0"/>
            <a:t>.</a:t>
          </a:r>
        </a:p>
      </dgm:t>
    </dgm:pt>
    <dgm:pt modelId="{CD7AE29B-0CD9-4440-A56B-C1FD16524F47}" type="parTrans" cxnId="{5918B530-4229-496B-BF91-B731EE6CFA3B}">
      <dgm:prSet/>
      <dgm:spPr/>
      <dgm:t>
        <a:bodyPr/>
        <a:lstStyle/>
        <a:p>
          <a:endParaRPr lang="en-IN"/>
        </a:p>
      </dgm:t>
    </dgm:pt>
    <dgm:pt modelId="{B7FEC578-1814-43E3-AA62-F1802C9F69DA}" type="sibTrans" cxnId="{5918B530-4229-496B-BF91-B731EE6CFA3B}">
      <dgm:prSet/>
      <dgm:spPr/>
      <dgm:t>
        <a:bodyPr/>
        <a:lstStyle/>
        <a:p>
          <a:endParaRPr lang="en-IN"/>
        </a:p>
      </dgm:t>
    </dgm:pt>
    <dgm:pt modelId="{AE08DE27-2C55-4C14-8171-BD8EFC276A05}" type="pres">
      <dgm:prSet presAssocID="{3955A711-CE3A-4A4A-B2A2-77EEBF22CFA8}" presName="linearFlow" presStyleCnt="0">
        <dgm:presLayoutVars>
          <dgm:dir/>
          <dgm:resizeHandles val="exact"/>
        </dgm:presLayoutVars>
      </dgm:prSet>
      <dgm:spPr/>
    </dgm:pt>
    <dgm:pt modelId="{53052A2B-D91F-4020-8A18-255D763ECA3B}" type="pres">
      <dgm:prSet presAssocID="{BA181B35-8B75-4455-9D23-02C235C153F0}" presName="composite" presStyleCnt="0"/>
      <dgm:spPr/>
    </dgm:pt>
    <dgm:pt modelId="{0472E286-D4C7-458B-AA42-9F5E6A4B2A2D}" type="pres">
      <dgm:prSet presAssocID="{BA181B35-8B75-4455-9D23-02C235C153F0}" presName="imgShp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62A46656-3C85-4C17-B5AD-C921A32D6EEA}" type="pres">
      <dgm:prSet presAssocID="{BA181B35-8B75-4455-9D23-02C235C153F0}" presName="txShp" presStyleLbl="node1" presStyleIdx="0" presStyleCnt="3">
        <dgm:presLayoutVars>
          <dgm:bulletEnabled val="1"/>
        </dgm:presLayoutVars>
      </dgm:prSet>
      <dgm:spPr/>
    </dgm:pt>
    <dgm:pt modelId="{BBF03389-45E3-4C5B-97AB-3FFDC32BE4C4}" type="pres">
      <dgm:prSet presAssocID="{A7AF9978-93B5-440E-8234-D9BE21AC8298}" presName="spacing" presStyleCnt="0"/>
      <dgm:spPr/>
    </dgm:pt>
    <dgm:pt modelId="{6BBDCA69-92BC-4F30-A4E1-1CDEC5999644}" type="pres">
      <dgm:prSet presAssocID="{9E451384-346F-4F20-BA79-772A682B9B48}" presName="composite" presStyleCnt="0"/>
      <dgm:spPr/>
    </dgm:pt>
    <dgm:pt modelId="{0653D0E3-2EC2-4C99-8EF6-8304795CD03C}" type="pres">
      <dgm:prSet presAssocID="{9E451384-346F-4F20-BA79-772A682B9B48}" presName="imgShp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187BE32B-8F57-48BE-AFC2-56FECF88A35B}" type="pres">
      <dgm:prSet presAssocID="{9E451384-346F-4F20-BA79-772A682B9B48}" presName="txShp" presStyleLbl="node1" presStyleIdx="1" presStyleCnt="3">
        <dgm:presLayoutVars>
          <dgm:bulletEnabled val="1"/>
        </dgm:presLayoutVars>
      </dgm:prSet>
      <dgm:spPr/>
    </dgm:pt>
    <dgm:pt modelId="{20CF69A3-70B5-4E09-8584-82B7BF9DCEB4}" type="pres">
      <dgm:prSet presAssocID="{127D6123-64F8-4A1C-BB9D-9C33CB73017C}" presName="spacing" presStyleCnt="0"/>
      <dgm:spPr/>
    </dgm:pt>
    <dgm:pt modelId="{375FCB71-CFA8-417E-B0D0-9D69E5CC5287}" type="pres">
      <dgm:prSet presAssocID="{466A4100-EF6A-4756-B628-31C5B3F1B961}" presName="composite" presStyleCnt="0"/>
      <dgm:spPr/>
    </dgm:pt>
    <dgm:pt modelId="{3783DA70-D4AC-426B-9204-66809C87B635}" type="pres">
      <dgm:prSet presAssocID="{466A4100-EF6A-4756-B628-31C5B3F1B961}" presName="imgShp" presStyleLbl="fgImgPlace1" presStyleIdx="2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7929C475-32B4-4A26-9022-47DF32AB7105}" type="pres">
      <dgm:prSet presAssocID="{466A4100-EF6A-4756-B628-31C5B3F1B961}" presName="txShp" presStyleLbl="node1" presStyleIdx="2" presStyleCnt="3">
        <dgm:presLayoutVars>
          <dgm:bulletEnabled val="1"/>
        </dgm:presLayoutVars>
      </dgm:prSet>
      <dgm:spPr/>
    </dgm:pt>
  </dgm:ptLst>
  <dgm:cxnLst>
    <dgm:cxn modelId="{D3E9E01C-7704-4684-83E9-0A7E61B85F31}" type="presOf" srcId="{466A4100-EF6A-4756-B628-31C5B3F1B961}" destId="{7929C475-32B4-4A26-9022-47DF32AB7105}" srcOrd="0" destOrd="0" presId="urn:microsoft.com/office/officeart/2005/8/layout/vList3"/>
    <dgm:cxn modelId="{2F20FC2C-8E59-495E-821E-D5F8A40FD953}" type="presOf" srcId="{9E451384-346F-4F20-BA79-772A682B9B48}" destId="{187BE32B-8F57-48BE-AFC2-56FECF88A35B}" srcOrd="0" destOrd="0" presId="urn:microsoft.com/office/officeart/2005/8/layout/vList3"/>
    <dgm:cxn modelId="{5918B530-4229-496B-BF91-B731EE6CFA3B}" srcId="{3955A711-CE3A-4A4A-B2A2-77EEBF22CFA8}" destId="{466A4100-EF6A-4756-B628-31C5B3F1B961}" srcOrd="2" destOrd="0" parTransId="{CD7AE29B-0CD9-4440-A56B-C1FD16524F47}" sibTransId="{B7FEC578-1814-43E3-AA62-F1802C9F69DA}"/>
    <dgm:cxn modelId="{705C6C36-C2CA-4B69-9C84-05E3D51E9631}" type="presOf" srcId="{3955A711-CE3A-4A4A-B2A2-77EEBF22CFA8}" destId="{AE08DE27-2C55-4C14-8171-BD8EFC276A05}" srcOrd="0" destOrd="0" presId="urn:microsoft.com/office/officeart/2005/8/layout/vList3"/>
    <dgm:cxn modelId="{9423756A-60C5-4288-9B59-CE9F4A75FBB2}" srcId="{3955A711-CE3A-4A4A-B2A2-77EEBF22CFA8}" destId="{9E451384-346F-4F20-BA79-772A682B9B48}" srcOrd="1" destOrd="0" parTransId="{B95FA690-1F16-4EF1-B7C0-434EBA1B8BD7}" sibTransId="{127D6123-64F8-4A1C-BB9D-9C33CB73017C}"/>
    <dgm:cxn modelId="{1597CF87-136F-41E6-AD1D-32E16E591558}" type="presOf" srcId="{BA181B35-8B75-4455-9D23-02C235C153F0}" destId="{62A46656-3C85-4C17-B5AD-C921A32D6EEA}" srcOrd="0" destOrd="0" presId="urn:microsoft.com/office/officeart/2005/8/layout/vList3"/>
    <dgm:cxn modelId="{253EEED6-DE00-49A5-948C-A3AAB83D2FE2}" srcId="{3955A711-CE3A-4A4A-B2A2-77EEBF22CFA8}" destId="{BA181B35-8B75-4455-9D23-02C235C153F0}" srcOrd="0" destOrd="0" parTransId="{E8144727-0A44-4FFC-801F-9381BF923E25}" sibTransId="{A7AF9978-93B5-440E-8234-D9BE21AC8298}"/>
    <dgm:cxn modelId="{C082AD31-D894-454A-B018-F0370301C2C9}" type="presParOf" srcId="{AE08DE27-2C55-4C14-8171-BD8EFC276A05}" destId="{53052A2B-D91F-4020-8A18-255D763ECA3B}" srcOrd="0" destOrd="0" presId="urn:microsoft.com/office/officeart/2005/8/layout/vList3"/>
    <dgm:cxn modelId="{F68A7A15-5283-42D3-9AF3-B19073CDCFBD}" type="presParOf" srcId="{53052A2B-D91F-4020-8A18-255D763ECA3B}" destId="{0472E286-D4C7-458B-AA42-9F5E6A4B2A2D}" srcOrd="0" destOrd="0" presId="urn:microsoft.com/office/officeart/2005/8/layout/vList3"/>
    <dgm:cxn modelId="{1A96CA97-1E50-44E7-BE37-82FB43251167}" type="presParOf" srcId="{53052A2B-D91F-4020-8A18-255D763ECA3B}" destId="{62A46656-3C85-4C17-B5AD-C921A32D6EEA}" srcOrd="1" destOrd="0" presId="urn:microsoft.com/office/officeart/2005/8/layout/vList3"/>
    <dgm:cxn modelId="{F07222A1-75EF-4DFF-918E-9224D823673D}" type="presParOf" srcId="{AE08DE27-2C55-4C14-8171-BD8EFC276A05}" destId="{BBF03389-45E3-4C5B-97AB-3FFDC32BE4C4}" srcOrd="1" destOrd="0" presId="urn:microsoft.com/office/officeart/2005/8/layout/vList3"/>
    <dgm:cxn modelId="{7CC81104-E554-44B3-8887-3F538AFD20AD}" type="presParOf" srcId="{AE08DE27-2C55-4C14-8171-BD8EFC276A05}" destId="{6BBDCA69-92BC-4F30-A4E1-1CDEC5999644}" srcOrd="2" destOrd="0" presId="urn:microsoft.com/office/officeart/2005/8/layout/vList3"/>
    <dgm:cxn modelId="{1F961CF1-ED2C-4E23-97AC-5FE4A1EB577A}" type="presParOf" srcId="{6BBDCA69-92BC-4F30-A4E1-1CDEC5999644}" destId="{0653D0E3-2EC2-4C99-8EF6-8304795CD03C}" srcOrd="0" destOrd="0" presId="urn:microsoft.com/office/officeart/2005/8/layout/vList3"/>
    <dgm:cxn modelId="{581ACBF2-0FC6-46B3-B6A2-9C2188DCD1CB}" type="presParOf" srcId="{6BBDCA69-92BC-4F30-A4E1-1CDEC5999644}" destId="{187BE32B-8F57-48BE-AFC2-56FECF88A35B}" srcOrd="1" destOrd="0" presId="urn:microsoft.com/office/officeart/2005/8/layout/vList3"/>
    <dgm:cxn modelId="{2A2B96DB-5E1E-4786-8144-6FA26205FEBF}" type="presParOf" srcId="{AE08DE27-2C55-4C14-8171-BD8EFC276A05}" destId="{20CF69A3-70B5-4E09-8584-82B7BF9DCEB4}" srcOrd="3" destOrd="0" presId="urn:microsoft.com/office/officeart/2005/8/layout/vList3"/>
    <dgm:cxn modelId="{9EC6A1E0-3E78-428F-BD61-CCAA16F775AD}" type="presParOf" srcId="{AE08DE27-2C55-4C14-8171-BD8EFC276A05}" destId="{375FCB71-CFA8-417E-B0D0-9D69E5CC5287}" srcOrd="4" destOrd="0" presId="urn:microsoft.com/office/officeart/2005/8/layout/vList3"/>
    <dgm:cxn modelId="{C89A4728-90A0-4CA2-90D5-2A561E9A4F0C}" type="presParOf" srcId="{375FCB71-CFA8-417E-B0D0-9D69E5CC5287}" destId="{3783DA70-D4AC-426B-9204-66809C87B635}" srcOrd="0" destOrd="0" presId="urn:microsoft.com/office/officeart/2005/8/layout/vList3"/>
    <dgm:cxn modelId="{3E4BB7E7-B828-4E66-A1EF-96FB5B4D96EB}" type="presParOf" srcId="{375FCB71-CFA8-417E-B0D0-9D69E5CC5287}" destId="{7929C475-32B4-4A26-9022-47DF32AB710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3DACF-590B-4F8B-887B-79028C5728D9}">
      <dsp:nvSpPr>
        <dsp:cNvPr id="0" name=""/>
        <dsp:cNvSpPr/>
      </dsp:nvSpPr>
      <dsp:spPr>
        <a:xfrm>
          <a:off x="263412" y="390487"/>
          <a:ext cx="2985680" cy="93302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969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🟦 </a:t>
          </a:r>
          <a:r>
            <a:rPr lang="en-IN" sz="1300" b="1" kern="1200" dirty="0"/>
            <a:t>Sleep Quality</a:t>
          </a:r>
          <a:endParaRPr lang="en-IN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solidFill>
                <a:schemeClr val="bg2">
                  <a:lumMod val="50000"/>
                </a:schemeClr>
              </a:solidFill>
            </a:rPr>
            <a:t>Reduced sleep quality is linked to increased mental health concerns.</a:t>
          </a:r>
        </a:p>
      </dsp:txBody>
      <dsp:txXfrm>
        <a:off x="263412" y="390487"/>
        <a:ext cx="2985680" cy="933025"/>
      </dsp:txXfrm>
    </dsp:sp>
    <dsp:sp modelId="{D16E428F-043D-4A1F-AD62-015C09BF7C93}">
      <dsp:nvSpPr>
        <dsp:cNvPr id="0" name=""/>
        <dsp:cNvSpPr/>
      </dsp:nvSpPr>
      <dsp:spPr>
        <a:xfrm>
          <a:off x="135312" y="255717"/>
          <a:ext cx="660510" cy="9796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83000" r="-8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000205-8B80-45FC-88EF-A3C023FB21AB}">
      <dsp:nvSpPr>
        <dsp:cNvPr id="0" name=""/>
        <dsp:cNvSpPr/>
      </dsp:nvSpPr>
      <dsp:spPr>
        <a:xfrm>
          <a:off x="261564" y="1565062"/>
          <a:ext cx="2985680" cy="93302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969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🟦 </a:t>
          </a:r>
          <a:r>
            <a:rPr lang="en-IN" sz="1300" b="1" kern="1200" dirty="0"/>
            <a:t>Concentration</a:t>
          </a:r>
          <a:endParaRPr lang="en-IN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solidFill>
                <a:schemeClr val="bg2">
                  <a:lumMod val="50000"/>
                </a:schemeClr>
              </a:solidFill>
            </a:rPr>
            <a:t>Sleep disturbances significantly affect focus and daily performance</a:t>
          </a:r>
          <a:r>
            <a:rPr lang="en-IN" sz="1300" kern="1200" dirty="0"/>
            <a:t>.</a:t>
          </a:r>
        </a:p>
      </dsp:txBody>
      <dsp:txXfrm>
        <a:off x="261564" y="1565062"/>
        <a:ext cx="2985680" cy="933025"/>
      </dsp:txXfrm>
    </dsp:sp>
    <dsp:sp modelId="{2C61B72A-914C-42B4-B75B-E2A326FF995C}">
      <dsp:nvSpPr>
        <dsp:cNvPr id="0" name=""/>
        <dsp:cNvSpPr/>
      </dsp:nvSpPr>
      <dsp:spPr>
        <a:xfrm>
          <a:off x="216560" y="1418624"/>
          <a:ext cx="653117" cy="9796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F5CB9-8B01-40C5-B32F-A314B3F02D3D}">
      <dsp:nvSpPr>
        <dsp:cNvPr id="0" name=""/>
        <dsp:cNvSpPr/>
      </dsp:nvSpPr>
      <dsp:spPr>
        <a:xfrm>
          <a:off x="261564" y="2739637"/>
          <a:ext cx="2985680" cy="933025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1969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🟦 </a:t>
          </a:r>
          <a:r>
            <a:rPr lang="en-IN" sz="1300" b="1" kern="1200" dirty="0"/>
            <a:t>Overall Impact</a:t>
          </a:r>
          <a:endParaRPr lang="en-IN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>
              <a:solidFill>
                <a:schemeClr val="bg2">
                  <a:lumMod val="50000"/>
                </a:schemeClr>
              </a:solidFill>
            </a:rPr>
            <a:t>Maintaining healthy sleep patterns contributes to better emotional well-being.</a:t>
          </a:r>
        </a:p>
      </dsp:txBody>
      <dsp:txXfrm>
        <a:off x="261564" y="2739637"/>
        <a:ext cx="2985680" cy="933025"/>
      </dsp:txXfrm>
    </dsp:sp>
    <dsp:sp modelId="{718D9227-50E1-4177-A73D-A83BD8AE2854}">
      <dsp:nvSpPr>
        <dsp:cNvPr id="0" name=""/>
        <dsp:cNvSpPr/>
      </dsp:nvSpPr>
      <dsp:spPr>
        <a:xfrm>
          <a:off x="137160" y="2604867"/>
          <a:ext cx="653117" cy="979676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63000" r="-6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46656-3C85-4C17-B5AD-C921A32D6EEA}">
      <dsp:nvSpPr>
        <dsp:cNvPr id="0" name=""/>
        <dsp:cNvSpPr/>
      </dsp:nvSpPr>
      <dsp:spPr>
        <a:xfrm rot="10800000">
          <a:off x="1017409" y="176"/>
          <a:ext cx="3422599" cy="621306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979" tIns="41910" rIns="78232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 </a:t>
          </a:r>
          <a:r>
            <a:rPr lang="en-IN" sz="1600" b="1" kern="1200" dirty="0"/>
            <a:t>Strongest Driver : </a:t>
          </a:r>
          <a:r>
            <a:rPr lang="en-IN" sz="1100" kern="1200" dirty="0"/>
            <a:t>Social comparison is the strongest factor influencing depression.</a:t>
          </a:r>
        </a:p>
      </dsp:txBody>
      <dsp:txXfrm rot="10800000">
        <a:off x="1172735" y="176"/>
        <a:ext cx="3267273" cy="621306"/>
      </dsp:txXfrm>
    </dsp:sp>
    <dsp:sp modelId="{0472E286-D4C7-458B-AA42-9F5E6A4B2A2D}">
      <dsp:nvSpPr>
        <dsp:cNvPr id="0" name=""/>
        <dsp:cNvSpPr/>
      </dsp:nvSpPr>
      <dsp:spPr>
        <a:xfrm>
          <a:off x="706756" y="176"/>
          <a:ext cx="621306" cy="62130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BE32B-8F57-48BE-AFC2-56FECF88A35B}">
      <dsp:nvSpPr>
        <dsp:cNvPr id="0" name=""/>
        <dsp:cNvSpPr/>
      </dsp:nvSpPr>
      <dsp:spPr>
        <a:xfrm rot="10800000">
          <a:off x="1017409" y="806946"/>
          <a:ext cx="3422599" cy="621306"/>
        </a:xfrm>
        <a:prstGeom prst="homePlate">
          <a:avLst/>
        </a:prstGeom>
        <a:solidFill>
          <a:schemeClr val="accent4">
            <a:hueOff val="-5189321"/>
            <a:satOff val="-24"/>
            <a:lumOff val="-72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979" tIns="60960" rIns="113792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Correlation: </a:t>
          </a:r>
          <a:r>
            <a:rPr lang="en-IN" sz="1200" kern="1200" dirty="0"/>
            <a:t>Depression and worry show a strong positive relationship.</a:t>
          </a:r>
        </a:p>
      </dsp:txBody>
      <dsp:txXfrm rot="10800000">
        <a:off x="1172735" y="806946"/>
        <a:ext cx="3267273" cy="621306"/>
      </dsp:txXfrm>
    </dsp:sp>
    <dsp:sp modelId="{0653D0E3-2EC2-4C99-8EF6-8304795CD03C}">
      <dsp:nvSpPr>
        <dsp:cNvPr id="0" name=""/>
        <dsp:cNvSpPr/>
      </dsp:nvSpPr>
      <dsp:spPr>
        <a:xfrm>
          <a:off x="706756" y="806946"/>
          <a:ext cx="621306" cy="621306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9C475-32B4-4A26-9022-47DF32AB7105}">
      <dsp:nvSpPr>
        <dsp:cNvPr id="0" name=""/>
        <dsp:cNvSpPr/>
      </dsp:nvSpPr>
      <dsp:spPr>
        <a:xfrm rot="10800000">
          <a:off x="1017409" y="1613717"/>
          <a:ext cx="3422599" cy="621306"/>
        </a:xfrm>
        <a:prstGeom prst="homePlate">
          <a:avLst/>
        </a:prstGeom>
        <a:solidFill>
          <a:schemeClr val="accent4">
            <a:hueOff val="-10378642"/>
            <a:satOff val="-49"/>
            <a:lumOff val="-145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979" tIns="49530" rIns="92456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 </a:t>
          </a:r>
          <a:r>
            <a:rPr lang="en-IN" sz="1600" b="1" kern="1200" dirty="0"/>
            <a:t>Overall Finding: </a:t>
          </a:r>
          <a:r>
            <a:rPr lang="en-IN" sz="1200" kern="1200" dirty="0"/>
            <a:t>Mental health indicators are closely interconnected</a:t>
          </a:r>
          <a:r>
            <a:rPr lang="en-IN" sz="1300" kern="1200" dirty="0"/>
            <a:t>.</a:t>
          </a:r>
        </a:p>
      </dsp:txBody>
      <dsp:txXfrm rot="10800000">
        <a:off x="1172735" y="1613717"/>
        <a:ext cx="3267273" cy="621306"/>
      </dsp:txXfrm>
    </dsp:sp>
    <dsp:sp modelId="{3783DA70-D4AC-426B-9204-66809C87B635}">
      <dsp:nvSpPr>
        <dsp:cNvPr id="0" name=""/>
        <dsp:cNvSpPr/>
      </dsp:nvSpPr>
      <dsp:spPr>
        <a:xfrm>
          <a:off x="706756" y="1613717"/>
          <a:ext cx="621306" cy="621306"/>
        </a:xfrm>
        <a:prstGeom prst="ellipse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79DB-2FBC-5096-A4FD-39D4F040D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1E48F-738A-5291-9280-A29CB3D84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32C1-92D0-F633-A358-A18FC13B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6AADD-9916-D67C-F0C0-D458D9C8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E6E31-8025-A4E6-A3EB-5B3E45AB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57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D68F-F98E-F562-6CF8-FFE17889D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5C1B1-30BB-FCB1-4A75-F5543C2B9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A48C4-E9C8-52D5-8672-EFEDDDF1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A899A-9F7E-069A-DE23-41EBD53C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866A0-7C55-8401-DA5F-54F5711D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34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4882-CA49-804E-5105-363799A8A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76315-7F77-C231-FB8F-ED20DC1A3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155A8-7F39-92B6-A040-8C47855C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E564F-8405-2481-41BB-747A2F366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3ADC3-B055-D458-8543-C2D6EB7C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69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10366-CE91-CFF1-D030-C9460710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49A96-E2BC-F936-EECB-3B09A7DBF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78FAF-B2FC-C6D3-B627-146D31F27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E7B6B-5EBA-F93C-4168-E9CF46CB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63D77-87B3-4DE8-3F88-21F6416E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B3DBF-7CBE-E18D-7371-BB5B3935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44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BC24-CC40-75A2-0F1C-F79C3555A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654C0-58FB-5DFD-5204-D5CCC467B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B1CFC-DEF4-9477-48E5-E8A743113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58D5DC-9B78-57B8-C3B4-928C18736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D3EEC-2380-E294-16FF-CE1F51294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36A81-4B0C-C0C9-EBA6-D963620EF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2287B-F689-C685-97FC-292DFC5A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4BEEB-2757-5852-82B3-668CC20A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2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0C09-B686-3548-A6CD-26A76846E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032F8-CE2C-9DD2-DCEC-904BE268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F7E77-0AC6-C055-22AA-3C86E457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70A4C-6137-2EEF-9F7E-E748D6F4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93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BC260-1C7A-D9DB-F054-86A4ED72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E9A921-E936-C83B-833F-162BE1185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3D894-F701-3215-0D29-DE48120E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94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0958-9286-3F03-0EEE-2454690D6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416ED-65E3-D45E-5D43-617BCBB87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93F71-EB9B-4A49-951D-6E45D69C8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20F17-57A1-654E-05A1-57A994C9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A0448-37DD-D462-43E5-789D3C0E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91473-0479-1B36-27D7-1EFE86CFF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95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5204-CE26-1B61-F557-F462661B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27E6AB-1453-77C2-0515-9DA27B187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41283-3B52-302D-BB8A-09B89F70E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99D85-1390-F21B-ABD4-3179A144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DA6B5-1FA0-79B7-0A85-C4CDEC1A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DCFCF-A87C-7863-46F5-87B74D2A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76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41FC8-0966-3142-D8C5-A1245E65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3E9CE-DCA0-F6E5-123A-ADCAB14B3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B9E1E-03F3-3862-88D7-D8B762E9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B4559-1254-6C2B-50CF-C16D84E5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6288-0B2E-7A27-DDB8-52E46D1B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21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B4288-ED8D-5413-590E-6475D2555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596E2-E4EB-932D-9726-340DF2845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C1090-5FF7-005B-7257-E859DD2D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F6222-0CB2-E310-E9FB-F657934D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91DBD-ED3C-840A-8BCE-EC60AE29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3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A9E7EB-C860-A51E-58BC-A55BA1906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92B58-622D-7740-C680-8E9908D50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F14F6-ED51-8E06-08B5-1BB793CB8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66F85-681B-49B9-885D-57D1E116059F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BA02A-D9E5-63B2-8051-9B706C1F2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EB9D7-4DD4-84FA-3A92-14F140B1E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C03C-72D2-4014-B891-0270CBA3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11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45AD622-100B-CEEF-243C-DD82A471A471}"/>
              </a:ext>
            </a:extLst>
          </p:cNvPr>
          <p:cNvSpPr/>
          <p:nvPr/>
        </p:nvSpPr>
        <p:spPr>
          <a:xfrm>
            <a:off x="0" y="2761986"/>
            <a:ext cx="3293534" cy="3046148"/>
          </a:xfrm>
          <a:prstGeom prst="flowChartConnector">
            <a:avLst/>
          </a:prstGeom>
          <a:solidFill>
            <a:schemeClr val="accent4">
              <a:lumMod val="40000"/>
              <a:lumOff val="60000"/>
              <a:alpha val="59000"/>
            </a:schemeClr>
          </a:solidFill>
          <a:ln>
            <a:solidFill>
              <a:schemeClr val="accent4">
                <a:lumMod val="40000"/>
                <a:lumOff val="60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F78604F-2C50-4589-0B9B-70F35EAD2DCA}"/>
              </a:ext>
            </a:extLst>
          </p:cNvPr>
          <p:cNvSpPr txBox="1">
            <a:spLocks/>
          </p:cNvSpPr>
          <p:nvPr/>
        </p:nvSpPr>
        <p:spPr>
          <a:xfrm>
            <a:off x="573933" y="1681512"/>
            <a:ext cx="10094068" cy="192052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400" b="1" dirty="0">
                <a:solidFill>
                  <a:srgbClr val="215287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D0280EB2-4C4D-A1F1-BB30-404A470510C8}"/>
              </a:ext>
            </a:extLst>
          </p:cNvPr>
          <p:cNvSpPr/>
          <p:nvPr/>
        </p:nvSpPr>
        <p:spPr>
          <a:xfrm>
            <a:off x="9521037" y="-523261"/>
            <a:ext cx="3293534" cy="3046148"/>
          </a:xfrm>
          <a:prstGeom prst="flowChartConnector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solidFill>
              <a:schemeClr val="accent4">
                <a:lumMod val="40000"/>
                <a:lumOff val="60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01638F-6425-9890-6A3F-F87D20C11007}"/>
              </a:ext>
            </a:extLst>
          </p:cNvPr>
          <p:cNvSpPr txBox="1"/>
          <p:nvPr/>
        </p:nvSpPr>
        <p:spPr>
          <a:xfrm>
            <a:off x="573932" y="3715865"/>
            <a:ext cx="8570068" cy="569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800" b="1" dirty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data analytics study using survey-based behavioural</a:t>
            </a:r>
            <a:r>
              <a:rPr lang="en-IN" b="1" dirty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and well-being indicators</a:t>
            </a:r>
            <a:endParaRPr lang="en-IN" dirty="0">
              <a:ln>
                <a:solidFill>
                  <a:schemeClr val="bg2">
                    <a:lumMod val="50000"/>
                  </a:schemeClr>
                </a:solidFill>
              </a:ln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BA29D5E-152B-8762-F2D8-8C435A9A9C11}"/>
              </a:ext>
            </a:extLst>
          </p:cNvPr>
          <p:cNvSpPr/>
          <p:nvPr/>
        </p:nvSpPr>
        <p:spPr>
          <a:xfrm>
            <a:off x="690664" y="4570356"/>
            <a:ext cx="7626485" cy="31749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>
                  <a:lumMod val="50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IN" b="1" dirty="0">
                <a:solidFill>
                  <a:schemeClr val="bg2">
                    <a:lumMod val="2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Beyond screen time : understanding behavioural drivers of mental well-being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endParaRPr lang="en-IN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222ACDA-EC4C-E79D-3CC7-CCF17C7F1DB1}"/>
              </a:ext>
            </a:extLst>
          </p:cNvPr>
          <p:cNvCxnSpPr>
            <a:cxnSpLocks/>
          </p:cNvCxnSpPr>
          <p:nvPr/>
        </p:nvCxnSpPr>
        <p:spPr>
          <a:xfrm>
            <a:off x="447472" y="6284067"/>
            <a:ext cx="11089532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924A2EB-6670-AC26-1736-0A79CB0D9C63}"/>
              </a:ext>
            </a:extLst>
          </p:cNvPr>
          <p:cNvSpPr txBox="1"/>
          <p:nvPr/>
        </p:nvSpPr>
        <p:spPr>
          <a:xfrm>
            <a:off x="352013" y="6345972"/>
            <a:ext cx="7642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Research Team 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: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Deepika Mudireddy  |  Srividhya  |  Ganesh Acharya  |  Vrinda Suni</a:t>
            </a:r>
            <a:endParaRPr lang="en-IN" sz="1400" dirty="0">
              <a:solidFill>
                <a:schemeClr val="tx1">
                  <a:lumMod val="85000"/>
                  <a:lumOff val="1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291BE8-AF4D-37B4-0E2A-15B0E6573158}"/>
              </a:ext>
            </a:extLst>
          </p:cNvPr>
          <p:cNvSpPr txBox="1"/>
          <p:nvPr/>
        </p:nvSpPr>
        <p:spPr>
          <a:xfrm>
            <a:off x="10419224" y="35677"/>
            <a:ext cx="1772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>
                    <a:lumMod val="25000"/>
                  </a:schemeClr>
                </a:solidFill>
                <a:latin typeface="Corbel Light" panose="020B0303020204020204" pitchFamily="34" charset="0"/>
                <a:cs typeface="Segoe UI Light" panose="020B0502040204020203" pitchFamily="34" charset="0"/>
              </a:rPr>
              <a:t>The University of Europe for Applied Sciences (UE)</a:t>
            </a:r>
          </a:p>
          <a:p>
            <a:r>
              <a:rPr lang="en-IN" sz="1200" dirty="0">
                <a:solidFill>
                  <a:schemeClr val="bg2">
                    <a:lumMod val="25000"/>
                  </a:schemeClr>
                </a:solidFill>
                <a:latin typeface="Corbel Light" panose="020B0303020204020204" pitchFamily="34" charset="0"/>
                <a:cs typeface="Segoe UI Light" panose="020B0502040204020203" pitchFamily="34" charset="0"/>
              </a:rPr>
              <a:t> Potsdam campus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7023F6-F6FC-8C45-D108-62542950C209}"/>
              </a:ext>
            </a:extLst>
          </p:cNvPr>
          <p:cNvSpPr txBox="1"/>
          <p:nvPr/>
        </p:nvSpPr>
        <p:spPr>
          <a:xfrm>
            <a:off x="573932" y="10871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chemeClr val="bg2">
                    <a:lumMod val="25000"/>
                  </a:schemeClr>
                </a:solidFill>
                <a:latin typeface="Corbel Light" panose="020B0303020204020204" pitchFamily="34" charset="0"/>
                <a:cs typeface="Arial" panose="020B0604020202020204" pitchFamily="34" charset="0"/>
              </a:rPr>
              <a:t>Data Analytics</a:t>
            </a:r>
            <a:r>
              <a:rPr lang="en-IN" sz="1400" dirty="0">
                <a:solidFill>
                  <a:schemeClr val="bg2">
                    <a:lumMod val="25000"/>
                  </a:schemeClr>
                </a:solidFill>
                <a:latin typeface="Corbel Light" panose="020B0303020204020204" pitchFamily="34" charset="0"/>
                <a:cs typeface="Segoe UI Light" panose="020B0502040204020203" pitchFamily="34" charset="0"/>
              </a:rPr>
              <a:t> 60 - Final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9783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592CED-CD0E-2FDF-86B2-5877870DCD5F}"/>
              </a:ext>
            </a:extLst>
          </p:cNvPr>
          <p:cNvSpPr txBox="1"/>
          <p:nvPr/>
        </p:nvSpPr>
        <p:spPr>
          <a:xfrm>
            <a:off x="566022" y="10824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T</a:t>
            </a:r>
            <a:r>
              <a:rPr lang="en-IN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D3D88-D147-D4FD-03B8-F25E0971F38B}"/>
              </a:ext>
            </a:extLst>
          </p:cNvPr>
          <p:cNvSpPr txBox="1"/>
          <p:nvPr/>
        </p:nvSpPr>
        <p:spPr>
          <a:xfrm>
            <a:off x="566021" y="1468348"/>
            <a:ext cx="101052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Team Roles and Project Contributions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3136A-82D9-7F02-14D2-F51206E2220E}"/>
              </a:ext>
            </a:extLst>
          </p:cNvPr>
          <p:cNvSpPr txBox="1"/>
          <p:nvPr/>
        </p:nvSpPr>
        <p:spPr>
          <a:xfrm>
            <a:off x="566021" y="2141802"/>
            <a:ext cx="108737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 clear division of responsibilities supports data handling ,analysis, interpretation and delivery</a:t>
            </a:r>
            <a:endParaRPr lang="en-IN" sz="16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1D1712-568E-F64F-8800-36E9D1CDB215}"/>
              </a:ext>
            </a:extLst>
          </p:cNvPr>
          <p:cNvSpPr/>
          <p:nvPr/>
        </p:nvSpPr>
        <p:spPr>
          <a:xfrm>
            <a:off x="626431" y="2928026"/>
            <a:ext cx="2383276" cy="35311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rgbClr val="002060"/>
              </a:solidFill>
              <a:cs typeface="Segoe UI Semilight" panose="020B0402040204020203" pitchFamily="34" charset="0"/>
            </a:endParaRPr>
          </a:p>
          <a:p>
            <a:r>
              <a:rPr lang="en-IN" b="1" dirty="0">
                <a:solidFill>
                  <a:srgbClr val="002060"/>
                </a:solidFill>
                <a:cs typeface="Segoe UI Semilight" panose="020B0402040204020203" pitchFamily="34" charset="0"/>
              </a:rPr>
              <a:t>Vrinda Suni</a:t>
            </a:r>
          </a:p>
          <a:p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cs typeface="Segoe UI Semilight" panose="020B0402040204020203" pitchFamily="34" charset="0"/>
              </a:rPr>
              <a:t>Role: Team Lead, Presentation &amp; Project Coordination</a:t>
            </a:r>
          </a:p>
          <a:p>
            <a:endParaRPr lang="en-IN" sz="1000" b="1" dirty="0">
              <a:solidFill>
                <a:schemeClr val="bg2">
                  <a:lumMod val="50000"/>
                </a:schemeClr>
              </a:solidFill>
              <a:cs typeface="Segoe UI Semilight" panose="020B0402040204020203" pitchFamily="34" charset="0"/>
            </a:endParaRPr>
          </a:p>
          <a:p>
            <a:pPr algn="just"/>
            <a:r>
              <a:rPr lang="en-IN" sz="1400" dirty="0">
                <a:solidFill>
                  <a:schemeClr val="bg2">
                    <a:lumMod val="25000"/>
                  </a:schemeClr>
                </a:solidFill>
                <a:cs typeface="Segoe UI Semilight" panose="020B0402040204020203" pitchFamily="34" charset="0"/>
              </a:rPr>
              <a:t>Coordinated overall project planning and execution Designed and the presentation slides Managed GitHub repository and final submission process  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CDCD7DE7-2FD4-ECCC-46F9-51E33BECFBC0}"/>
              </a:ext>
            </a:extLst>
          </p:cNvPr>
          <p:cNvSpPr/>
          <p:nvPr/>
        </p:nvSpPr>
        <p:spPr>
          <a:xfrm>
            <a:off x="1345751" y="2547026"/>
            <a:ext cx="838200" cy="787400"/>
          </a:xfrm>
          <a:prstGeom prst="flowChart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5273389-0F80-1450-05F5-8BDA464A8B2A}"/>
              </a:ext>
            </a:extLst>
          </p:cNvPr>
          <p:cNvSpPr/>
          <p:nvPr/>
        </p:nvSpPr>
        <p:spPr>
          <a:xfrm>
            <a:off x="1400784" y="2591476"/>
            <a:ext cx="715433" cy="673100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90A4C8-1B4E-267F-10D4-01E349C55041}"/>
              </a:ext>
            </a:extLst>
          </p:cNvPr>
          <p:cNvSpPr/>
          <p:nvPr/>
        </p:nvSpPr>
        <p:spPr>
          <a:xfrm>
            <a:off x="3469532" y="2928026"/>
            <a:ext cx="2383276" cy="35311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cs typeface="Segoe UI Semilight" panose="020B0402040204020203" pitchFamily="34" charset="0"/>
            </a:endParaRPr>
          </a:p>
          <a:p>
            <a:r>
              <a:rPr lang="en-IN" sz="2000" b="1" dirty="0">
                <a:solidFill>
                  <a:srgbClr val="002060"/>
                </a:solidFill>
                <a:cs typeface="Segoe UI Semilight" panose="020B0402040204020203" pitchFamily="34" charset="0"/>
              </a:rPr>
              <a:t>Ganesh</a:t>
            </a:r>
            <a:endParaRPr lang="en-IN" sz="1400" b="1" dirty="0">
              <a:solidFill>
                <a:srgbClr val="002060"/>
              </a:solidFill>
              <a:cs typeface="Segoe UI Semilight" panose="020B0402040204020203" pitchFamily="34" charset="0"/>
            </a:endParaRPr>
          </a:p>
          <a:p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cs typeface="Segoe UI Semilight" panose="020B0402040204020203" pitchFamily="34" charset="0"/>
              </a:rPr>
              <a:t>Role: Data Cleaning &amp; Preprocessing</a:t>
            </a:r>
          </a:p>
          <a:p>
            <a:endParaRPr lang="en-IN" sz="1400" b="1" dirty="0">
              <a:solidFill>
                <a:schemeClr val="bg2">
                  <a:lumMod val="50000"/>
                </a:schemeClr>
              </a:solidFill>
              <a:cs typeface="Segoe UI Semilight" panose="020B0402040204020203" pitchFamily="34" charset="0"/>
            </a:endParaRPr>
          </a:p>
          <a:p>
            <a:pPr algn="just"/>
            <a:r>
              <a:rPr lang="en-IN" sz="1400" dirty="0">
                <a:solidFill>
                  <a:schemeClr val="bg2">
                    <a:lumMod val="25000"/>
                  </a:schemeClr>
                </a:solidFill>
                <a:cs typeface="Segoe UI Semilight" panose="020B0402040204020203" pitchFamily="34" charset="0"/>
              </a:rPr>
              <a:t>Performed data cleaning by handling missing and duplicate values Standardized dataset formats for uniform analysis Prepared refined data for statistical evaluation</a:t>
            </a:r>
          </a:p>
        </p:txBody>
      </p:sp>
      <p:pic>
        <p:nvPicPr>
          <p:cNvPr id="24" name="Graphic 23" descr="Classroom with solid fill">
            <a:extLst>
              <a:ext uri="{FF2B5EF4-FFF2-40B4-BE49-F238E27FC236}">
                <a16:creationId xmlns:a16="http://schemas.microsoft.com/office/drawing/2014/main" id="{D3398AE2-D0D6-E0A5-D9BF-7F853E4E78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4015" y="2652805"/>
            <a:ext cx="514350" cy="51435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525C54D-12BA-F7E2-3D41-CDDEE27D7E08}"/>
              </a:ext>
            </a:extLst>
          </p:cNvPr>
          <p:cNvSpPr/>
          <p:nvPr/>
        </p:nvSpPr>
        <p:spPr>
          <a:xfrm>
            <a:off x="6297036" y="2928026"/>
            <a:ext cx="2383276" cy="35311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rgbClr val="002060"/>
              </a:solidFill>
              <a:cs typeface="Segoe UI Semilight" panose="020B0402040204020203" pitchFamily="34" charset="0"/>
            </a:endParaRPr>
          </a:p>
          <a:p>
            <a:r>
              <a:rPr lang="en-US" b="1" dirty="0">
                <a:solidFill>
                  <a:srgbClr val="002060"/>
                </a:solidFill>
                <a:cs typeface="Segoe UI Semilight" panose="020B0402040204020203" pitchFamily="34" charset="0"/>
              </a:rPr>
              <a:t>Deepika</a:t>
            </a:r>
          </a:p>
          <a:p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cs typeface="Segoe UI Semilight" panose="020B0402040204020203" pitchFamily="34" charset="0"/>
              </a:rPr>
              <a:t>Role: Data Analysis &amp;Visualization</a:t>
            </a:r>
          </a:p>
          <a:p>
            <a:endParaRPr lang="en-IN" sz="1400" b="1" dirty="0">
              <a:solidFill>
                <a:schemeClr val="bg2">
                  <a:lumMod val="50000"/>
                </a:schemeClr>
              </a:solidFill>
              <a:cs typeface="Segoe UI Semilight" panose="020B0402040204020203" pitchFamily="34" charset="0"/>
            </a:endParaRPr>
          </a:p>
          <a:p>
            <a:pPr algn="just"/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 Semilight" panose="020B0402040204020203" pitchFamily="34" charset="0"/>
              </a:rPr>
              <a:t>Conducted statistical and exploratory data analysis </a:t>
            </a:r>
          </a:p>
          <a:p>
            <a:pPr algn="just"/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 Semilight" panose="020B0402040204020203" pitchFamily="34" charset="0"/>
              </a:rPr>
              <a:t>Developed charts and visual representations for insights Identified key patterns and trends in the dataset</a:t>
            </a:r>
          </a:p>
        </p:txBody>
      </p:sp>
      <p:pic>
        <p:nvPicPr>
          <p:cNvPr id="28" name="Graphic 27" descr="Classroom with solid fill">
            <a:extLst>
              <a:ext uri="{FF2B5EF4-FFF2-40B4-BE49-F238E27FC236}">
                <a16:creationId xmlns:a16="http://schemas.microsoft.com/office/drawing/2014/main" id="{E59F3703-B739-D68E-AA33-1946F1841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3677" y="2652805"/>
            <a:ext cx="514350" cy="514350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E7864D2-85E0-DBBF-9D6D-FBA5688416A8}"/>
              </a:ext>
            </a:extLst>
          </p:cNvPr>
          <p:cNvSpPr/>
          <p:nvPr/>
        </p:nvSpPr>
        <p:spPr>
          <a:xfrm>
            <a:off x="9124540" y="2928026"/>
            <a:ext cx="2383276" cy="35311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002060"/>
                </a:solidFill>
                <a:cs typeface="Segoe UI Semilight" panose="020B0402040204020203" pitchFamily="34" charset="0"/>
              </a:rPr>
              <a:t>Srividhya</a:t>
            </a:r>
          </a:p>
          <a:p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cs typeface="Segoe UI Semilight" panose="020B0402040204020203" pitchFamily="34" charset="0"/>
              </a:rPr>
              <a:t>Role: Data Collection &amp; Dataset Management</a:t>
            </a:r>
          </a:p>
          <a:p>
            <a:pPr algn="just"/>
            <a:endParaRPr lang="en-IN" sz="800" dirty="0">
              <a:solidFill>
                <a:schemeClr val="bg2">
                  <a:lumMod val="25000"/>
                </a:schemeClr>
              </a:solidFill>
              <a:cs typeface="Segoe UI Semilight" panose="020B0402040204020203" pitchFamily="34" charset="0"/>
            </a:endParaRPr>
          </a:p>
          <a:p>
            <a:pPr algn="just"/>
            <a:endParaRPr lang="en-IN" sz="800" dirty="0">
              <a:solidFill>
                <a:schemeClr val="bg2">
                  <a:lumMod val="25000"/>
                </a:schemeClr>
              </a:solidFill>
              <a:cs typeface="Segoe UI Semilight" panose="020B0402040204020203" pitchFamily="34" charset="0"/>
            </a:endParaRPr>
          </a:p>
          <a:p>
            <a:pPr algn="just"/>
            <a:r>
              <a:rPr lang="en-IN" sz="1400" dirty="0">
                <a:solidFill>
                  <a:schemeClr val="bg2">
                    <a:lumMod val="50000"/>
                  </a:schemeClr>
                </a:solidFill>
                <a:cs typeface="Segoe UI Semilight" panose="020B0402040204020203" pitchFamily="34" charset="0"/>
              </a:rPr>
              <a:t>Collected datasets from verified and relevant sources. Organized and structured raw data for analysis. Ensured data quality, completeness, and consistency</a:t>
            </a:r>
          </a:p>
        </p:txBody>
      </p:sp>
      <p:pic>
        <p:nvPicPr>
          <p:cNvPr id="32" name="Graphic 31" descr="Classroom with solid fill">
            <a:extLst>
              <a:ext uri="{FF2B5EF4-FFF2-40B4-BE49-F238E27FC236}">
                <a16:creationId xmlns:a16="http://schemas.microsoft.com/office/drawing/2014/main" id="{D8AC08EF-FEB9-6FA3-18B8-E1F04EA63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11181" y="2652805"/>
            <a:ext cx="514350" cy="514350"/>
          </a:xfrm>
          <a:prstGeom prst="rect">
            <a:avLst/>
          </a:prstGeom>
        </p:spPr>
      </p:pic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B2841C91-0A36-BDD3-C01F-F64E3D0AB8DB}"/>
              </a:ext>
            </a:extLst>
          </p:cNvPr>
          <p:cNvSpPr/>
          <p:nvPr/>
        </p:nvSpPr>
        <p:spPr>
          <a:xfrm>
            <a:off x="4126514" y="2551047"/>
            <a:ext cx="838200" cy="787400"/>
          </a:xfrm>
          <a:prstGeom prst="flowChart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3AA46C23-F368-9989-77FB-0AB179041B80}"/>
              </a:ext>
            </a:extLst>
          </p:cNvPr>
          <p:cNvSpPr/>
          <p:nvPr/>
        </p:nvSpPr>
        <p:spPr>
          <a:xfrm>
            <a:off x="4181547" y="2595497"/>
            <a:ext cx="715433" cy="673100"/>
          </a:xfrm>
          <a:prstGeom prst="flowChartConnector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 descr="Data cleaning - Free computer icons">
            <a:extLst>
              <a:ext uri="{FF2B5EF4-FFF2-40B4-BE49-F238E27FC236}">
                <a16:creationId xmlns:a16="http://schemas.microsoft.com/office/drawing/2014/main" id="{46FFBF63-233C-4B11-6BC0-79AA4E3AB68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5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16589" y="2705352"/>
            <a:ext cx="445347" cy="445347"/>
          </a:xfrm>
          <a:prstGeom prst="rect">
            <a:avLst/>
          </a:prstGeom>
        </p:spPr>
      </p:pic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EB1BB7D-38B6-7B72-3990-ED1D47786695}"/>
              </a:ext>
            </a:extLst>
          </p:cNvPr>
          <p:cNvSpPr/>
          <p:nvPr/>
        </p:nvSpPr>
        <p:spPr>
          <a:xfrm>
            <a:off x="7035249" y="2547026"/>
            <a:ext cx="838200" cy="787400"/>
          </a:xfrm>
          <a:prstGeom prst="flowChart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9593D40-95BC-62C3-B9DE-1077279ADD61}"/>
              </a:ext>
            </a:extLst>
          </p:cNvPr>
          <p:cNvSpPr/>
          <p:nvPr/>
        </p:nvSpPr>
        <p:spPr>
          <a:xfrm>
            <a:off x="7090282" y="2591476"/>
            <a:ext cx="715433" cy="673100"/>
          </a:xfrm>
          <a:prstGeom prst="flowChartConnector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Graphic 49" descr="Internet with solid fill">
            <a:extLst>
              <a:ext uri="{FF2B5EF4-FFF2-40B4-BE49-F238E27FC236}">
                <a16:creationId xmlns:a16="http://schemas.microsoft.com/office/drawing/2014/main" id="{AB389F47-BFBC-D8B5-C44C-0863B75D6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1519" y="2621910"/>
            <a:ext cx="596462" cy="596462"/>
          </a:xfrm>
          <a:prstGeom prst="rect">
            <a:avLst/>
          </a:prstGeom>
        </p:spPr>
      </p:pic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9903A9C0-467D-7A7D-7E5B-87321D869C9F}"/>
              </a:ext>
            </a:extLst>
          </p:cNvPr>
          <p:cNvSpPr/>
          <p:nvPr/>
        </p:nvSpPr>
        <p:spPr>
          <a:xfrm>
            <a:off x="9933640" y="2507479"/>
            <a:ext cx="838200" cy="787400"/>
          </a:xfrm>
          <a:prstGeom prst="flowChartConnector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2574B679-38BD-757A-EF01-F7BD63675009}"/>
              </a:ext>
            </a:extLst>
          </p:cNvPr>
          <p:cNvSpPr/>
          <p:nvPr/>
        </p:nvSpPr>
        <p:spPr>
          <a:xfrm>
            <a:off x="9988673" y="2551929"/>
            <a:ext cx="715433" cy="673100"/>
          </a:xfrm>
          <a:prstGeom prst="flowChartConnector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6" name="Graphic 55" descr="Classroom with solid fill">
            <a:extLst>
              <a:ext uri="{FF2B5EF4-FFF2-40B4-BE49-F238E27FC236}">
                <a16:creationId xmlns:a16="http://schemas.microsoft.com/office/drawing/2014/main" id="{A60261F5-E4BC-5D2B-4977-59D6ABA84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5240" y="2589120"/>
            <a:ext cx="575733" cy="575733"/>
          </a:xfrm>
          <a:prstGeom prst="rect">
            <a:avLst/>
          </a:prstGeom>
        </p:spPr>
      </p:pic>
      <p:pic>
        <p:nvPicPr>
          <p:cNvPr id="58" name="Graphic 57" descr="Database with solid fill">
            <a:extLst>
              <a:ext uri="{FF2B5EF4-FFF2-40B4-BE49-F238E27FC236}">
                <a16:creationId xmlns:a16="http://schemas.microsoft.com/office/drawing/2014/main" id="{508CFB47-88C6-628A-85DC-26D553D20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8128" y="2707653"/>
            <a:ext cx="457200" cy="457200"/>
          </a:xfrm>
          <a:prstGeom prst="rect">
            <a:avLst/>
          </a:prstGeom>
        </p:spPr>
      </p:pic>
      <p:sp>
        <p:nvSpPr>
          <p:cNvPr id="60" name="Text 27">
            <a:extLst>
              <a:ext uri="{FF2B5EF4-FFF2-40B4-BE49-F238E27FC236}">
                <a16:creationId xmlns:a16="http://schemas.microsoft.com/office/drawing/2014/main" id="{12045BA3-B594-FD73-6234-7E54E43C4B00}"/>
              </a:ext>
            </a:extLst>
          </p:cNvPr>
          <p:cNvSpPr/>
          <p:nvPr/>
        </p:nvSpPr>
        <p:spPr>
          <a:xfrm>
            <a:off x="11355586" y="6557555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A273E7-2293-C8F8-D6AC-362DD3643D67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453790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2B4D07-F212-E706-3DC7-A4344EFC09D4}"/>
              </a:ext>
            </a:extLst>
          </p:cNvPr>
          <p:cNvSpPr txBox="1"/>
          <p:nvPr/>
        </p:nvSpPr>
        <p:spPr>
          <a:xfrm>
            <a:off x="566021" y="1468348"/>
            <a:ext cx="101052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Problem Context and Research Motivation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56799-4AA4-B257-80B7-70B759420808}"/>
              </a:ext>
            </a:extLst>
          </p:cNvPr>
          <p:cNvSpPr txBox="1"/>
          <p:nvPr/>
        </p:nvSpPr>
        <p:spPr>
          <a:xfrm>
            <a:off x="566022" y="10824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RESEARCH MOTIVATION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FECBD241-E15B-9C33-AC4B-F615FDFB910C}"/>
              </a:ext>
            </a:extLst>
          </p:cNvPr>
          <p:cNvSpPr/>
          <p:nvPr/>
        </p:nvSpPr>
        <p:spPr>
          <a:xfrm>
            <a:off x="566021" y="2402733"/>
            <a:ext cx="3276405" cy="4154822"/>
          </a:xfrm>
          <a:prstGeom prst="flowChartAlternateProcess">
            <a:avLst/>
          </a:prstGeom>
          <a:solidFill>
            <a:srgbClr val="215287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  <a:cs typeface="Cascadia Code SemiBold" panose="020B0609020000020004" pitchFamily="49" charset="0"/>
              </a:rPr>
              <a:t>Behavioral patterns matter – not only screen time.</a:t>
            </a:r>
          </a:p>
          <a:p>
            <a:endParaRPr lang="en-US" sz="2800" b="1" dirty="0">
              <a:latin typeface="Segoe UI Black" panose="020B0A02040204020203" pitchFamily="34" charset="0"/>
              <a:ea typeface="Segoe UI Black" panose="020B0A02040204020203" pitchFamily="34" charset="0"/>
              <a:cs typeface="Cascadia Code SemiBold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Social media is embedded in communication, learning and daily routines nut the mental health signal depends on how people engage</a:t>
            </a:r>
            <a:endParaRPr lang="en-IN" sz="1400" b="1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84D5B1-CC9B-D27F-8621-058CABCE9EB2}"/>
              </a:ext>
            </a:extLst>
          </p:cNvPr>
          <p:cNvSpPr/>
          <p:nvPr/>
        </p:nvSpPr>
        <p:spPr>
          <a:xfrm>
            <a:off x="4931923" y="2402732"/>
            <a:ext cx="5836596" cy="4154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 Narrow" panose="020B0004020202020204" pitchFamily="34" charset="0"/>
                <a:cs typeface="Segoe UI Semilight" panose="020B0402040204020203" pitchFamily="34" charset="0"/>
              </a:rPr>
              <a:t>Social media has reshaped communication, information sharing, learning, and everyday social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 Narrow" panose="020B0004020202020204" pitchFamily="34" charset="0"/>
                <a:cs typeface="Segoe UI Semilight" panose="020B0402040204020203" pitchFamily="34" charset="0"/>
              </a:rPr>
              <a:t>Growing concerns include anxiety, depressed mood, sleep disruption, and attention difficulties.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 Narrow" panose="020B0004020202020204" pitchFamily="34" charset="0"/>
                <a:cs typeface="Segoe UI Semilight" panose="020B0402040204020203" pitchFamily="34" charset="0"/>
              </a:rPr>
              <a:t>Prior discussion often over-focuses on total exposure time rather than behavioral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 Narrow" panose="020B0004020202020204" pitchFamily="34" charset="0"/>
                <a:cs typeface="Segoe UI Semilight" panose="020B0402040204020203" pitchFamily="34" charset="0"/>
              </a:rPr>
              <a:t> project examines whether comparison, validation seeking, distraction, and platform use reveal stronger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 Narrow" panose="020B0004020202020204" pitchFamily="34" charset="0"/>
                <a:cs typeface="Segoe UI Semilight" panose="020B0402040204020203" pitchFamily="34" charset="0"/>
              </a:rPr>
              <a:t>The goal is a descriptive, data-grounded view of digital well-being for young adults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 Narrow" panose="020B0004020202020204" pitchFamily="34" charset="0"/>
              </a:rPr>
              <a:t>.</a:t>
            </a:r>
            <a:endParaRPr lang="en-IN" sz="2000" dirty="0">
              <a:solidFill>
                <a:schemeClr val="bg2">
                  <a:lumMod val="25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1919C-8BB1-90D9-FDBA-B3E0019CE288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0FF48C6F-48CC-5A0E-A56D-A82F9099E1F7}"/>
              </a:ext>
            </a:extLst>
          </p:cNvPr>
          <p:cNvSpPr/>
          <p:nvPr/>
        </p:nvSpPr>
        <p:spPr>
          <a:xfrm>
            <a:off x="11355586" y="6557555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65540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7">
            <a:extLst>
              <a:ext uri="{FF2B5EF4-FFF2-40B4-BE49-F238E27FC236}">
                <a16:creationId xmlns:a16="http://schemas.microsoft.com/office/drawing/2014/main" id="{10D424E3-79A5-F5A4-0161-6FB69159AEA3}"/>
              </a:ext>
            </a:extLst>
          </p:cNvPr>
          <p:cNvSpPr/>
          <p:nvPr/>
        </p:nvSpPr>
        <p:spPr>
          <a:xfrm>
            <a:off x="11355586" y="6557555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D619A-EA59-0392-662C-9023CA517738}"/>
              </a:ext>
            </a:extLst>
          </p:cNvPr>
          <p:cNvSpPr txBox="1"/>
          <p:nvPr/>
        </p:nvSpPr>
        <p:spPr>
          <a:xfrm>
            <a:off x="566021" y="1468348"/>
            <a:ext cx="10105221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Research Objectives and Questions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6F7CA-9F14-6206-F0C1-5AEA493656D0}"/>
              </a:ext>
            </a:extLst>
          </p:cNvPr>
          <p:cNvSpPr txBox="1"/>
          <p:nvPr/>
        </p:nvSpPr>
        <p:spPr>
          <a:xfrm>
            <a:off x="566022" y="10824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OBJECTIVES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8E975654-E59B-2025-470F-DB39590E0AB4}"/>
              </a:ext>
            </a:extLst>
          </p:cNvPr>
          <p:cNvSpPr/>
          <p:nvPr/>
        </p:nvSpPr>
        <p:spPr>
          <a:xfrm>
            <a:off x="690664" y="2392827"/>
            <a:ext cx="5405336" cy="1926397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4744C8B-1D72-5102-BD85-24AFBDFCAAAA}"/>
              </a:ext>
            </a:extLst>
          </p:cNvPr>
          <p:cNvSpPr/>
          <p:nvPr/>
        </p:nvSpPr>
        <p:spPr>
          <a:xfrm>
            <a:off x="1040859" y="2704289"/>
            <a:ext cx="573932" cy="496110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01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66467A-51FC-D8BC-8C59-F2CE0FFC9277}"/>
              </a:ext>
            </a:extLst>
          </p:cNvPr>
          <p:cNvSpPr txBox="1"/>
          <p:nvPr/>
        </p:nvSpPr>
        <p:spPr>
          <a:xfrm>
            <a:off x="1040859" y="3244334"/>
            <a:ext cx="333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Usage intensity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09412D-360A-3982-D87A-494273629D5C}"/>
              </a:ext>
            </a:extLst>
          </p:cNvPr>
          <p:cNvSpPr txBox="1"/>
          <p:nvPr/>
        </p:nvSpPr>
        <p:spPr>
          <a:xfrm>
            <a:off x="1040859" y="3580096"/>
            <a:ext cx="4844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Assess how daily hours relate to worry, depressed mood, sleep issue and concentration difficulty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EEB654F6-7416-4610-72D7-8AA4CB2B1CA9}"/>
              </a:ext>
            </a:extLst>
          </p:cNvPr>
          <p:cNvSpPr/>
          <p:nvPr/>
        </p:nvSpPr>
        <p:spPr>
          <a:xfrm>
            <a:off x="6515909" y="2392826"/>
            <a:ext cx="5405336" cy="1926397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866C9B60-C801-5C03-6ACC-5AF13B8B317E}"/>
              </a:ext>
            </a:extLst>
          </p:cNvPr>
          <p:cNvSpPr/>
          <p:nvPr/>
        </p:nvSpPr>
        <p:spPr>
          <a:xfrm>
            <a:off x="6796390" y="2704289"/>
            <a:ext cx="573932" cy="496110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02</a:t>
            </a:r>
            <a:endParaRPr lang="en-IN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DC0E3-4B68-F985-C485-D5E021D1F1A1}"/>
              </a:ext>
            </a:extLst>
          </p:cNvPr>
          <p:cNvSpPr txBox="1"/>
          <p:nvPr/>
        </p:nvSpPr>
        <p:spPr>
          <a:xfrm>
            <a:off x="679639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Platform differences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857B84-3FA2-115D-EC10-42EFC7E17C26}"/>
              </a:ext>
            </a:extLst>
          </p:cNvPr>
          <p:cNvSpPr txBox="1"/>
          <p:nvPr/>
        </p:nvSpPr>
        <p:spPr>
          <a:xfrm>
            <a:off x="6796390" y="3580096"/>
            <a:ext cx="4844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Compare descriptive mental-health profiles across commonly used platforms in the survey sample.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907EDA71-A756-BAEF-B2E0-3BF7D5F08C59}"/>
              </a:ext>
            </a:extLst>
          </p:cNvPr>
          <p:cNvSpPr/>
          <p:nvPr/>
        </p:nvSpPr>
        <p:spPr>
          <a:xfrm>
            <a:off x="700390" y="4597372"/>
            <a:ext cx="5405336" cy="1926397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BC38F3FD-CD4C-3E76-B8FF-A0F1426014D1}"/>
              </a:ext>
            </a:extLst>
          </p:cNvPr>
          <p:cNvSpPr/>
          <p:nvPr/>
        </p:nvSpPr>
        <p:spPr>
          <a:xfrm>
            <a:off x="1040859" y="4841078"/>
            <a:ext cx="573932" cy="496110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03</a:t>
            </a:r>
            <a:endParaRPr lang="en-IN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5378F-156B-2F11-9702-0507AA32DC78}"/>
              </a:ext>
            </a:extLst>
          </p:cNvPr>
          <p:cNvSpPr txBox="1"/>
          <p:nvPr/>
        </p:nvSpPr>
        <p:spPr>
          <a:xfrm>
            <a:off x="1040859" y="53811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Behavioral drivers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D80E42-8B77-B00E-9B35-BB4609207FA9}"/>
              </a:ext>
            </a:extLst>
          </p:cNvPr>
          <p:cNvSpPr txBox="1"/>
          <p:nvPr/>
        </p:nvSpPr>
        <p:spPr>
          <a:xfrm>
            <a:off x="1040859" y="5716885"/>
            <a:ext cx="4844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Examine social comparison and validation seeking as mechanisms behind pooper well-being indicators.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A8F43B78-6498-AFA8-BA70-C0B52F0310BC}"/>
              </a:ext>
            </a:extLst>
          </p:cNvPr>
          <p:cNvSpPr/>
          <p:nvPr/>
        </p:nvSpPr>
        <p:spPr>
          <a:xfrm>
            <a:off x="6446195" y="4579484"/>
            <a:ext cx="5405336" cy="1926397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776A31BC-0791-6A04-E134-B56CE7360B5E}"/>
              </a:ext>
            </a:extLst>
          </p:cNvPr>
          <p:cNvSpPr/>
          <p:nvPr/>
        </p:nvSpPr>
        <p:spPr>
          <a:xfrm>
            <a:off x="6796390" y="4841078"/>
            <a:ext cx="573932" cy="496110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04</a:t>
            </a:r>
            <a:endParaRPr lang="en-IN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3DF760-334D-EB4E-A855-B581D224A76C}"/>
              </a:ext>
            </a:extLst>
          </p:cNvPr>
          <p:cNvSpPr txBox="1"/>
          <p:nvPr/>
        </p:nvSpPr>
        <p:spPr>
          <a:xfrm>
            <a:off x="6796390" y="53811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Functioning and sleep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A1424C-CE9A-D606-D2E7-D9FD6A386AD1}"/>
              </a:ext>
            </a:extLst>
          </p:cNvPr>
          <p:cNvSpPr txBox="1"/>
          <p:nvPr/>
        </p:nvSpPr>
        <p:spPr>
          <a:xfrm>
            <a:off x="6796390" y="5716885"/>
            <a:ext cx="4844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Explore how sleep problems and concentration difficulty co-occur with emotional outcomes.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08D9CA-2FEF-ABEB-5BCE-9247CC181E08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164300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6CBA-F61C-9580-7DCE-6B9A456F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D46BF1-0D66-4DA9-F200-1D94FF9EED13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6A081-BABC-54CE-F815-3BB389242D29}"/>
              </a:ext>
            </a:extLst>
          </p:cNvPr>
          <p:cNvSpPr txBox="1"/>
          <p:nvPr/>
        </p:nvSpPr>
        <p:spPr>
          <a:xfrm>
            <a:off x="566022" y="1468348"/>
            <a:ext cx="5114932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Dataset Overview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9D3B0-142C-4146-0ABB-376075BC25E8}"/>
              </a:ext>
            </a:extLst>
          </p:cNvPr>
          <p:cNvSpPr txBox="1"/>
          <p:nvPr/>
        </p:nvSpPr>
        <p:spPr>
          <a:xfrm>
            <a:off x="566022" y="10824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DATA FOUNDATION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609BB-DA43-9B43-659B-54EED03F7C1A}"/>
              </a:ext>
            </a:extLst>
          </p:cNvPr>
          <p:cNvSpPr txBox="1"/>
          <p:nvPr/>
        </p:nvSpPr>
        <p:spPr>
          <a:xfrm>
            <a:off x="566021" y="2141802"/>
            <a:ext cx="7449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The survey spans demographics, platform behavior and ordinal mental-health indicators.</a:t>
            </a:r>
            <a:endParaRPr lang="en-IN" sz="16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57589F0-9478-ED49-24B5-42830E53576F}"/>
              </a:ext>
            </a:extLst>
          </p:cNvPr>
          <p:cNvSpPr/>
          <p:nvPr/>
        </p:nvSpPr>
        <p:spPr>
          <a:xfrm>
            <a:off x="671210" y="2772383"/>
            <a:ext cx="2490280" cy="1867711"/>
          </a:xfrm>
          <a:prstGeom prst="flowChartAlternateProcess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/>
              <a:t>379</a:t>
            </a:r>
            <a:endParaRPr lang="en-US" sz="2400" dirty="0"/>
          </a:p>
          <a:p>
            <a:r>
              <a:rPr lang="en-US" b="1" dirty="0"/>
              <a:t>Respondents</a:t>
            </a:r>
          </a:p>
          <a:p>
            <a:r>
              <a:rPr lang="en-US" sz="1400" dirty="0"/>
              <a:t>Clean survey records used for descriptive analysis.</a:t>
            </a:r>
            <a:endParaRPr lang="en-IN" sz="1400" dirty="0"/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DC5F1E7A-BFA7-DA7F-107A-13DFC03C287D}"/>
              </a:ext>
            </a:extLst>
          </p:cNvPr>
          <p:cNvSpPr/>
          <p:nvPr/>
        </p:nvSpPr>
        <p:spPr>
          <a:xfrm>
            <a:off x="3391712" y="2772382"/>
            <a:ext cx="2490280" cy="1867711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rgbClr val="215287"/>
                </a:solidFill>
              </a:rPr>
              <a:t>22.2 </a:t>
            </a:r>
            <a:r>
              <a:rPr lang="en-US" sz="1600" b="1" dirty="0">
                <a:solidFill>
                  <a:srgbClr val="215287"/>
                </a:solidFill>
              </a:rPr>
              <a:t>years</a:t>
            </a:r>
            <a:endParaRPr lang="en-US" sz="900" dirty="0">
              <a:solidFill>
                <a:srgbClr val="215287"/>
              </a:solidFill>
            </a:endParaRPr>
          </a:p>
          <a:p>
            <a:r>
              <a:rPr lang="en-US" b="1" dirty="0">
                <a:solidFill>
                  <a:srgbClr val="215287"/>
                </a:solidFill>
              </a:rPr>
              <a:t>Average age</a:t>
            </a:r>
          </a:p>
          <a:p>
            <a:r>
              <a:rPr lang="en-US" sz="1400" dirty="0">
                <a:solidFill>
                  <a:srgbClr val="215287"/>
                </a:solidFill>
              </a:rPr>
              <a:t>Sample centered on young adults in their early twenties.</a:t>
            </a:r>
            <a:endParaRPr lang="en-IN" sz="1400" dirty="0">
              <a:solidFill>
                <a:srgbClr val="215287"/>
              </a:solidFill>
            </a:endParaRP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32F47DA6-45EB-7CC1-4B03-6BD097D95D91}"/>
              </a:ext>
            </a:extLst>
          </p:cNvPr>
          <p:cNvSpPr/>
          <p:nvPr/>
        </p:nvSpPr>
        <p:spPr>
          <a:xfrm>
            <a:off x="6112214" y="2772382"/>
            <a:ext cx="2490280" cy="1867711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rgbClr val="215287"/>
                </a:solidFill>
              </a:rPr>
              <a:t>73%</a:t>
            </a:r>
            <a:r>
              <a:rPr lang="en-US" sz="2000" b="1" dirty="0">
                <a:solidFill>
                  <a:srgbClr val="215287"/>
                </a:solidFill>
              </a:rPr>
              <a:t>(290)</a:t>
            </a:r>
            <a:endParaRPr lang="en-US" sz="2000" dirty="0">
              <a:solidFill>
                <a:srgbClr val="215287"/>
              </a:solidFill>
            </a:endParaRPr>
          </a:p>
          <a:p>
            <a:r>
              <a:rPr lang="en-US" b="1" dirty="0">
                <a:solidFill>
                  <a:srgbClr val="215287"/>
                </a:solidFill>
              </a:rPr>
              <a:t>Students </a:t>
            </a:r>
          </a:p>
          <a:p>
            <a:r>
              <a:rPr lang="en-US" sz="1400" dirty="0">
                <a:solidFill>
                  <a:srgbClr val="215287"/>
                </a:solidFill>
              </a:rPr>
              <a:t>University students dominate the occupation profile.</a:t>
            </a:r>
            <a:endParaRPr lang="en-IN" sz="1400" dirty="0">
              <a:solidFill>
                <a:srgbClr val="215287"/>
              </a:solidFill>
            </a:endParaRP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C022D037-FAFB-31AF-F6F7-7F78DB492822}"/>
              </a:ext>
            </a:extLst>
          </p:cNvPr>
          <p:cNvSpPr/>
          <p:nvPr/>
        </p:nvSpPr>
        <p:spPr>
          <a:xfrm>
            <a:off x="8832716" y="2772381"/>
            <a:ext cx="2490280" cy="1867711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rgbClr val="215287"/>
                </a:solidFill>
              </a:rPr>
              <a:t>58%</a:t>
            </a:r>
            <a:r>
              <a:rPr lang="en-US" sz="2000" b="1" dirty="0">
                <a:solidFill>
                  <a:srgbClr val="215287"/>
                </a:solidFill>
              </a:rPr>
              <a:t>(230)</a:t>
            </a:r>
          </a:p>
          <a:p>
            <a:endParaRPr lang="en-US" sz="1400" dirty="0">
              <a:solidFill>
                <a:srgbClr val="215287"/>
              </a:solidFill>
            </a:endParaRPr>
          </a:p>
          <a:p>
            <a:r>
              <a:rPr lang="en-US" b="1" dirty="0">
                <a:solidFill>
                  <a:srgbClr val="215287"/>
                </a:solidFill>
              </a:rPr>
              <a:t>Female</a:t>
            </a:r>
          </a:p>
          <a:p>
            <a:r>
              <a:rPr lang="en-US" sz="1400" dirty="0">
                <a:solidFill>
                  <a:srgbClr val="215287"/>
                </a:solidFill>
              </a:rPr>
              <a:t>Female respondents form the largest gender group.</a:t>
            </a:r>
            <a:endParaRPr lang="en-IN" sz="1400" dirty="0">
              <a:solidFill>
                <a:srgbClr val="215287"/>
              </a:solidFill>
            </a:endParaRP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564BA9C8-8378-BD1F-07E7-3A999700E07F}"/>
              </a:ext>
            </a:extLst>
          </p:cNvPr>
          <p:cNvSpPr/>
          <p:nvPr/>
        </p:nvSpPr>
        <p:spPr>
          <a:xfrm>
            <a:off x="4356733" y="5261105"/>
            <a:ext cx="6966263" cy="1028822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Key Highlights</a:t>
            </a:r>
            <a:endParaRPr lang="en-IN" sz="12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Majority of the respondents are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students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, making the dataset relevant for analysing social media usage among young adults. </a:t>
            </a:r>
          </a:p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The average participant age is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22.2 years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, representing the young adult population. </a:t>
            </a:r>
          </a:p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The dataset has a slightly higher proportion of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female respondents (58%)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than males.</a:t>
            </a:r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CA6AE357-C472-A0FE-9DE5-8F0A0BF3D1A8}"/>
              </a:ext>
            </a:extLst>
          </p:cNvPr>
          <p:cNvSpPr/>
          <p:nvPr/>
        </p:nvSpPr>
        <p:spPr>
          <a:xfrm>
            <a:off x="11355586" y="6557555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26BC16AA-31F8-E48A-D17D-4BDAAFE4E531}"/>
              </a:ext>
            </a:extLst>
          </p:cNvPr>
          <p:cNvSpPr/>
          <p:nvPr/>
        </p:nvSpPr>
        <p:spPr>
          <a:xfrm>
            <a:off x="808672" y="5261105"/>
            <a:ext cx="3052128" cy="1028822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Calculation</a:t>
            </a:r>
          </a:p>
          <a:p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Students: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397 × 73% =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289.81 ≈ 290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Female: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397 × 58% =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230.26 ≈ 230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Male: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397 − 230 =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167</a:t>
            </a:r>
            <a:endParaRPr lang="en-IN" sz="12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1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50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C923B1-495D-2667-0528-80248EEB3658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C1B60-0755-A60D-D24D-87BEC7BA7B6F}"/>
              </a:ext>
            </a:extLst>
          </p:cNvPr>
          <p:cNvSpPr txBox="1"/>
          <p:nvPr/>
        </p:nvSpPr>
        <p:spPr>
          <a:xfrm>
            <a:off x="566021" y="1468348"/>
            <a:ext cx="10941799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Analytical Workflow and Methodology 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FEC4C-241E-3F71-318C-E8FCA3F83ADB}"/>
              </a:ext>
            </a:extLst>
          </p:cNvPr>
          <p:cNvSpPr txBox="1"/>
          <p:nvPr/>
        </p:nvSpPr>
        <p:spPr>
          <a:xfrm>
            <a:off x="566022" y="10824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METHODOLOGY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82A4A-3BC2-D59B-E163-42843CCC816D}"/>
              </a:ext>
            </a:extLst>
          </p:cNvPr>
          <p:cNvSpPr txBox="1"/>
          <p:nvPr/>
        </p:nvSpPr>
        <p:spPr>
          <a:xfrm>
            <a:off x="566021" y="2141802"/>
            <a:ext cx="83250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 structured descriptive-analytics pipeline connects the cleaned survey to interpretable findings.</a:t>
            </a:r>
            <a:endParaRPr lang="en-IN" sz="1600" dirty="0">
              <a:solidFill>
                <a:schemeClr val="bg2">
                  <a:lumMod val="50000"/>
                </a:schemeClr>
              </a:solidFill>
              <a:latin typeface="Aptos Narrow" panose="020B0004020202020204" pitchFamily="34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8014B913-15CA-B5E8-AD7B-94ED74CAF8AA}"/>
              </a:ext>
            </a:extLst>
          </p:cNvPr>
          <p:cNvSpPr/>
          <p:nvPr/>
        </p:nvSpPr>
        <p:spPr>
          <a:xfrm>
            <a:off x="379871" y="2689807"/>
            <a:ext cx="1844579" cy="3375676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082B380-85E7-BB34-F68B-52B7CE3E7754}"/>
              </a:ext>
            </a:extLst>
          </p:cNvPr>
          <p:cNvSpPr/>
          <p:nvPr/>
        </p:nvSpPr>
        <p:spPr>
          <a:xfrm>
            <a:off x="566021" y="2799545"/>
            <a:ext cx="515566" cy="525175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01</a:t>
            </a:r>
            <a:endParaRPr lang="en-IN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04C3DF-D516-E80C-89AA-69839242D877}"/>
              </a:ext>
            </a:extLst>
          </p:cNvPr>
          <p:cNvSpPr txBox="1"/>
          <p:nvPr/>
        </p:nvSpPr>
        <p:spPr>
          <a:xfrm>
            <a:off x="480824" y="3485001"/>
            <a:ext cx="1573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Collection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C51B9E-466F-279D-1117-7F81468408CC}"/>
              </a:ext>
            </a:extLst>
          </p:cNvPr>
          <p:cNvSpPr txBox="1"/>
          <p:nvPr/>
        </p:nvSpPr>
        <p:spPr>
          <a:xfrm>
            <a:off x="430347" y="4203636"/>
            <a:ext cx="17436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Survey responses covering demographics, platform use, behaviors, and well-being outcomes.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D5809BAB-585A-AA58-8C7A-CD769D60CF23}"/>
              </a:ext>
            </a:extLst>
          </p:cNvPr>
          <p:cNvSpPr/>
          <p:nvPr/>
        </p:nvSpPr>
        <p:spPr>
          <a:xfrm>
            <a:off x="2325403" y="2689807"/>
            <a:ext cx="1844579" cy="3375676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C07FEC32-4C59-64F2-B6C4-BBC85BF8D483}"/>
              </a:ext>
            </a:extLst>
          </p:cNvPr>
          <p:cNvSpPr/>
          <p:nvPr/>
        </p:nvSpPr>
        <p:spPr>
          <a:xfrm>
            <a:off x="2511553" y="2799545"/>
            <a:ext cx="515566" cy="525175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02</a:t>
            </a:r>
            <a:endParaRPr lang="en-IN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697760-45BF-6244-D047-7A4DD88BE82D}"/>
              </a:ext>
            </a:extLst>
          </p:cNvPr>
          <p:cNvSpPr txBox="1"/>
          <p:nvPr/>
        </p:nvSpPr>
        <p:spPr>
          <a:xfrm>
            <a:off x="2426356" y="3485001"/>
            <a:ext cx="1573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Cleaning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00AD3B-7F25-548F-89B6-D739E0C3F818}"/>
              </a:ext>
            </a:extLst>
          </p:cNvPr>
          <p:cNvSpPr txBox="1"/>
          <p:nvPr/>
        </p:nvSpPr>
        <p:spPr>
          <a:xfrm>
            <a:off x="2484701" y="4203636"/>
            <a:ext cx="1743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Standardized fields, checking completeness, and prepared ordinal variables for analysis.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id="{3E9626BF-E0AD-9479-7380-3A29B907C5A6}"/>
              </a:ext>
            </a:extLst>
          </p:cNvPr>
          <p:cNvSpPr/>
          <p:nvPr/>
        </p:nvSpPr>
        <p:spPr>
          <a:xfrm>
            <a:off x="4270935" y="2689807"/>
            <a:ext cx="1844579" cy="3375676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645D25DE-9DD4-EF46-B534-24CA240DD83C}"/>
              </a:ext>
            </a:extLst>
          </p:cNvPr>
          <p:cNvSpPr/>
          <p:nvPr/>
        </p:nvSpPr>
        <p:spPr>
          <a:xfrm>
            <a:off x="4457085" y="2799545"/>
            <a:ext cx="515566" cy="525175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03</a:t>
            </a:r>
            <a:endParaRPr lang="en-IN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5EFD07-031C-9554-B5DC-991FA2AEC38F}"/>
              </a:ext>
            </a:extLst>
          </p:cNvPr>
          <p:cNvSpPr txBox="1"/>
          <p:nvPr/>
        </p:nvSpPr>
        <p:spPr>
          <a:xfrm>
            <a:off x="4371888" y="3485001"/>
            <a:ext cx="1573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EDA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19B0F54-1899-B767-2897-FB74279B8167}"/>
              </a:ext>
            </a:extLst>
          </p:cNvPr>
          <p:cNvSpPr txBox="1"/>
          <p:nvPr/>
        </p:nvSpPr>
        <p:spPr>
          <a:xfrm>
            <a:off x="4286689" y="4207244"/>
            <a:ext cx="1743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Profiled responded demographics and baseline score distributions.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81" name="Flowchart: Alternate Process 80">
            <a:extLst>
              <a:ext uri="{FF2B5EF4-FFF2-40B4-BE49-F238E27FC236}">
                <a16:creationId xmlns:a16="http://schemas.microsoft.com/office/drawing/2014/main" id="{C593D333-9497-C718-8101-30B9C0065BC3}"/>
              </a:ext>
            </a:extLst>
          </p:cNvPr>
          <p:cNvSpPr/>
          <p:nvPr/>
        </p:nvSpPr>
        <p:spPr>
          <a:xfrm>
            <a:off x="6216467" y="2689807"/>
            <a:ext cx="1844579" cy="3375676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8B472AC7-DC81-0358-A65E-A2E6D0CC223B}"/>
              </a:ext>
            </a:extLst>
          </p:cNvPr>
          <p:cNvSpPr/>
          <p:nvPr/>
        </p:nvSpPr>
        <p:spPr>
          <a:xfrm>
            <a:off x="6402617" y="2799545"/>
            <a:ext cx="515566" cy="525175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04</a:t>
            </a:r>
            <a:endParaRPr lang="en-IN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9500301-93EB-2884-D099-7D54041C447E}"/>
              </a:ext>
            </a:extLst>
          </p:cNvPr>
          <p:cNvSpPr txBox="1"/>
          <p:nvPr/>
        </p:nvSpPr>
        <p:spPr>
          <a:xfrm>
            <a:off x="6317420" y="3485001"/>
            <a:ext cx="1573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Behavioral analysis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2DB30F-F360-3603-B681-443414CC3CB5}"/>
              </a:ext>
            </a:extLst>
          </p:cNvPr>
          <p:cNvSpPr txBox="1"/>
          <p:nvPr/>
        </p:nvSpPr>
        <p:spPr>
          <a:xfrm>
            <a:off x="6317420" y="4203636"/>
            <a:ext cx="1743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Compared outcomes by usage intensity, comparison and validation seeking.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89" name="Flowchart: Alternate Process 88">
            <a:extLst>
              <a:ext uri="{FF2B5EF4-FFF2-40B4-BE49-F238E27FC236}">
                <a16:creationId xmlns:a16="http://schemas.microsoft.com/office/drawing/2014/main" id="{E6F6EE26-B5E7-2BC9-CB92-E733A9742CC9}"/>
              </a:ext>
            </a:extLst>
          </p:cNvPr>
          <p:cNvSpPr/>
          <p:nvPr/>
        </p:nvSpPr>
        <p:spPr>
          <a:xfrm>
            <a:off x="8161999" y="2689807"/>
            <a:ext cx="1844579" cy="3375676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AB15E9CD-C008-0673-E2BE-0802CB5F4478}"/>
              </a:ext>
            </a:extLst>
          </p:cNvPr>
          <p:cNvSpPr/>
          <p:nvPr/>
        </p:nvSpPr>
        <p:spPr>
          <a:xfrm>
            <a:off x="8348149" y="2799545"/>
            <a:ext cx="515566" cy="525175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05</a:t>
            </a:r>
            <a:endParaRPr lang="en-IN" sz="1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42F167-9BE6-8ACB-68D1-C553C05DEDD5}"/>
              </a:ext>
            </a:extLst>
          </p:cNvPr>
          <p:cNvSpPr txBox="1"/>
          <p:nvPr/>
        </p:nvSpPr>
        <p:spPr>
          <a:xfrm>
            <a:off x="8262951" y="3485001"/>
            <a:ext cx="1674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Platform comparison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3A549A5-2CEE-B5E0-310D-E0A370208818}"/>
              </a:ext>
            </a:extLst>
          </p:cNvPr>
          <p:cNvSpPr txBox="1"/>
          <p:nvPr/>
        </p:nvSpPr>
        <p:spPr>
          <a:xfrm>
            <a:off x="8228230" y="4203636"/>
            <a:ext cx="17436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Benchmarked platform groups using average mental-health indicators.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97" name="Flowchart: Alternate Process 96">
            <a:extLst>
              <a:ext uri="{FF2B5EF4-FFF2-40B4-BE49-F238E27FC236}">
                <a16:creationId xmlns:a16="http://schemas.microsoft.com/office/drawing/2014/main" id="{56CE4562-69B4-4ACE-3133-07F3B46F047D}"/>
              </a:ext>
            </a:extLst>
          </p:cNvPr>
          <p:cNvSpPr/>
          <p:nvPr/>
        </p:nvSpPr>
        <p:spPr>
          <a:xfrm>
            <a:off x="10107531" y="2689807"/>
            <a:ext cx="1844579" cy="3375676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82B5CE24-3812-E268-3B06-841DF07C7CE9}"/>
              </a:ext>
            </a:extLst>
          </p:cNvPr>
          <p:cNvSpPr/>
          <p:nvPr/>
        </p:nvSpPr>
        <p:spPr>
          <a:xfrm>
            <a:off x="10293681" y="2799545"/>
            <a:ext cx="515566" cy="525175"/>
          </a:xfrm>
          <a:prstGeom prst="flowChartConnector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06</a:t>
            </a:r>
            <a:endParaRPr lang="en-IN" sz="14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C54A0A3-C0D3-6BBC-28FF-BCC7A67636B7}"/>
              </a:ext>
            </a:extLst>
          </p:cNvPr>
          <p:cNvSpPr txBox="1"/>
          <p:nvPr/>
        </p:nvSpPr>
        <p:spPr>
          <a:xfrm>
            <a:off x="10208483" y="3485001"/>
            <a:ext cx="1743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Correlation &amp; findings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678CC7F-71F3-4C8F-C377-1BD1F39F13B3}"/>
              </a:ext>
            </a:extLst>
          </p:cNvPr>
          <p:cNvSpPr txBox="1"/>
          <p:nvPr/>
        </p:nvSpPr>
        <p:spPr>
          <a:xfrm>
            <a:off x="10266846" y="4131332"/>
            <a:ext cx="17436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ea typeface="Segoe UI Black" panose="020B0A02040204020203" pitchFamily="34" charset="0"/>
                <a:cs typeface="Cascadia Mono SemiBold" panose="020B0609020000020004" pitchFamily="49" charset="0"/>
              </a:rPr>
              <a:t>Visualized relationships and summarized descriptive academic cautions.</a:t>
            </a:r>
            <a:endParaRPr lang="en-IN" sz="1600" dirty="0">
              <a:solidFill>
                <a:schemeClr val="bg2">
                  <a:lumMod val="50000"/>
                </a:schemeClr>
              </a:solidFill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E0412E6-9181-A994-3070-B715994082CF}"/>
              </a:ext>
            </a:extLst>
          </p:cNvPr>
          <p:cNvSpPr/>
          <p:nvPr/>
        </p:nvSpPr>
        <p:spPr>
          <a:xfrm>
            <a:off x="497928" y="6148999"/>
            <a:ext cx="11471284" cy="437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  Analytical stance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: descriptive and exploratory, associations are interpreted cautiously and not presented as causal effects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DC3A6E-BED8-4C35-DB7D-1D8C7E2F6FBD}"/>
              </a:ext>
            </a:extLst>
          </p:cNvPr>
          <p:cNvSpPr/>
          <p:nvPr/>
        </p:nvSpPr>
        <p:spPr>
          <a:xfrm>
            <a:off x="497928" y="6148999"/>
            <a:ext cx="68094" cy="437474"/>
          </a:xfrm>
          <a:prstGeom prst="rect">
            <a:avLst/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Text 27">
            <a:extLst>
              <a:ext uri="{FF2B5EF4-FFF2-40B4-BE49-F238E27FC236}">
                <a16:creationId xmlns:a16="http://schemas.microsoft.com/office/drawing/2014/main" id="{2885E271-BB8E-95A3-D7C1-508EC8E6B44B}"/>
              </a:ext>
            </a:extLst>
          </p:cNvPr>
          <p:cNvSpPr/>
          <p:nvPr/>
        </p:nvSpPr>
        <p:spPr>
          <a:xfrm>
            <a:off x="11355586" y="6625352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525DA0-471C-5846-4260-84AB6909759D}"/>
              </a:ext>
            </a:extLst>
          </p:cNvPr>
          <p:cNvSpPr/>
          <p:nvPr/>
        </p:nvSpPr>
        <p:spPr>
          <a:xfrm>
            <a:off x="-1" y="0"/>
            <a:ext cx="51931" cy="6917267"/>
          </a:xfrm>
          <a:prstGeom prst="rect">
            <a:avLst/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253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70DC06-C74C-33A8-FE8E-AC4E1306C556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B4396-3214-EA5F-4837-70122B7F67B1}"/>
              </a:ext>
            </a:extLst>
          </p:cNvPr>
          <p:cNvSpPr txBox="1"/>
          <p:nvPr/>
        </p:nvSpPr>
        <p:spPr>
          <a:xfrm>
            <a:off x="566022" y="10824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KEY VISUALIZATION 1 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7F6A-C3BE-B1CF-D0E3-DF134809E9D7}"/>
              </a:ext>
            </a:extLst>
          </p:cNvPr>
          <p:cNvSpPr txBox="1"/>
          <p:nvPr/>
        </p:nvSpPr>
        <p:spPr>
          <a:xfrm>
            <a:off x="566022" y="1468348"/>
            <a:ext cx="11625978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Mental Health Scores vs Daily Social Media Usage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38" name="object 7">
            <a:extLst>
              <a:ext uri="{FF2B5EF4-FFF2-40B4-BE49-F238E27FC236}">
                <a16:creationId xmlns:a16="http://schemas.microsoft.com/office/drawing/2014/main" id="{C29E4EF0-70F5-2E62-5AEE-6FE7A3939402}"/>
              </a:ext>
            </a:extLst>
          </p:cNvPr>
          <p:cNvSpPr txBox="1"/>
          <p:nvPr/>
        </p:nvSpPr>
        <p:spPr>
          <a:xfrm>
            <a:off x="809059" y="9797185"/>
            <a:ext cx="139976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50" dirty="0">
                <a:solidFill>
                  <a:srgbClr val="D1D0CD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8">
            <a:extLst>
              <a:ext uri="{FF2B5EF4-FFF2-40B4-BE49-F238E27FC236}">
                <a16:creationId xmlns:a16="http://schemas.microsoft.com/office/drawing/2014/main" id="{B3E91BFB-FBCE-40DF-33EE-3E3BC90FC770}"/>
              </a:ext>
            </a:extLst>
          </p:cNvPr>
          <p:cNvSpPr txBox="1"/>
          <p:nvPr/>
        </p:nvSpPr>
        <p:spPr>
          <a:xfrm>
            <a:off x="809059" y="7810377"/>
            <a:ext cx="139976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50" dirty="0">
                <a:solidFill>
                  <a:srgbClr val="D1D0CD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063" name="Picture 2062">
            <a:extLst>
              <a:ext uri="{FF2B5EF4-FFF2-40B4-BE49-F238E27FC236}">
                <a16:creationId xmlns:a16="http://schemas.microsoft.com/office/drawing/2014/main" id="{91D597AB-A27B-7D3C-8FC5-B71A08C09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22" y="2370667"/>
            <a:ext cx="6484692" cy="4267406"/>
          </a:xfrm>
          <a:prstGeom prst="rect">
            <a:avLst/>
          </a:prstGeom>
        </p:spPr>
      </p:pic>
      <p:sp>
        <p:nvSpPr>
          <p:cNvPr id="2077" name="Text 27">
            <a:extLst>
              <a:ext uri="{FF2B5EF4-FFF2-40B4-BE49-F238E27FC236}">
                <a16:creationId xmlns:a16="http://schemas.microsoft.com/office/drawing/2014/main" id="{12ECCF5A-00AD-B4A0-8ACB-4621C30D9947}"/>
              </a:ext>
            </a:extLst>
          </p:cNvPr>
          <p:cNvSpPr/>
          <p:nvPr/>
        </p:nvSpPr>
        <p:spPr>
          <a:xfrm>
            <a:off x="11355586" y="6633819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645C1-4FAD-5A38-A54C-371FD8B649BA}"/>
              </a:ext>
            </a:extLst>
          </p:cNvPr>
          <p:cNvSpPr/>
          <p:nvPr/>
        </p:nvSpPr>
        <p:spPr>
          <a:xfrm>
            <a:off x="7456453" y="2848349"/>
            <a:ext cx="1955800" cy="1161301"/>
          </a:xfrm>
          <a:prstGeom prst="rect">
            <a:avLst/>
          </a:prstGeom>
          <a:solidFill>
            <a:srgbClr val="215287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Higher Usage</a:t>
            </a:r>
          </a:p>
          <a:p>
            <a:pPr algn="ctr"/>
            <a:endParaRPr lang="en-IN" sz="900" dirty="0">
              <a:solidFill>
                <a:schemeClr val="bg1"/>
              </a:solidFill>
            </a:endParaRPr>
          </a:p>
          <a:p>
            <a:pPr algn="ctr"/>
            <a:r>
              <a:rPr lang="en-IN" sz="1200" dirty="0">
                <a:solidFill>
                  <a:schemeClr val="bg1"/>
                </a:solidFill>
              </a:rPr>
              <a:t>Mental health scores increase with daily social media usage.</a:t>
            </a:r>
          </a:p>
          <a:p>
            <a:pPr algn="ctr"/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C5E3CC-BE78-77B0-066A-D642CC9D50FB}"/>
              </a:ext>
            </a:extLst>
          </p:cNvPr>
          <p:cNvSpPr/>
          <p:nvPr/>
        </p:nvSpPr>
        <p:spPr>
          <a:xfrm>
            <a:off x="9817992" y="2848349"/>
            <a:ext cx="1955800" cy="1161301"/>
          </a:xfrm>
          <a:prstGeom prst="rect">
            <a:avLst/>
          </a:prstGeom>
          <a:solidFill>
            <a:srgbClr val="215287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High-Risk</a:t>
            </a:r>
            <a:r>
              <a:rPr lang="en-IN" sz="2000" b="1" dirty="0">
                <a:solidFill>
                  <a:schemeClr val="bg1"/>
                </a:solidFill>
              </a:rPr>
              <a:t> Users</a:t>
            </a: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sz="700" dirty="0">
              <a:solidFill>
                <a:schemeClr val="bg1"/>
              </a:solidFill>
            </a:endParaRPr>
          </a:p>
          <a:p>
            <a:pPr algn="ctr"/>
            <a:r>
              <a:rPr lang="en-IN" sz="1200" dirty="0">
                <a:solidFill>
                  <a:schemeClr val="bg1"/>
                </a:solidFill>
              </a:rPr>
              <a:t>Users spending more than 5 hours/day report higher depression and worry</a:t>
            </a:r>
            <a:r>
              <a:rPr lang="en-IN" sz="1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26EAF-C1D5-6764-EC76-94751490B13F}"/>
              </a:ext>
            </a:extLst>
          </p:cNvPr>
          <p:cNvSpPr/>
          <p:nvPr/>
        </p:nvSpPr>
        <p:spPr>
          <a:xfrm>
            <a:off x="7456453" y="4342030"/>
            <a:ext cx="1955800" cy="1161301"/>
          </a:xfrm>
          <a:prstGeom prst="rect">
            <a:avLst/>
          </a:prstGeom>
          <a:solidFill>
            <a:srgbClr val="215287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Sleep Impact</a:t>
            </a:r>
          </a:p>
          <a:p>
            <a:pPr algn="ctr"/>
            <a:endParaRPr lang="en-IN" sz="700" dirty="0"/>
          </a:p>
          <a:p>
            <a:pPr algn="ctr"/>
            <a:r>
              <a:rPr lang="en-IN" sz="1200" dirty="0"/>
              <a:t>Longer screen time is associated with increased sleep issues.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380A37-307B-1EC2-F131-B5C252456B70}"/>
              </a:ext>
            </a:extLst>
          </p:cNvPr>
          <p:cNvSpPr/>
          <p:nvPr/>
        </p:nvSpPr>
        <p:spPr>
          <a:xfrm>
            <a:off x="9817992" y="4342030"/>
            <a:ext cx="1955800" cy="1161301"/>
          </a:xfrm>
          <a:prstGeom prst="rect">
            <a:avLst/>
          </a:prstGeom>
          <a:solidFill>
            <a:srgbClr val="215287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Overall Finding</a:t>
            </a:r>
          </a:p>
          <a:p>
            <a:pPr algn="ctr"/>
            <a:endParaRPr lang="en-IN" sz="700" dirty="0">
              <a:solidFill>
                <a:schemeClr val="bg1"/>
              </a:solidFill>
            </a:endParaRPr>
          </a:p>
          <a:p>
            <a:pPr algn="ctr"/>
            <a:r>
              <a:rPr lang="en-IN" sz="1200" dirty="0">
                <a:solidFill>
                  <a:schemeClr val="bg1"/>
                </a:solidFill>
              </a:rPr>
              <a:t>Lower daily usage is linked with better mental well-being.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7F1251-9182-2971-6FEA-44B2AAC49C37}"/>
              </a:ext>
            </a:extLst>
          </p:cNvPr>
          <p:cNvSpPr/>
          <p:nvPr/>
        </p:nvSpPr>
        <p:spPr>
          <a:xfrm>
            <a:off x="-1" y="0"/>
            <a:ext cx="51931" cy="6917267"/>
          </a:xfrm>
          <a:prstGeom prst="rect">
            <a:avLst/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22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CAB415-D3C3-4934-789D-1C441DE29C50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D7E22-8ECF-CB90-4F62-87DA86DC6FCF}"/>
              </a:ext>
            </a:extLst>
          </p:cNvPr>
          <p:cNvSpPr txBox="1"/>
          <p:nvPr/>
        </p:nvSpPr>
        <p:spPr>
          <a:xfrm>
            <a:off x="514020" y="93916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KEY VISUALIZATION 2 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AF3BCA-CE4D-9E1E-7722-A0C658CA13AB}"/>
              </a:ext>
            </a:extLst>
          </p:cNvPr>
          <p:cNvSpPr txBox="1"/>
          <p:nvPr/>
        </p:nvSpPr>
        <p:spPr>
          <a:xfrm>
            <a:off x="514020" y="1342435"/>
            <a:ext cx="11625978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Mental Health by Social Media Platform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443AA74F-F3F4-D3E5-0805-66D3D5B44FF9}"/>
              </a:ext>
            </a:extLst>
          </p:cNvPr>
          <p:cNvSpPr/>
          <p:nvPr/>
        </p:nvSpPr>
        <p:spPr>
          <a:xfrm>
            <a:off x="11355586" y="6633819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C3EDD-3784-53B0-879F-B179EE014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" t="3900" r="3246" b="4269"/>
          <a:stretch>
            <a:fillRect/>
          </a:stretch>
        </p:blipFill>
        <p:spPr>
          <a:xfrm>
            <a:off x="581754" y="2311597"/>
            <a:ext cx="8475134" cy="3999391"/>
          </a:xfrm>
          <a:prstGeom prst="rect">
            <a:avLst/>
          </a:prstGeom>
        </p:spPr>
      </p:pic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54F90488-4FBF-F1ED-7BE3-F09BEEA4502F}"/>
              </a:ext>
            </a:extLst>
          </p:cNvPr>
          <p:cNvSpPr/>
          <p:nvPr/>
        </p:nvSpPr>
        <p:spPr>
          <a:xfrm>
            <a:off x="9586712" y="2558692"/>
            <a:ext cx="2023534" cy="1168400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0" b="1" dirty="0"/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D1746FB2-8C8E-6614-76C3-1E4A445E5FD5}"/>
              </a:ext>
            </a:extLst>
          </p:cNvPr>
          <p:cNvSpPr/>
          <p:nvPr/>
        </p:nvSpPr>
        <p:spPr>
          <a:xfrm>
            <a:off x="9649713" y="2621268"/>
            <a:ext cx="1894190" cy="1046084"/>
          </a:xfrm>
          <a:prstGeom prst="flowChartAlternateProcess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/>
              <a:t>Highest Score</a:t>
            </a:r>
          </a:p>
          <a:p>
            <a:pPr algn="ctr"/>
            <a:endParaRPr lang="en-US" sz="700" b="1" dirty="0"/>
          </a:p>
          <a:p>
            <a:pPr algn="ctr"/>
            <a:r>
              <a:rPr lang="en-US" sz="1600" dirty="0"/>
              <a:t>TikTok</a:t>
            </a:r>
            <a:endParaRPr lang="en-IN" sz="1100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D0CADB5D-6850-9E94-02C7-8E02E535B2C7}"/>
              </a:ext>
            </a:extLst>
          </p:cNvPr>
          <p:cNvSpPr/>
          <p:nvPr/>
        </p:nvSpPr>
        <p:spPr>
          <a:xfrm>
            <a:off x="9585041" y="3911984"/>
            <a:ext cx="2023534" cy="1168400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0" b="1" dirty="0"/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DEEE19A8-40DE-C692-8025-7264765102E2}"/>
              </a:ext>
            </a:extLst>
          </p:cNvPr>
          <p:cNvSpPr/>
          <p:nvPr/>
        </p:nvSpPr>
        <p:spPr>
          <a:xfrm>
            <a:off x="9648042" y="3974560"/>
            <a:ext cx="1894190" cy="1046084"/>
          </a:xfrm>
          <a:prstGeom prst="flowChartAlternateProcess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/>
              <a:t>Lowest Score</a:t>
            </a:r>
          </a:p>
          <a:p>
            <a:pPr algn="ctr"/>
            <a:endParaRPr lang="en-US" sz="700" b="1" dirty="0"/>
          </a:p>
          <a:p>
            <a:pPr algn="ctr"/>
            <a:r>
              <a:rPr lang="en-US" sz="1400" dirty="0"/>
              <a:t>Reddit</a:t>
            </a:r>
          </a:p>
          <a:p>
            <a:pPr algn="ctr"/>
            <a:r>
              <a:rPr lang="en-US" sz="1400" dirty="0"/>
              <a:t>YouTube</a:t>
            </a:r>
            <a:endParaRPr lang="en-IN" sz="1050" dirty="0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E5AFB640-348E-0124-89FE-9E2A267B7B3A}"/>
              </a:ext>
            </a:extLst>
          </p:cNvPr>
          <p:cNvSpPr/>
          <p:nvPr/>
        </p:nvSpPr>
        <p:spPr>
          <a:xfrm>
            <a:off x="9586712" y="5280527"/>
            <a:ext cx="2023534" cy="1168400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00" b="1" dirty="0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776019A4-45EC-85AB-E783-98F750172ED3}"/>
              </a:ext>
            </a:extLst>
          </p:cNvPr>
          <p:cNvSpPr/>
          <p:nvPr/>
        </p:nvSpPr>
        <p:spPr>
          <a:xfrm>
            <a:off x="9649713" y="5343103"/>
            <a:ext cx="1894190" cy="1046084"/>
          </a:xfrm>
          <a:prstGeom prst="flowChartAlternateProcess">
            <a:avLst/>
          </a:prstGeom>
          <a:solidFill>
            <a:srgbClr val="215287"/>
          </a:solidFill>
          <a:ln>
            <a:solidFill>
              <a:srgbClr val="215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/>
              <a:t>Observation</a:t>
            </a:r>
          </a:p>
          <a:p>
            <a:pPr algn="ctr"/>
            <a:endParaRPr lang="en-US" sz="700" b="1" dirty="0"/>
          </a:p>
          <a:p>
            <a:pPr algn="ctr"/>
            <a:r>
              <a:rPr lang="en-US" sz="1300" dirty="0"/>
              <a:t>Platform choice</a:t>
            </a:r>
          </a:p>
          <a:p>
            <a:pPr algn="ctr"/>
            <a:r>
              <a:rPr lang="en-US" sz="1300" dirty="0"/>
              <a:t>Influences outcomes</a:t>
            </a:r>
            <a:endParaRPr lang="en-IN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92A834-9493-10C0-C908-A2B149AF269A}"/>
              </a:ext>
            </a:extLst>
          </p:cNvPr>
          <p:cNvSpPr/>
          <p:nvPr/>
        </p:nvSpPr>
        <p:spPr>
          <a:xfrm>
            <a:off x="-1" y="0"/>
            <a:ext cx="51931" cy="6917267"/>
          </a:xfrm>
          <a:prstGeom prst="rect">
            <a:avLst/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08E767-E53C-2832-9492-532247C1862D}"/>
              </a:ext>
            </a:extLst>
          </p:cNvPr>
          <p:cNvSpPr/>
          <p:nvPr/>
        </p:nvSpPr>
        <p:spPr>
          <a:xfrm>
            <a:off x="581754" y="6389187"/>
            <a:ext cx="8475134" cy="468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buNone/>
            </a:pPr>
            <a:r>
              <a:rPr lang="en-IN" sz="1100" dirty="0">
                <a:solidFill>
                  <a:schemeClr val="bg2">
                    <a:lumMod val="25000"/>
                  </a:schemeClr>
                </a:solidFill>
              </a:rPr>
              <a:t>🟦 </a:t>
            </a:r>
            <a:r>
              <a:rPr lang="en-IN" sz="1100" b="1" dirty="0">
                <a:solidFill>
                  <a:schemeClr val="bg2">
                    <a:lumMod val="25000"/>
                  </a:schemeClr>
                </a:solidFill>
              </a:rPr>
              <a:t>Highest Score : </a:t>
            </a:r>
            <a:r>
              <a:rPr lang="en-IN" sz="1100" dirty="0">
                <a:solidFill>
                  <a:schemeClr val="bg2">
                    <a:lumMod val="25000"/>
                  </a:schemeClr>
                </a:solidFill>
              </a:rPr>
              <a:t>TikTok users reported the highest depression and worry scores.🟦 </a:t>
            </a:r>
            <a:r>
              <a:rPr lang="en-IN" sz="1100" b="1" dirty="0">
                <a:solidFill>
                  <a:schemeClr val="bg2">
                    <a:lumMod val="25000"/>
                  </a:schemeClr>
                </a:solidFill>
              </a:rPr>
              <a:t>Lower Score: </a:t>
            </a:r>
            <a:r>
              <a:rPr lang="en-IN" sz="1100" dirty="0">
                <a:solidFill>
                  <a:schemeClr val="bg2">
                    <a:lumMod val="25000"/>
                  </a:schemeClr>
                </a:solidFill>
              </a:rPr>
              <a:t>Reddit and YouTube users showed comparatively lower scores.🟦 </a:t>
            </a:r>
            <a:r>
              <a:rPr lang="en-IN" sz="1100" b="1" dirty="0">
                <a:solidFill>
                  <a:schemeClr val="bg2">
                    <a:lumMod val="25000"/>
                  </a:schemeClr>
                </a:solidFill>
              </a:rPr>
              <a:t>Platform Effect: </a:t>
            </a:r>
            <a:r>
              <a:rPr lang="en-IN" sz="1100" dirty="0">
                <a:solidFill>
                  <a:schemeClr val="bg2">
                    <a:lumMod val="25000"/>
                  </a:schemeClr>
                </a:solidFill>
              </a:rPr>
              <a:t>Mental health outcomes vary across social media platforms.🟦</a:t>
            </a:r>
            <a:r>
              <a:rPr lang="en-IN" sz="1100" b="1" dirty="0">
                <a:solidFill>
                  <a:schemeClr val="bg2">
                    <a:lumMod val="25000"/>
                  </a:schemeClr>
                </a:solidFill>
              </a:rPr>
              <a:t>Overall Finding: </a:t>
            </a:r>
            <a:r>
              <a:rPr lang="en-IN" sz="1100" dirty="0">
                <a:solidFill>
                  <a:schemeClr val="bg2">
                    <a:lumMod val="25000"/>
                  </a:schemeClr>
                </a:solidFill>
              </a:rPr>
              <a:t>Platform choice may influence emotional well-being.</a:t>
            </a:r>
          </a:p>
        </p:txBody>
      </p:sp>
    </p:spTree>
    <p:extLst>
      <p:ext uri="{BB962C8B-B14F-4D97-AF65-F5344CB8AC3E}">
        <p14:creationId xmlns:p14="http://schemas.microsoft.com/office/powerpoint/2010/main" val="325781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46B16B-D6C8-FAE7-7C46-559045AD070F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280DF-FEF8-9CA5-3709-8C08205592A1}"/>
              </a:ext>
            </a:extLst>
          </p:cNvPr>
          <p:cNvSpPr txBox="1"/>
          <p:nvPr/>
        </p:nvSpPr>
        <p:spPr>
          <a:xfrm>
            <a:off x="514020" y="93916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KEY VISUALIZATION 3 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DBE86-40F4-241E-DB01-2849205C786D}"/>
              </a:ext>
            </a:extLst>
          </p:cNvPr>
          <p:cNvSpPr txBox="1"/>
          <p:nvPr/>
        </p:nvSpPr>
        <p:spPr>
          <a:xfrm>
            <a:off x="514020" y="1342435"/>
            <a:ext cx="11625978" cy="120032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Depression &amp; Worry Rise with Social Comparison Frequency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1001B4-4404-2097-257E-4C0866717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66" y="2175933"/>
            <a:ext cx="8237934" cy="4030133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31B51A9D-51FD-7BB0-D007-8E2BE543A520}"/>
              </a:ext>
            </a:extLst>
          </p:cNvPr>
          <p:cNvSpPr/>
          <p:nvPr/>
        </p:nvSpPr>
        <p:spPr>
          <a:xfrm>
            <a:off x="643467" y="2717800"/>
            <a:ext cx="2582333" cy="982133"/>
          </a:xfrm>
          <a:prstGeom prst="rightArrow">
            <a:avLst>
              <a:gd name="adj1" fmla="val 50000"/>
              <a:gd name="adj2" fmla="val 73256"/>
            </a:avLst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b="1" dirty="0"/>
              <a:t>Social Comparison</a:t>
            </a:r>
          </a:p>
          <a:p>
            <a:pPr algn="ctr"/>
            <a:endParaRPr lang="en-IN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B5DBD36-0F74-5EE8-834E-42E58B9B5F29}"/>
              </a:ext>
            </a:extLst>
          </p:cNvPr>
          <p:cNvSpPr/>
          <p:nvPr/>
        </p:nvSpPr>
        <p:spPr>
          <a:xfrm>
            <a:off x="643466" y="3970867"/>
            <a:ext cx="2582333" cy="982133"/>
          </a:xfrm>
          <a:prstGeom prst="rightArrow">
            <a:avLst>
              <a:gd name="adj1" fmla="val 50000"/>
              <a:gd name="adj2" fmla="val 73256"/>
            </a:avLst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Key Finding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79BB7C2-F5A7-5020-A676-79384BF7D091}"/>
              </a:ext>
            </a:extLst>
          </p:cNvPr>
          <p:cNvSpPr/>
          <p:nvPr/>
        </p:nvSpPr>
        <p:spPr>
          <a:xfrm>
            <a:off x="643466" y="5223934"/>
            <a:ext cx="2582333" cy="982133"/>
          </a:xfrm>
          <a:prstGeom prst="rightArrow">
            <a:avLst>
              <a:gd name="adj1" fmla="val 50000"/>
              <a:gd name="adj2" fmla="val 73256"/>
            </a:avLst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b="1" dirty="0"/>
              <a:t>Higher Worry</a:t>
            </a:r>
          </a:p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6484D0-53F0-5F56-7B5E-52050797937F}"/>
              </a:ext>
            </a:extLst>
          </p:cNvPr>
          <p:cNvSpPr/>
          <p:nvPr/>
        </p:nvSpPr>
        <p:spPr>
          <a:xfrm>
            <a:off x="-1" y="0"/>
            <a:ext cx="51931" cy="6917267"/>
          </a:xfrm>
          <a:prstGeom prst="rect">
            <a:avLst/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C7CA5F-326C-CD1E-EC41-12AB960EE80A}"/>
              </a:ext>
            </a:extLst>
          </p:cNvPr>
          <p:cNvSpPr/>
          <p:nvPr/>
        </p:nvSpPr>
        <p:spPr>
          <a:xfrm>
            <a:off x="643466" y="6295612"/>
            <a:ext cx="10964334" cy="484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bg2">
                    <a:lumMod val="25000"/>
                  </a:schemeClr>
                </a:solidFill>
              </a:rPr>
              <a:t>🟦 </a:t>
            </a:r>
            <a:r>
              <a:rPr lang="en-IN" sz="1200" b="1" dirty="0">
                <a:solidFill>
                  <a:schemeClr val="bg2">
                    <a:lumMod val="25000"/>
                  </a:schemeClr>
                </a:solidFill>
              </a:rPr>
              <a:t>Social Comparison: </a:t>
            </a:r>
            <a:r>
              <a:rPr lang="en-IN" sz="1200" dirty="0">
                <a:solidFill>
                  <a:schemeClr val="bg2">
                    <a:lumMod val="25000"/>
                  </a:schemeClr>
                </a:solidFill>
              </a:rPr>
              <a:t>Frequent comparison increases depression levels.🟦 </a:t>
            </a:r>
            <a:r>
              <a:rPr lang="en-IN" sz="1200" b="1" dirty="0">
                <a:solidFill>
                  <a:schemeClr val="bg2">
                    <a:lumMod val="25000"/>
                  </a:schemeClr>
                </a:solidFill>
              </a:rPr>
              <a:t>Worry:</a:t>
            </a:r>
            <a:r>
              <a:rPr lang="en-IN" sz="1200" dirty="0">
                <a:solidFill>
                  <a:schemeClr val="bg2">
                    <a:lumMod val="25000"/>
                  </a:schemeClr>
                </a:solidFill>
              </a:rPr>
              <a:t> scores rise as comparison frequency increases.</a:t>
            </a:r>
          </a:p>
          <a:p>
            <a:r>
              <a:rPr lang="en-IN" sz="1200" dirty="0">
                <a:solidFill>
                  <a:schemeClr val="bg2">
                    <a:lumMod val="25000"/>
                  </a:schemeClr>
                </a:solidFill>
              </a:rPr>
              <a:t>🟦 </a:t>
            </a:r>
            <a:r>
              <a:rPr lang="en-IN" sz="1200" b="1" dirty="0">
                <a:solidFill>
                  <a:schemeClr val="bg2">
                    <a:lumMod val="25000"/>
                  </a:schemeClr>
                </a:solidFill>
              </a:rPr>
              <a:t>Behaviour :</a:t>
            </a:r>
            <a:r>
              <a:rPr lang="en-IN" sz="1200" dirty="0">
                <a:solidFill>
                  <a:schemeClr val="bg2">
                    <a:lumMod val="25000"/>
                  </a:schemeClr>
                </a:solidFill>
              </a:rPr>
              <a:t>Comparing with others negatively affects mental health.🟦 </a:t>
            </a:r>
            <a:r>
              <a:rPr lang="en-IN" sz="1200" b="1" dirty="0">
                <a:solidFill>
                  <a:schemeClr val="bg2">
                    <a:lumMod val="25000"/>
                  </a:schemeClr>
                </a:solidFill>
              </a:rPr>
              <a:t>Overall Finding : </a:t>
            </a:r>
            <a:r>
              <a:rPr lang="en-IN" sz="1200" dirty="0">
                <a:solidFill>
                  <a:schemeClr val="bg2">
                    <a:lumMod val="25000"/>
                  </a:schemeClr>
                </a:solidFill>
              </a:rPr>
              <a:t>Social comparison is a major behavioural risk factor</a:t>
            </a:r>
            <a:r>
              <a:rPr lang="en-IN" sz="1600" dirty="0"/>
              <a:t>.</a:t>
            </a:r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62139670-4BAA-420A-F810-4D9134CD943D}"/>
              </a:ext>
            </a:extLst>
          </p:cNvPr>
          <p:cNvSpPr/>
          <p:nvPr/>
        </p:nvSpPr>
        <p:spPr>
          <a:xfrm>
            <a:off x="11467425" y="6670846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r>
              <a:rPr lang="en-IN" sz="1200" dirty="0"/>
              <a:t> </a:t>
            </a: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131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8BD557-B2FD-F1E2-8D35-2D672A05FC18}"/>
              </a:ext>
            </a:extLst>
          </p:cNvPr>
          <p:cNvSpPr txBox="1"/>
          <p:nvPr/>
        </p:nvSpPr>
        <p:spPr>
          <a:xfrm>
            <a:off x="514020" y="93916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KEY VISUALIZATION 4 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F0B97-0220-311E-FEE8-BA872D44130F}"/>
              </a:ext>
            </a:extLst>
          </p:cNvPr>
          <p:cNvSpPr txBox="1"/>
          <p:nvPr/>
        </p:nvSpPr>
        <p:spPr>
          <a:xfrm>
            <a:off x="514020" y="1342435"/>
            <a:ext cx="11625978" cy="120032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Poor Sleep and Difficulty Concentrating Rise Together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5F2899-B5B3-8E4B-1B4E-A2D7FC14E669}"/>
              </a:ext>
            </a:extLst>
          </p:cNvPr>
          <p:cNvSpPr/>
          <p:nvPr/>
        </p:nvSpPr>
        <p:spPr>
          <a:xfrm>
            <a:off x="-1" y="0"/>
            <a:ext cx="51931" cy="6917267"/>
          </a:xfrm>
          <a:prstGeom prst="rect">
            <a:avLst/>
          </a:prstGeom>
          <a:solidFill>
            <a:srgbClr val="21528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4FB58E-EC36-A452-2F61-2ED276C4E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960" y="2323453"/>
            <a:ext cx="6436638" cy="4243182"/>
          </a:xfrm>
          <a:prstGeom prst="rect">
            <a:avLst/>
          </a:prstGeom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589A6B84-35FD-D422-7D8A-7E33D83787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262049"/>
              </p:ext>
            </p:extLst>
          </p:nvPr>
        </p:nvGraphicFramePr>
        <p:xfrm>
          <a:off x="297463" y="2612411"/>
          <a:ext cx="3384406" cy="3928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Text 27">
            <a:extLst>
              <a:ext uri="{FF2B5EF4-FFF2-40B4-BE49-F238E27FC236}">
                <a16:creationId xmlns:a16="http://schemas.microsoft.com/office/drawing/2014/main" id="{2D83C714-5CCC-EE09-C862-AB2C1C586EB8}"/>
              </a:ext>
            </a:extLst>
          </p:cNvPr>
          <p:cNvSpPr/>
          <p:nvPr/>
        </p:nvSpPr>
        <p:spPr>
          <a:xfrm>
            <a:off x="11355586" y="6633819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005936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7561AE-CB37-65D5-4FFB-AC0D48CD0875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DAC37-471F-7DC9-CAC2-68B798FE37C5}"/>
              </a:ext>
            </a:extLst>
          </p:cNvPr>
          <p:cNvSpPr txBox="1"/>
          <p:nvPr/>
        </p:nvSpPr>
        <p:spPr>
          <a:xfrm>
            <a:off x="514020" y="90878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KEY VISUALIZATION 5 </a:t>
            </a:r>
            <a:endParaRPr lang="en-IN" sz="1400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09C09-36BA-9F86-B58C-13B67163734E}"/>
              </a:ext>
            </a:extLst>
          </p:cNvPr>
          <p:cNvSpPr txBox="1"/>
          <p:nvPr/>
        </p:nvSpPr>
        <p:spPr>
          <a:xfrm>
            <a:off x="514020" y="1176438"/>
            <a:ext cx="11625978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Key Influencer Analysis &amp; Correlation Heatmap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FEF80A-D927-CB02-C4C0-6315ECAAC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83" y="2208869"/>
            <a:ext cx="10539373" cy="19661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08D105-4170-1E51-6B0D-BD4289BA7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83" y="4174999"/>
            <a:ext cx="4648108" cy="26051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96802C-FD67-335E-2C09-05F441DA7C1D}"/>
              </a:ext>
            </a:extLst>
          </p:cNvPr>
          <p:cNvSpPr txBox="1"/>
          <p:nvPr/>
        </p:nvSpPr>
        <p:spPr>
          <a:xfrm>
            <a:off x="514020" y="2039566"/>
            <a:ext cx="6540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Correlation</a:t>
            </a:r>
            <a:r>
              <a:rPr lang="en-US" sz="1400" spc="5" dirty="0"/>
              <a:t> </a:t>
            </a:r>
            <a:r>
              <a:rPr lang="en-US" sz="1400" dirty="0"/>
              <a:t>Heatmap</a:t>
            </a:r>
            <a:r>
              <a:rPr lang="en-US" sz="1400" spc="5" dirty="0"/>
              <a:t> </a:t>
            </a:r>
            <a:r>
              <a:rPr lang="en-US" sz="1400" dirty="0"/>
              <a:t>–</a:t>
            </a:r>
            <a:r>
              <a:rPr lang="en-US" sz="1400" spc="5" dirty="0"/>
              <a:t> </a:t>
            </a:r>
            <a:r>
              <a:rPr lang="en-US" sz="1400" dirty="0"/>
              <a:t>Social</a:t>
            </a:r>
            <a:r>
              <a:rPr lang="en-US" sz="1400" spc="5" dirty="0"/>
              <a:t> </a:t>
            </a:r>
            <a:r>
              <a:rPr lang="en-US" sz="1400" dirty="0"/>
              <a:t>Media</a:t>
            </a:r>
            <a:r>
              <a:rPr lang="en-US" sz="1400" spc="5" dirty="0"/>
              <a:t> </a:t>
            </a:r>
            <a:r>
              <a:rPr lang="en-US" sz="1400" dirty="0"/>
              <a:t>Use</a:t>
            </a:r>
            <a:r>
              <a:rPr lang="en-US" sz="1400" spc="5" dirty="0"/>
              <a:t> </a:t>
            </a:r>
            <a:r>
              <a:rPr lang="en-US" sz="1400" dirty="0"/>
              <a:t>&amp;</a:t>
            </a:r>
            <a:r>
              <a:rPr lang="en-US" sz="1400" spc="5" dirty="0"/>
              <a:t> </a:t>
            </a:r>
            <a:r>
              <a:rPr lang="en-US" sz="1400" dirty="0"/>
              <a:t>Mental</a:t>
            </a:r>
            <a:r>
              <a:rPr lang="en-US" sz="1400" spc="5" dirty="0"/>
              <a:t> </a:t>
            </a:r>
            <a:r>
              <a:rPr lang="en-US" sz="1400" dirty="0"/>
              <a:t>Health</a:t>
            </a:r>
            <a:r>
              <a:rPr lang="en-US" sz="1400" spc="5" dirty="0"/>
              <a:t> </a:t>
            </a:r>
            <a:r>
              <a:rPr lang="en-US" sz="1400" spc="-10" dirty="0"/>
              <a:t>Indicators</a:t>
            </a:r>
            <a:endParaRPr lang="en-IN" sz="1400" dirty="0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276810CD-6CBB-2EDF-426F-36EB63319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7527175"/>
              </p:ext>
            </p:extLst>
          </p:nvPr>
        </p:nvGraphicFramePr>
        <p:xfrm>
          <a:off x="4632960" y="4398619"/>
          <a:ext cx="5146766" cy="223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4" name="Text 27">
            <a:extLst>
              <a:ext uri="{FF2B5EF4-FFF2-40B4-BE49-F238E27FC236}">
                <a16:creationId xmlns:a16="http://schemas.microsoft.com/office/drawing/2014/main" id="{3BF37F9C-21FA-3F36-8A6B-AC251F734784}"/>
              </a:ext>
            </a:extLst>
          </p:cNvPr>
          <p:cNvSpPr/>
          <p:nvPr/>
        </p:nvSpPr>
        <p:spPr>
          <a:xfrm>
            <a:off x="11355586" y="6633819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3CF28-6528-4482-2C18-40C63143DBB4}"/>
              </a:ext>
            </a:extLst>
          </p:cNvPr>
          <p:cNvSpPr txBox="1"/>
          <p:nvPr/>
        </p:nvSpPr>
        <p:spPr>
          <a:xfrm>
            <a:off x="9165290" y="4398619"/>
            <a:ext cx="1975458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100" b="1" dirty="0">
                <a:solidFill>
                  <a:schemeClr val="bg2">
                    <a:lumMod val="25000"/>
                  </a:schemeClr>
                </a:solidFill>
              </a:rPr>
              <a:t>The Key Influencer Analysis </a:t>
            </a:r>
            <a:r>
              <a:rPr lang="en-IN" sz="1100" b="1" dirty="0" err="1">
                <a:solidFill>
                  <a:schemeClr val="bg2">
                    <a:lumMod val="25000"/>
                  </a:schemeClr>
                </a:solidFill>
              </a:rPr>
              <a:t>identifiedsocial</a:t>
            </a:r>
            <a:r>
              <a:rPr lang="en-IN" sz="1100" b="1" dirty="0">
                <a:solidFill>
                  <a:schemeClr val="bg2">
                    <a:lumMod val="25000"/>
                  </a:schemeClr>
                </a:solidFill>
              </a:rPr>
              <a:t> comparison as the strongest factor contributing to higher depression levels. The correlation heatmap further highlights strong positive relationships among major mental health indicators, particularly depression and worry</a:t>
            </a:r>
          </a:p>
        </p:txBody>
      </p:sp>
    </p:spTree>
    <p:extLst>
      <p:ext uri="{BB962C8B-B14F-4D97-AF65-F5344CB8AC3E}">
        <p14:creationId xmlns:p14="http://schemas.microsoft.com/office/powerpoint/2010/main" val="1747994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D33F-9D57-90B6-87F3-7F375B92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15FA39-61A0-3406-F159-0F206ED788DB}"/>
              </a:ext>
            </a:extLst>
          </p:cNvPr>
          <p:cNvSpPr txBox="1"/>
          <p:nvPr/>
        </p:nvSpPr>
        <p:spPr>
          <a:xfrm>
            <a:off x="-892512" y="77853"/>
            <a:ext cx="63669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705C0-4828-DE17-D09E-4095C71E00C3}"/>
              </a:ext>
            </a:extLst>
          </p:cNvPr>
          <p:cNvSpPr txBox="1"/>
          <p:nvPr/>
        </p:nvSpPr>
        <p:spPr>
          <a:xfrm>
            <a:off x="566022" y="914379"/>
            <a:ext cx="11625978" cy="6463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scadia Mono SemiBold" panose="020B0609020000020004" pitchFamily="49" charset="0"/>
              </a:rPr>
              <a:t>Conclusion</a:t>
            </a:r>
            <a:endParaRPr lang="en-IN" sz="36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080085BB-A776-6525-09D4-C78469FA45E7}"/>
              </a:ext>
            </a:extLst>
          </p:cNvPr>
          <p:cNvSpPr/>
          <p:nvPr/>
        </p:nvSpPr>
        <p:spPr>
          <a:xfrm>
            <a:off x="11355586" y="6633819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  <p:pic>
        <p:nvPicPr>
          <p:cNvPr id="13" name="Picture 12" descr="nano_2073179177957687296_1.png">
            <a:extLst>
              <a:ext uri="{FF2B5EF4-FFF2-40B4-BE49-F238E27FC236}">
                <a16:creationId xmlns:a16="http://schemas.microsoft.com/office/drawing/2014/main" id="{63651489-EEA4-9B19-DB22-8E15C9456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63"/>
            <a:ext cx="12191999" cy="6849437"/>
          </a:xfrm>
          <a:prstGeom prst="rect">
            <a:avLst/>
          </a:prstGeom>
        </p:spPr>
      </p:pic>
      <p:sp>
        <p:nvSpPr>
          <p:cNvPr id="17" name="Text 27">
            <a:extLst>
              <a:ext uri="{FF2B5EF4-FFF2-40B4-BE49-F238E27FC236}">
                <a16:creationId xmlns:a16="http://schemas.microsoft.com/office/drawing/2014/main" id="{DC079DB8-A917-9D51-DBA7-46019D642304}"/>
              </a:ext>
            </a:extLst>
          </p:cNvPr>
          <p:cNvSpPr/>
          <p:nvPr/>
        </p:nvSpPr>
        <p:spPr>
          <a:xfrm>
            <a:off x="11355586" y="6563691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76496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6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2EFFC8-2FEC-B2C1-FAD7-CD87B1700CFB}"/>
              </a:ext>
            </a:extLst>
          </p:cNvPr>
          <p:cNvSpPr txBox="1"/>
          <p:nvPr/>
        </p:nvSpPr>
        <p:spPr>
          <a:xfrm>
            <a:off x="3205354" y="6438104"/>
            <a:ext cx="6366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Analysing the impact of social media usage on mental health using data analytics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AE03E8A-0D75-C888-AA2C-2E51F5CB2FBD}"/>
              </a:ext>
            </a:extLst>
          </p:cNvPr>
          <p:cNvSpPr/>
          <p:nvPr/>
        </p:nvSpPr>
        <p:spPr>
          <a:xfrm>
            <a:off x="902421" y="2055223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THANK</a:t>
            </a:r>
            <a:r>
              <a:rPr lang="en-US" sz="6600" b="1" dirty="0">
                <a:solidFill>
                  <a:srgbClr val="FFFFFF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 YOU</a:t>
            </a:r>
            <a:endParaRPr lang="en-US" sz="6600" dirty="0">
              <a:latin typeface="Arial Black" panose="020B0A040201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575C7F-C451-40FF-78E8-61C74B476E24}"/>
              </a:ext>
            </a:extLst>
          </p:cNvPr>
          <p:cNvSpPr/>
          <p:nvPr/>
        </p:nvSpPr>
        <p:spPr>
          <a:xfrm>
            <a:off x="902421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BF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2DD1311-3D13-E16A-1693-24895F0B1F07}"/>
              </a:ext>
            </a:extLst>
          </p:cNvPr>
          <p:cNvSpPr/>
          <p:nvPr/>
        </p:nvSpPr>
        <p:spPr>
          <a:xfrm>
            <a:off x="902421" y="4425696"/>
            <a:ext cx="5486400" cy="1828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3939329-52B6-6B94-98A4-2BD3CBB5E5FE}"/>
              </a:ext>
            </a:extLst>
          </p:cNvPr>
          <p:cNvSpPr/>
          <p:nvPr/>
        </p:nvSpPr>
        <p:spPr>
          <a:xfrm>
            <a:off x="902421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992B210-8B2C-14CB-D752-3B804D51B66F}"/>
              </a:ext>
            </a:extLst>
          </p:cNvPr>
          <p:cNvSpPr/>
          <p:nvPr/>
        </p:nvSpPr>
        <p:spPr>
          <a:xfrm>
            <a:off x="902421" y="4887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Deepika Mudireddy   |   Ganesh Acharya   |   Vrinda Suni</a:t>
            </a:r>
            <a:endParaRPr lang="en-US" sz="1600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3FE31C4-8411-4FE9-3991-854087357853}"/>
              </a:ext>
            </a:extLst>
          </p:cNvPr>
          <p:cNvSpPr/>
          <p:nvPr/>
        </p:nvSpPr>
        <p:spPr>
          <a:xfrm>
            <a:off x="9521037" y="-523261"/>
            <a:ext cx="3293534" cy="3046148"/>
          </a:xfrm>
          <a:prstGeom prst="flowChartConnector">
            <a:avLst/>
          </a:prstGeom>
          <a:solidFill>
            <a:schemeClr val="bg2">
              <a:lumMod val="50000"/>
              <a:alpha val="14000"/>
            </a:schemeClr>
          </a:solidFill>
          <a:ln>
            <a:solidFill>
              <a:schemeClr val="accent4">
                <a:lumMod val="40000"/>
                <a:lumOff val="60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6C46AA11-EC40-5202-4FDB-C1E3CAA81993}"/>
              </a:ext>
            </a:extLst>
          </p:cNvPr>
          <p:cNvSpPr/>
          <p:nvPr/>
        </p:nvSpPr>
        <p:spPr>
          <a:xfrm>
            <a:off x="0" y="1157624"/>
            <a:ext cx="3293534" cy="3046148"/>
          </a:xfrm>
          <a:prstGeom prst="flowChartConnector">
            <a:avLst/>
          </a:prstGeom>
          <a:solidFill>
            <a:schemeClr val="bg2">
              <a:lumMod val="50000"/>
              <a:alpha val="18000"/>
            </a:schemeClr>
          </a:solidFill>
          <a:ln>
            <a:solidFill>
              <a:schemeClr val="accent4">
                <a:lumMod val="40000"/>
                <a:lumOff val="60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D41F91FE-93AD-15E8-6B8A-EFD722CED008}"/>
              </a:ext>
            </a:extLst>
          </p:cNvPr>
          <p:cNvSpPr/>
          <p:nvPr/>
        </p:nvSpPr>
        <p:spPr>
          <a:xfrm>
            <a:off x="11355586" y="6633819"/>
            <a:ext cx="8364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kern="0" spc="180" dirty="0">
                <a:ln>
                  <a:solidFill>
                    <a:schemeClr val="bg1">
                      <a:lumMod val="65000"/>
                    </a:schemeClr>
                  </a:solidFill>
                </a:ln>
                <a:solidFill>
                  <a:srgbClr val="8A8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1125" dirty="0">
              <a:ln>
                <a:solidFill>
                  <a:schemeClr val="bg1">
                    <a:lumMod val="65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87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2A3641"/>
      </a:dk1>
      <a:lt1>
        <a:srgbClr val="FFFFFF"/>
      </a:lt1>
      <a:dk2>
        <a:srgbClr val="46464A"/>
      </a:dk2>
      <a:lt2>
        <a:srgbClr val="D1D9E1"/>
      </a:lt2>
      <a:accent1>
        <a:srgbClr val="D8D8D8"/>
      </a:accent1>
      <a:accent2>
        <a:srgbClr val="BFBFBF"/>
      </a:accent2>
      <a:accent3>
        <a:srgbClr val="A5A5A5"/>
      </a:accent3>
      <a:accent4>
        <a:srgbClr val="92A9B9"/>
      </a:accent4>
      <a:accent5>
        <a:srgbClr val="9C8265"/>
      </a:accent5>
      <a:accent6>
        <a:srgbClr val="7F7F7F"/>
      </a:accent6>
      <a:hlink>
        <a:srgbClr val="D8D8D8"/>
      </a:hlink>
      <a:folHlink>
        <a:srgbClr val="B1B5A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</TotalTime>
  <Words>1176</Words>
  <Application>Microsoft Office PowerPoint</Application>
  <PresentationFormat>Widescreen</PresentationFormat>
  <Paragraphs>187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Arial Black</vt:lpstr>
      <vt:lpstr>Arial MT</vt:lpstr>
      <vt:lpstr>Calibri</vt:lpstr>
      <vt:lpstr>Corbel Light</vt:lpstr>
      <vt:lpstr>Courier New</vt:lpstr>
      <vt:lpstr>Segoe UI Black</vt:lpstr>
      <vt:lpstr>Segoe UI Light</vt:lpstr>
      <vt:lpstr>Segoe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Vrinda Suni</dc:creator>
  <cp:lastModifiedBy>Vrinda Suni</cp:lastModifiedBy>
  <cp:revision>5</cp:revision>
  <dcterms:created xsi:type="dcterms:W3CDTF">2026-07-02T22:08:05Z</dcterms:created>
  <dcterms:modified xsi:type="dcterms:W3CDTF">2026-07-03T23:01:14Z</dcterms:modified>
</cp:coreProperties>
</file>