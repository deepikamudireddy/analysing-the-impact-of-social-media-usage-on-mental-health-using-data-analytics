
<file path=[Content_Types].xml><?xml version="1.0" encoding="utf-8"?>
<Types xmlns="http://schemas.openxmlformats.org/package/2006/content-types">
  <Default Extension="1"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73" r:id="rId6"/>
    <p:sldId id="261" r:id="rId7"/>
    <p:sldId id="262" r:id="rId8"/>
    <p:sldId id="263" r:id="rId9"/>
    <p:sldId id="264" r:id="rId10"/>
    <p:sldId id="265" r:id="rId11"/>
    <p:sldId id="266" r:id="rId12"/>
    <p:sldId id="274" r:id="rId13"/>
    <p:sldId id="27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6B5F53A-BC85-415A-953D-B1A9D603FC9E}">
          <p14:sldIdLst>
            <p14:sldId id="256"/>
            <p14:sldId id="257"/>
            <p14:sldId id="258"/>
            <p14:sldId id="259"/>
            <p14:sldId id="273"/>
            <p14:sldId id="261"/>
            <p14:sldId id="262"/>
            <p14:sldId id="263"/>
            <p14:sldId id="264"/>
            <p14:sldId id="265"/>
            <p14:sldId id="266"/>
          </p14:sldIdLst>
        </p14:section>
        <p14:section name="Untitled Section" id="{889268D5-3962-4B21-8AFA-1009FF93769B}">
          <p14:sldIdLst>
            <p14:sldId id="274"/>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32659"/>
    <a:srgbClr val="215287"/>
    <a:srgbClr val="6AB458"/>
    <a:srgbClr val="CBBC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varScale="1">
        <p:scale>
          <a:sx n="88" d="100"/>
          <a:sy n="88" d="100"/>
        </p:scale>
        <p:origin x="54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11.1"/><Relationship Id="rId2" Type="http://schemas.openxmlformats.org/officeDocument/2006/relationships/hyperlink" Target="https://www.pexels.com/video/woman-sleeping-at-work-7882753/" TargetMode="External"/><Relationship Id="rId1" Type="http://schemas.openxmlformats.org/officeDocument/2006/relationships/image" Target="../media/image10.jpg"/><Relationship Id="rId5" Type="http://schemas.openxmlformats.org/officeDocument/2006/relationships/image" Target="../media/image12.jpg"/><Relationship Id="rId4" Type="http://schemas.openxmlformats.org/officeDocument/2006/relationships/hyperlink" Target="https://www.rawpixel.com/search/clarity" TargetMode="External"/></Relationships>
</file>

<file path=ppt/diagrams/_rels/data2.xml.rels><?xml version="1.0" encoding="UTF-8" standalone="yes"?>
<Relationships xmlns="http://schemas.openxmlformats.org/package/2006/relationships"><Relationship Id="rId1" Type="http://schemas.openxmlformats.org/officeDocument/2006/relationships/image" Target="../media/image1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1"/><Relationship Id="rId2" Type="http://schemas.openxmlformats.org/officeDocument/2006/relationships/hyperlink" Target="https://www.pexels.com/video/woman-sleeping-at-work-7882753/" TargetMode="External"/><Relationship Id="rId1" Type="http://schemas.openxmlformats.org/officeDocument/2006/relationships/image" Target="../media/image10.jpg"/><Relationship Id="rId5" Type="http://schemas.openxmlformats.org/officeDocument/2006/relationships/image" Target="../media/image12.jpg"/><Relationship Id="rId4" Type="http://schemas.openxmlformats.org/officeDocument/2006/relationships/hyperlink" Target="https://www.rawpixel.com/search/clarity" TargetMode="External"/></Relationships>
</file>

<file path=ppt/diagrams/_rels/drawing2.xml.rels><?xml version="1.0" encoding="UTF-8" standalone="yes"?>
<Relationships xmlns="http://schemas.openxmlformats.org/package/2006/relationships"><Relationship Id="rId1"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A2EB78-BB24-435D-B030-5F6AE9646DB0}" type="doc">
      <dgm:prSet loTypeId="urn:microsoft.com/office/officeart/2008/layout/PictureStrips" loCatId="picture" qsTypeId="urn:microsoft.com/office/officeart/2005/8/quickstyle/simple1" qsCatId="simple" csTypeId="urn:microsoft.com/office/officeart/2005/8/colors/accent1_2" csCatId="accent1" phldr="1"/>
      <dgm:spPr/>
      <dgm:t>
        <a:bodyPr/>
        <a:lstStyle/>
        <a:p>
          <a:endParaRPr lang="en-IN"/>
        </a:p>
      </dgm:t>
    </dgm:pt>
    <dgm:pt modelId="{53A57235-6823-4869-9FF5-B7D036E9E46D}">
      <dgm:prSet phldrT="[Text]"/>
      <dgm:spPr/>
      <dgm:t>
        <a:bodyPr/>
        <a:lstStyle/>
        <a:p>
          <a:pPr algn="l">
            <a:buNone/>
          </a:pPr>
          <a:r>
            <a:rPr lang="en-IN" dirty="0"/>
            <a:t>🟦 </a:t>
          </a:r>
          <a:r>
            <a:rPr lang="en-IN" b="1" dirty="0"/>
            <a:t>Sleep Quality</a:t>
          </a:r>
          <a:endParaRPr lang="en-IN" dirty="0"/>
        </a:p>
        <a:p>
          <a:pPr algn="l">
            <a:buNone/>
          </a:pPr>
          <a:r>
            <a:rPr lang="en-IN" dirty="0">
              <a:solidFill>
                <a:schemeClr val="bg2">
                  <a:lumMod val="50000"/>
                </a:schemeClr>
              </a:solidFill>
            </a:rPr>
            <a:t>Reduced sleep quality is linked to increased mental health concerns.</a:t>
          </a:r>
        </a:p>
      </dgm:t>
    </dgm:pt>
    <dgm:pt modelId="{215E9369-DC92-4DEE-9667-C8B0CDAF7F72}" type="parTrans" cxnId="{F82542EC-B170-4E6B-A1B8-44EFCFE54FF3}">
      <dgm:prSet/>
      <dgm:spPr/>
      <dgm:t>
        <a:bodyPr/>
        <a:lstStyle/>
        <a:p>
          <a:endParaRPr lang="en-IN"/>
        </a:p>
      </dgm:t>
    </dgm:pt>
    <dgm:pt modelId="{C4E74DEE-AB42-46D9-90F4-8D47DEA533CB}" type="sibTrans" cxnId="{F82542EC-B170-4E6B-A1B8-44EFCFE54FF3}">
      <dgm:prSet/>
      <dgm:spPr/>
      <dgm:t>
        <a:bodyPr/>
        <a:lstStyle/>
        <a:p>
          <a:endParaRPr lang="en-IN"/>
        </a:p>
      </dgm:t>
    </dgm:pt>
    <dgm:pt modelId="{63566441-1139-4245-9365-F9E144BBFFB5}">
      <dgm:prSet phldrT="[Text]"/>
      <dgm:spPr/>
      <dgm:t>
        <a:bodyPr/>
        <a:lstStyle/>
        <a:p>
          <a:pPr>
            <a:buNone/>
          </a:pPr>
          <a:r>
            <a:rPr lang="en-IN" dirty="0"/>
            <a:t>🟦 </a:t>
          </a:r>
          <a:r>
            <a:rPr lang="en-IN" b="1" dirty="0"/>
            <a:t>Overall Impact</a:t>
          </a:r>
          <a:endParaRPr lang="en-IN" dirty="0"/>
        </a:p>
        <a:p>
          <a:pPr>
            <a:buNone/>
          </a:pPr>
          <a:r>
            <a:rPr lang="en-IN" dirty="0">
              <a:solidFill>
                <a:schemeClr val="bg2">
                  <a:lumMod val="50000"/>
                </a:schemeClr>
              </a:solidFill>
            </a:rPr>
            <a:t>Maintaining healthy sleep patterns contributes to better emotional well-being.</a:t>
          </a:r>
        </a:p>
      </dgm:t>
    </dgm:pt>
    <dgm:pt modelId="{F8B8592A-9DA7-4787-9B77-F865786E4665}" type="parTrans" cxnId="{84203EF0-2A05-40CE-839B-AF127286C9CC}">
      <dgm:prSet/>
      <dgm:spPr/>
      <dgm:t>
        <a:bodyPr/>
        <a:lstStyle/>
        <a:p>
          <a:endParaRPr lang="en-IN"/>
        </a:p>
      </dgm:t>
    </dgm:pt>
    <dgm:pt modelId="{085C1233-32DD-4F10-99A3-599E95AFE70F}" type="sibTrans" cxnId="{84203EF0-2A05-40CE-839B-AF127286C9CC}">
      <dgm:prSet/>
      <dgm:spPr/>
      <dgm:t>
        <a:bodyPr/>
        <a:lstStyle/>
        <a:p>
          <a:endParaRPr lang="en-IN"/>
        </a:p>
      </dgm:t>
    </dgm:pt>
    <dgm:pt modelId="{F37514F8-2832-4E9D-B4E1-46DD3B8DE230}">
      <dgm:prSet phldrT="[Text]"/>
      <dgm:spPr/>
      <dgm:t>
        <a:bodyPr/>
        <a:lstStyle/>
        <a:p>
          <a:pPr>
            <a:buNone/>
          </a:pPr>
          <a:r>
            <a:rPr lang="en-IN" dirty="0"/>
            <a:t>🟦 </a:t>
          </a:r>
          <a:r>
            <a:rPr lang="en-IN" b="1" dirty="0"/>
            <a:t>Concentration</a:t>
          </a:r>
          <a:endParaRPr lang="en-IN" dirty="0"/>
        </a:p>
        <a:p>
          <a:pPr>
            <a:buNone/>
          </a:pPr>
          <a:r>
            <a:rPr lang="en-IN" dirty="0">
              <a:solidFill>
                <a:schemeClr val="bg2">
                  <a:lumMod val="50000"/>
                </a:schemeClr>
              </a:solidFill>
            </a:rPr>
            <a:t>Sleep disturbances significantly affect focus and daily performance</a:t>
          </a:r>
          <a:r>
            <a:rPr lang="en-IN" dirty="0"/>
            <a:t>.</a:t>
          </a:r>
        </a:p>
      </dgm:t>
    </dgm:pt>
    <dgm:pt modelId="{CDA31539-4C80-4C24-9CD8-6CDB4436BC7C}" type="parTrans" cxnId="{AE5321BA-A357-4B15-983F-7B804B50EEF5}">
      <dgm:prSet/>
      <dgm:spPr/>
      <dgm:t>
        <a:bodyPr/>
        <a:lstStyle/>
        <a:p>
          <a:endParaRPr lang="en-IN"/>
        </a:p>
      </dgm:t>
    </dgm:pt>
    <dgm:pt modelId="{5391434D-3333-4535-84DB-A8E7D507CC9B}" type="sibTrans" cxnId="{AE5321BA-A357-4B15-983F-7B804B50EEF5}">
      <dgm:prSet/>
      <dgm:spPr/>
      <dgm:t>
        <a:bodyPr/>
        <a:lstStyle/>
        <a:p>
          <a:endParaRPr lang="en-IN"/>
        </a:p>
      </dgm:t>
    </dgm:pt>
    <dgm:pt modelId="{5C5B6E80-D46D-4223-B0F8-1B7A6E6B744C}" type="pres">
      <dgm:prSet presAssocID="{36A2EB78-BB24-435D-B030-5F6AE9646DB0}" presName="Name0" presStyleCnt="0">
        <dgm:presLayoutVars>
          <dgm:dir/>
          <dgm:resizeHandles val="exact"/>
        </dgm:presLayoutVars>
      </dgm:prSet>
      <dgm:spPr/>
    </dgm:pt>
    <dgm:pt modelId="{3686E399-C3B5-4CDF-A5FB-9D8E07F8EA21}" type="pres">
      <dgm:prSet presAssocID="{53A57235-6823-4869-9FF5-B7D036E9E46D}" presName="composite" presStyleCnt="0"/>
      <dgm:spPr/>
    </dgm:pt>
    <dgm:pt modelId="{64F3DACF-590B-4F8B-887B-79028C5728D9}" type="pres">
      <dgm:prSet presAssocID="{53A57235-6823-4869-9FF5-B7D036E9E46D}" presName="rect1" presStyleLbl="trAlignAcc1" presStyleIdx="0" presStyleCnt="3">
        <dgm:presLayoutVars>
          <dgm:bulletEnabled val="1"/>
        </dgm:presLayoutVars>
      </dgm:prSet>
      <dgm:spPr/>
    </dgm:pt>
    <dgm:pt modelId="{D16E428F-043D-4A1F-AD62-015C09BF7C93}" type="pres">
      <dgm:prSet presAssocID="{53A57235-6823-4869-9FF5-B7D036E9E46D}" presName="rect2" presStyleLbl="fgImgPlace1" presStyleIdx="0" presStyleCnt="3" custScaleX="101132"/>
      <dgm:spPr>
        <a:blipFill>
          <a:blip xmlns:r="http://schemas.openxmlformats.org/officeDocument/2006/relationships" r:embed="rId1">
            <a:extLst>
              <a:ext uri="{837473B0-CC2E-450A-ABE3-18F120FF3D39}">
                <a1611:picAttrSrcUrl xmlns:a1611="http://schemas.microsoft.com/office/drawing/2016/11/main" r:id="rId2"/>
              </a:ext>
            </a:extLst>
          </a:blip>
          <a:srcRect/>
          <a:stretch>
            <a:fillRect l="-83000" r="-83000"/>
          </a:stretch>
        </a:blipFill>
      </dgm:spPr>
    </dgm:pt>
    <dgm:pt modelId="{18308DBF-A6AE-4384-BD12-1FDE3E96DD1B}" type="pres">
      <dgm:prSet presAssocID="{C4E74DEE-AB42-46D9-90F4-8D47DEA533CB}" presName="sibTrans" presStyleCnt="0"/>
      <dgm:spPr/>
    </dgm:pt>
    <dgm:pt modelId="{E532520F-F638-4FDF-9804-54CDEB865D3A}" type="pres">
      <dgm:prSet presAssocID="{F37514F8-2832-4E9D-B4E1-46DD3B8DE230}" presName="composite" presStyleCnt="0"/>
      <dgm:spPr/>
    </dgm:pt>
    <dgm:pt modelId="{47000205-8B80-45FC-88EF-A3C023FB21AB}" type="pres">
      <dgm:prSet presAssocID="{F37514F8-2832-4E9D-B4E1-46DD3B8DE230}" presName="rect1" presStyleLbl="trAlignAcc1" presStyleIdx="1" presStyleCnt="3">
        <dgm:presLayoutVars>
          <dgm:bulletEnabled val="1"/>
        </dgm:presLayoutVars>
      </dgm:prSet>
      <dgm:spPr/>
    </dgm:pt>
    <dgm:pt modelId="{2C61B72A-914C-42B4-B75B-E2A326FF995C}" type="pres">
      <dgm:prSet presAssocID="{F37514F8-2832-4E9D-B4E1-46DD3B8DE230}" presName="rect2" presStyleLbl="fgImgPlace1" presStyleIdx="1" presStyleCnt="3" custLinFactNeighborX="12157" custLinFactNeighborY="-1191"/>
      <dgm:spPr>
        <a:blipFill>
          <a:blip xmlns:r="http://schemas.openxmlformats.org/officeDocument/2006/relationships" r:embed="rId3">
            <a:extLst>
              <a:ext uri="{837473B0-CC2E-450A-ABE3-18F120FF3D39}">
                <a1611:picAttrSrcUrl xmlns:a1611="http://schemas.microsoft.com/office/drawing/2016/11/main" r:id="rId4"/>
              </a:ext>
            </a:extLst>
          </a:blip>
          <a:srcRect/>
          <a:stretch>
            <a:fillRect l="-25000" r="-25000"/>
          </a:stretch>
        </a:blipFill>
      </dgm:spPr>
    </dgm:pt>
    <dgm:pt modelId="{E7B2797C-610D-4CCC-93CB-B79EF037CB4F}" type="pres">
      <dgm:prSet presAssocID="{5391434D-3333-4535-84DB-A8E7D507CC9B}" presName="sibTrans" presStyleCnt="0"/>
      <dgm:spPr/>
    </dgm:pt>
    <dgm:pt modelId="{A039ABFC-FC88-485E-ACE6-5D0448329D7A}" type="pres">
      <dgm:prSet presAssocID="{63566441-1139-4245-9365-F9E144BBFFB5}" presName="composite" presStyleCnt="0"/>
      <dgm:spPr/>
    </dgm:pt>
    <dgm:pt modelId="{376F5CB9-8B01-40C5-B32F-A314B3F02D3D}" type="pres">
      <dgm:prSet presAssocID="{63566441-1139-4245-9365-F9E144BBFFB5}" presName="rect1" presStyleLbl="trAlignAcc1" presStyleIdx="2" presStyleCnt="3">
        <dgm:presLayoutVars>
          <dgm:bulletEnabled val="1"/>
        </dgm:presLayoutVars>
      </dgm:prSet>
      <dgm:spPr/>
    </dgm:pt>
    <dgm:pt modelId="{718D9227-50E1-4177-A73D-A83BD8AE2854}" type="pres">
      <dgm:prSet presAssocID="{63566441-1139-4245-9365-F9E144BBFFB5}" presName="rect2" presStyleLbl="fgImgPlace1" presStyleIdx="2" presStyleCnt="3"/>
      <dgm:spPr>
        <a:blipFill>
          <a:blip xmlns:r="http://schemas.openxmlformats.org/officeDocument/2006/relationships" r:embed="rId5"/>
          <a:srcRect/>
          <a:stretch>
            <a:fillRect l="-63000" r="-63000"/>
          </a:stretch>
        </a:blipFill>
      </dgm:spPr>
    </dgm:pt>
  </dgm:ptLst>
  <dgm:cxnLst>
    <dgm:cxn modelId="{ACD1B972-F919-4E2E-9EC2-2E10E44A23E8}" type="presOf" srcId="{F37514F8-2832-4E9D-B4E1-46DD3B8DE230}" destId="{47000205-8B80-45FC-88EF-A3C023FB21AB}" srcOrd="0" destOrd="0" presId="urn:microsoft.com/office/officeart/2008/layout/PictureStrips"/>
    <dgm:cxn modelId="{AD13938C-AF9F-49C3-BBC1-A8DEDB27A8D3}" type="presOf" srcId="{53A57235-6823-4869-9FF5-B7D036E9E46D}" destId="{64F3DACF-590B-4F8B-887B-79028C5728D9}" srcOrd="0" destOrd="0" presId="urn:microsoft.com/office/officeart/2008/layout/PictureStrips"/>
    <dgm:cxn modelId="{806345AA-94CF-40ED-BDD3-E02D94134EFB}" type="presOf" srcId="{36A2EB78-BB24-435D-B030-5F6AE9646DB0}" destId="{5C5B6E80-D46D-4223-B0F8-1B7A6E6B744C}" srcOrd="0" destOrd="0" presId="urn:microsoft.com/office/officeart/2008/layout/PictureStrips"/>
    <dgm:cxn modelId="{AE5321BA-A357-4B15-983F-7B804B50EEF5}" srcId="{36A2EB78-BB24-435D-B030-5F6AE9646DB0}" destId="{F37514F8-2832-4E9D-B4E1-46DD3B8DE230}" srcOrd="1" destOrd="0" parTransId="{CDA31539-4C80-4C24-9CD8-6CDB4436BC7C}" sibTransId="{5391434D-3333-4535-84DB-A8E7D507CC9B}"/>
    <dgm:cxn modelId="{7E6208D8-D426-4D67-B6F3-98A9C2838425}" type="presOf" srcId="{63566441-1139-4245-9365-F9E144BBFFB5}" destId="{376F5CB9-8B01-40C5-B32F-A314B3F02D3D}" srcOrd="0" destOrd="0" presId="urn:microsoft.com/office/officeart/2008/layout/PictureStrips"/>
    <dgm:cxn modelId="{F82542EC-B170-4E6B-A1B8-44EFCFE54FF3}" srcId="{36A2EB78-BB24-435D-B030-5F6AE9646DB0}" destId="{53A57235-6823-4869-9FF5-B7D036E9E46D}" srcOrd="0" destOrd="0" parTransId="{215E9369-DC92-4DEE-9667-C8B0CDAF7F72}" sibTransId="{C4E74DEE-AB42-46D9-90F4-8D47DEA533CB}"/>
    <dgm:cxn modelId="{84203EF0-2A05-40CE-839B-AF127286C9CC}" srcId="{36A2EB78-BB24-435D-B030-5F6AE9646DB0}" destId="{63566441-1139-4245-9365-F9E144BBFFB5}" srcOrd="2" destOrd="0" parTransId="{F8B8592A-9DA7-4787-9B77-F865786E4665}" sibTransId="{085C1233-32DD-4F10-99A3-599E95AFE70F}"/>
    <dgm:cxn modelId="{7075291C-231D-4919-931A-8EA170450390}" type="presParOf" srcId="{5C5B6E80-D46D-4223-B0F8-1B7A6E6B744C}" destId="{3686E399-C3B5-4CDF-A5FB-9D8E07F8EA21}" srcOrd="0" destOrd="0" presId="urn:microsoft.com/office/officeart/2008/layout/PictureStrips"/>
    <dgm:cxn modelId="{BDF02769-5DE7-4870-884C-FC3BAEB91646}" type="presParOf" srcId="{3686E399-C3B5-4CDF-A5FB-9D8E07F8EA21}" destId="{64F3DACF-590B-4F8B-887B-79028C5728D9}" srcOrd="0" destOrd="0" presId="urn:microsoft.com/office/officeart/2008/layout/PictureStrips"/>
    <dgm:cxn modelId="{5360DDC6-2EAA-4CD2-9E38-1D46FB944006}" type="presParOf" srcId="{3686E399-C3B5-4CDF-A5FB-9D8E07F8EA21}" destId="{D16E428F-043D-4A1F-AD62-015C09BF7C93}" srcOrd="1" destOrd="0" presId="urn:microsoft.com/office/officeart/2008/layout/PictureStrips"/>
    <dgm:cxn modelId="{6C3B3F44-40BF-413E-89C2-1FC25E25F1F9}" type="presParOf" srcId="{5C5B6E80-D46D-4223-B0F8-1B7A6E6B744C}" destId="{18308DBF-A6AE-4384-BD12-1FDE3E96DD1B}" srcOrd="1" destOrd="0" presId="urn:microsoft.com/office/officeart/2008/layout/PictureStrips"/>
    <dgm:cxn modelId="{D367D310-6565-411D-B6BB-A75670B804CD}" type="presParOf" srcId="{5C5B6E80-D46D-4223-B0F8-1B7A6E6B744C}" destId="{E532520F-F638-4FDF-9804-54CDEB865D3A}" srcOrd="2" destOrd="0" presId="urn:microsoft.com/office/officeart/2008/layout/PictureStrips"/>
    <dgm:cxn modelId="{4CF903DF-1904-451F-B653-6A77724AF0CE}" type="presParOf" srcId="{E532520F-F638-4FDF-9804-54CDEB865D3A}" destId="{47000205-8B80-45FC-88EF-A3C023FB21AB}" srcOrd="0" destOrd="0" presId="urn:microsoft.com/office/officeart/2008/layout/PictureStrips"/>
    <dgm:cxn modelId="{A748BBB5-3643-4D5E-A8CD-1E5614113949}" type="presParOf" srcId="{E532520F-F638-4FDF-9804-54CDEB865D3A}" destId="{2C61B72A-914C-42B4-B75B-E2A326FF995C}" srcOrd="1" destOrd="0" presId="urn:microsoft.com/office/officeart/2008/layout/PictureStrips"/>
    <dgm:cxn modelId="{6A0050EA-FC81-4460-A3D7-F189699CC997}" type="presParOf" srcId="{5C5B6E80-D46D-4223-B0F8-1B7A6E6B744C}" destId="{E7B2797C-610D-4CCC-93CB-B79EF037CB4F}" srcOrd="3" destOrd="0" presId="urn:microsoft.com/office/officeart/2008/layout/PictureStrips"/>
    <dgm:cxn modelId="{E1526185-2549-4693-BAE8-0A357F11CBDA}" type="presParOf" srcId="{5C5B6E80-D46D-4223-B0F8-1B7A6E6B744C}" destId="{A039ABFC-FC88-485E-ACE6-5D0448329D7A}" srcOrd="4" destOrd="0" presId="urn:microsoft.com/office/officeart/2008/layout/PictureStrips"/>
    <dgm:cxn modelId="{EB0D1B22-40BE-4418-8221-BF1411A60660}" type="presParOf" srcId="{A039ABFC-FC88-485E-ACE6-5D0448329D7A}" destId="{376F5CB9-8B01-40C5-B32F-A314B3F02D3D}" srcOrd="0" destOrd="0" presId="urn:microsoft.com/office/officeart/2008/layout/PictureStrips"/>
    <dgm:cxn modelId="{658CE2AE-43F2-4255-8B8E-B0F5DC9D778D}" type="presParOf" srcId="{A039ABFC-FC88-485E-ACE6-5D0448329D7A}" destId="{718D9227-50E1-4177-A73D-A83BD8AE2854}"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955A711-CE3A-4A4A-B2A2-77EEBF22CFA8}" type="doc">
      <dgm:prSet loTypeId="urn:microsoft.com/office/officeart/2005/8/layout/vList3" loCatId="picture" qsTypeId="urn:microsoft.com/office/officeart/2005/8/quickstyle/simple1" qsCatId="simple" csTypeId="urn:microsoft.com/office/officeart/2005/8/colors/colorful4" csCatId="colorful" phldr="1"/>
      <dgm:spPr/>
      <dgm:t>
        <a:bodyPr/>
        <a:lstStyle/>
        <a:p>
          <a:endParaRPr lang="en-IN"/>
        </a:p>
      </dgm:t>
    </dgm:pt>
    <dgm:pt modelId="{BA181B35-8B75-4455-9D23-02C235C153F0}">
      <dgm:prSet phldrT="[Text]" custT="1"/>
      <dgm:spPr/>
      <dgm:t>
        <a:bodyPr/>
        <a:lstStyle/>
        <a:p>
          <a:pPr algn="l">
            <a:buNone/>
          </a:pPr>
          <a:r>
            <a:rPr lang="en-IN" sz="1100" dirty="0"/>
            <a:t> </a:t>
          </a:r>
          <a:r>
            <a:rPr lang="en-IN" sz="1600" b="1" dirty="0"/>
            <a:t>Strongest Driver : </a:t>
          </a:r>
          <a:r>
            <a:rPr lang="en-IN" sz="1100" dirty="0"/>
            <a:t>Social comparison is the strongest factor influencing depression.</a:t>
          </a:r>
        </a:p>
      </dgm:t>
    </dgm:pt>
    <dgm:pt modelId="{E8144727-0A44-4FFC-801F-9381BF923E25}" type="parTrans" cxnId="{253EEED6-DE00-49A5-948C-A3AAB83D2FE2}">
      <dgm:prSet/>
      <dgm:spPr/>
      <dgm:t>
        <a:bodyPr/>
        <a:lstStyle/>
        <a:p>
          <a:endParaRPr lang="en-IN"/>
        </a:p>
      </dgm:t>
    </dgm:pt>
    <dgm:pt modelId="{A7AF9978-93B5-440E-8234-D9BE21AC8298}" type="sibTrans" cxnId="{253EEED6-DE00-49A5-948C-A3AAB83D2FE2}">
      <dgm:prSet/>
      <dgm:spPr/>
      <dgm:t>
        <a:bodyPr/>
        <a:lstStyle/>
        <a:p>
          <a:endParaRPr lang="en-IN"/>
        </a:p>
      </dgm:t>
    </dgm:pt>
    <dgm:pt modelId="{9E451384-346F-4F20-BA79-772A682B9B48}">
      <dgm:prSet phldrT="[Text]" custT="1"/>
      <dgm:spPr/>
      <dgm:t>
        <a:bodyPr/>
        <a:lstStyle/>
        <a:p>
          <a:pPr algn="l">
            <a:buNone/>
          </a:pPr>
          <a:r>
            <a:rPr lang="en-IN" sz="1600" b="1" dirty="0"/>
            <a:t>Correlation: </a:t>
          </a:r>
          <a:r>
            <a:rPr lang="en-IN" sz="1200" dirty="0"/>
            <a:t>Depression and worry show a strong positive relationship.</a:t>
          </a:r>
        </a:p>
      </dgm:t>
    </dgm:pt>
    <dgm:pt modelId="{B95FA690-1F16-4EF1-B7C0-434EBA1B8BD7}" type="parTrans" cxnId="{9423756A-60C5-4288-9B59-CE9F4A75FBB2}">
      <dgm:prSet/>
      <dgm:spPr/>
      <dgm:t>
        <a:bodyPr/>
        <a:lstStyle/>
        <a:p>
          <a:endParaRPr lang="en-IN"/>
        </a:p>
      </dgm:t>
    </dgm:pt>
    <dgm:pt modelId="{127D6123-64F8-4A1C-BB9D-9C33CB73017C}" type="sibTrans" cxnId="{9423756A-60C5-4288-9B59-CE9F4A75FBB2}">
      <dgm:prSet/>
      <dgm:spPr/>
      <dgm:t>
        <a:bodyPr/>
        <a:lstStyle/>
        <a:p>
          <a:endParaRPr lang="en-IN"/>
        </a:p>
      </dgm:t>
    </dgm:pt>
    <dgm:pt modelId="{466A4100-EF6A-4756-B628-31C5B3F1B961}">
      <dgm:prSet phldrT="[Text]" custT="1"/>
      <dgm:spPr/>
      <dgm:t>
        <a:bodyPr/>
        <a:lstStyle/>
        <a:p>
          <a:pPr algn="l">
            <a:buNone/>
          </a:pPr>
          <a:r>
            <a:rPr lang="en-IN" sz="1300" dirty="0"/>
            <a:t> </a:t>
          </a:r>
          <a:r>
            <a:rPr lang="en-IN" sz="1600" b="1" dirty="0"/>
            <a:t>Overall Finding: </a:t>
          </a:r>
          <a:r>
            <a:rPr lang="en-IN" sz="1200" dirty="0"/>
            <a:t>Mental health indicators are closely interconnected</a:t>
          </a:r>
          <a:r>
            <a:rPr lang="en-IN" sz="1300" dirty="0"/>
            <a:t>.</a:t>
          </a:r>
        </a:p>
      </dgm:t>
    </dgm:pt>
    <dgm:pt modelId="{CD7AE29B-0CD9-4440-A56B-C1FD16524F47}" type="parTrans" cxnId="{5918B530-4229-496B-BF91-B731EE6CFA3B}">
      <dgm:prSet/>
      <dgm:spPr/>
      <dgm:t>
        <a:bodyPr/>
        <a:lstStyle/>
        <a:p>
          <a:endParaRPr lang="en-IN"/>
        </a:p>
      </dgm:t>
    </dgm:pt>
    <dgm:pt modelId="{B7FEC578-1814-43E3-AA62-F1802C9F69DA}" type="sibTrans" cxnId="{5918B530-4229-496B-BF91-B731EE6CFA3B}">
      <dgm:prSet/>
      <dgm:spPr/>
      <dgm:t>
        <a:bodyPr/>
        <a:lstStyle/>
        <a:p>
          <a:endParaRPr lang="en-IN"/>
        </a:p>
      </dgm:t>
    </dgm:pt>
    <dgm:pt modelId="{AE08DE27-2C55-4C14-8171-BD8EFC276A05}" type="pres">
      <dgm:prSet presAssocID="{3955A711-CE3A-4A4A-B2A2-77EEBF22CFA8}" presName="linearFlow" presStyleCnt="0">
        <dgm:presLayoutVars>
          <dgm:dir/>
          <dgm:resizeHandles val="exact"/>
        </dgm:presLayoutVars>
      </dgm:prSet>
      <dgm:spPr/>
    </dgm:pt>
    <dgm:pt modelId="{53052A2B-D91F-4020-8A18-255D763ECA3B}" type="pres">
      <dgm:prSet presAssocID="{BA181B35-8B75-4455-9D23-02C235C153F0}" presName="composite" presStyleCnt="0"/>
      <dgm:spPr/>
    </dgm:pt>
    <dgm:pt modelId="{0472E286-D4C7-458B-AA42-9F5E6A4B2A2D}" type="pres">
      <dgm:prSet presAssocID="{BA181B35-8B75-4455-9D23-02C235C153F0}" presName="imgShp" presStyleLbl="fgImgPlac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Bullseye with solid fill"/>
        </a:ext>
      </dgm:extLst>
    </dgm:pt>
    <dgm:pt modelId="{62A46656-3C85-4C17-B5AD-C921A32D6EEA}" type="pres">
      <dgm:prSet presAssocID="{BA181B35-8B75-4455-9D23-02C235C153F0}" presName="txShp" presStyleLbl="node1" presStyleIdx="0" presStyleCnt="3">
        <dgm:presLayoutVars>
          <dgm:bulletEnabled val="1"/>
        </dgm:presLayoutVars>
      </dgm:prSet>
      <dgm:spPr/>
    </dgm:pt>
    <dgm:pt modelId="{BBF03389-45E3-4C5B-97AB-3FFDC32BE4C4}" type="pres">
      <dgm:prSet presAssocID="{A7AF9978-93B5-440E-8234-D9BE21AC8298}" presName="spacing" presStyleCnt="0"/>
      <dgm:spPr/>
    </dgm:pt>
    <dgm:pt modelId="{6BBDCA69-92BC-4F30-A4E1-1CDEC5999644}" type="pres">
      <dgm:prSet presAssocID="{9E451384-346F-4F20-BA79-772A682B9B48}" presName="composite" presStyleCnt="0"/>
      <dgm:spPr/>
    </dgm:pt>
    <dgm:pt modelId="{0653D0E3-2EC2-4C99-8EF6-8304795CD03C}" type="pres">
      <dgm:prSet presAssocID="{9E451384-346F-4F20-BA79-772A682B9B48}" presName="imgShp" presStyleLbl="fgImgPlace1" presStyleIdx="1"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Bullseye with solid fill"/>
        </a:ext>
      </dgm:extLst>
    </dgm:pt>
    <dgm:pt modelId="{187BE32B-8F57-48BE-AFC2-56FECF88A35B}" type="pres">
      <dgm:prSet presAssocID="{9E451384-346F-4F20-BA79-772A682B9B48}" presName="txShp" presStyleLbl="node1" presStyleIdx="1" presStyleCnt="3">
        <dgm:presLayoutVars>
          <dgm:bulletEnabled val="1"/>
        </dgm:presLayoutVars>
      </dgm:prSet>
      <dgm:spPr/>
    </dgm:pt>
    <dgm:pt modelId="{20CF69A3-70B5-4E09-8584-82B7BF9DCEB4}" type="pres">
      <dgm:prSet presAssocID="{127D6123-64F8-4A1C-BB9D-9C33CB73017C}" presName="spacing" presStyleCnt="0"/>
      <dgm:spPr/>
    </dgm:pt>
    <dgm:pt modelId="{375FCB71-CFA8-417E-B0D0-9D69E5CC5287}" type="pres">
      <dgm:prSet presAssocID="{466A4100-EF6A-4756-B628-31C5B3F1B961}" presName="composite" presStyleCnt="0"/>
      <dgm:spPr/>
    </dgm:pt>
    <dgm:pt modelId="{3783DA70-D4AC-426B-9204-66809C87B635}" type="pres">
      <dgm:prSet presAssocID="{466A4100-EF6A-4756-B628-31C5B3F1B961}" presName="imgShp" presStyleLbl="fgImgPlace1" presStyleIdx="2" presStyleCnt="3"/>
      <dgm:spPr>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Bullseye with solid fill"/>
        </a:ext>
      </dgm:extLst>
    </dgm:pt>
    <dgm:pt modelId="{7929C475-32B4-4A26-9022-47DF32AB7105}" type="pres">
      <dgm:prSet presAssocID="{466A4100-EF6A-4756-B628-31C5B3F1B961}" presName="txShp" presStyleLbl="node1" presStyleIdx="2" presStyleCnt="3">
        <dgm:presLayoutVars>
          <dgm:bulletEnabled val="1"/>
        </dgm:presLayoutVars>
      </dgm:prSet>
      <dgm:spPr/>
    </dgm:pt>
  </dgm:ptLst>
  <dgm:cxnLst>
    <dgm:cxn modelId="{D3E9E01C-7704-4684-83E9-0A7E61B85F31}" type="presOf" srcId="{466A4100-EF6A-4756-B628-31C5B3F1B961}" destId="{7929C475-32B4-4A26-9022-47DF32AB7105}" srcOrd="0" destOrd="0" presId="urn:microsoft.com/office/officeart/2005/8/layout/vList3"/>
    <dgm:cxn modelId="{2F20FC2C-8E59-495E-821E-D5F8A40FD953}" type="presOf" srcId="{9E451384-346F-4F20-BA79-772A682B9B48}" destId="{187BE32B-8F57-48BE-AFC2-56FECF88A35B}" srcOrd="0" destOrd="0" presId="urn:microsoft.com/office/officeart/2005/8/layout/vList3"/>
    <dgm:cxn modelId="{5918B530-4229-496B-BF91-B731EE6CFA3B}" srcId="{3955A711-CE3A-4A4A-B2A2-77EEBF22CFA8}" destId="{466A4100-EF6A-4756-B628-31C5B3F1B961}" srcOrd="2" destOrd="0" parTransId="{CD7AE29B-0CD9-4440-A56B-C1FD16524F47}" sibTransId="{B7FEC578-1814-43E3-AA62-F1802C9F69DA}"/>
    <dgm:cxn modelId="{705C6C36-C2CA-4B69-9C84-05E3D51E9631}" type="presOf" srcId="{3955A711-CE3A-4A4A-B2A2-77EEBF22CFA8}" destId="{AE08DE27-2C55-4C14-8171-BD8EFC276A05}" srcOrd="0" destOrd="0" presId="urn:microsoft.com/office/officeart/2005/8/layout/vList3"/>
    <dgm:cxn modelId="{9423756A-60C5-4288-9B59-CE9F4A75FBB2}" srcId="{3955A711-CE3A-4A4A-B2A2-77EEBF22CFA8}" destId="{9E451384-346F-4F20-BA79-772A682B9B48}" srcOrd="1" destOrd="0" parTransId="{B95FA690-1F16-4EF1-B7C0-434EBA1B8BD7}" sibTransId="{127D6123-64F8-4A1C-BB9D-9C33CB73017C}"/>
    <dgm:cxn modelId="{1597CF87-136F-41E6-AD1D-32E16E591558}" type="presOf" srcId="{BA181B35-8B75-4455-9D23-02C235C153F0}" destId="{62A46656-3C85-4C17-B5AD-C921A32D6EEA}" srcOrd="0" destOrd="0" presId="urn:microsoft.com/office/officeart/2005/8/layout/vList3"/>
    <dgm:cxn modelId="{253EEED6-DE00-49A5-948C-A3AAB83D2FE2}" srcId="{3955A711-CE3A-4A4A-B2A2-77EEBF22CFA8}" destId="{BA181B35-8B75-4455-9D23-02C235C153F0}" srcOrd="0" destOrd="0" parTransId="{E8144727-0A44-4FFC-801F-9381BF923E25}" sibTransId="{A7AF9978-93B5-440E-8234-D9BE21AC8298}"/>
    <dgm:cxn modelId="{C082AD31-D894-454A-B018-F0370301C2C9}" type="presParOf" srcId="{AE08DE27-2C55-4C14-8171-BD8EFC276A05}" destId="{53052A2B-D91F-4020-8A18-255D763ECA3B}" srcOrd="0" destOrd="0" presId="urn:microsoft.com/office/officeart/2005/8/layout/vList3"/>
    <dgm:cxn modelId="{F68A7A15-5283-42D3-9AF3-B19073CDCFBD}" type="presParOf" srcId="{53052A2B-D91F-4020-8A18-255D763ECA3B}" destId="{0472E286-D4C7-458B-AA42-9F5E6A4B2A2D}" srcOrd="0" destOrd="0" presId="urn:microsoft.com/office/officeart/2005/8/layout/vList3"/>
    <dgm:cxn modelId="{1A96CA97-1E50-44E7-BE37-82FB43251167}" type="presParOf" srcId="{53052A2B-D91F-4020-8A18-255D763ECA3B}" destId="{62A46656-3C85-4C17-B5AD-C921A32D6EEA}" srcOrd="1" destOrd="0" presId="urn:microsoft.com/office/officeart/2005/8/layout/vList3"/>
    <dgm:cxn modelId="{F07222A1-75EF-4DFF-918E-9224D823673D}" type="presParOf" srcId="{AE08DE27-2C55-4C14-8171-BD8EFC276A05}" destId="{BBF03389-45E3-4C5B-97AB-3FFDC32BE4C4}" srcOrd="1" destOrd="0" presId="urn:microsoft.com/office/officeart/2005/8/layout/vList3"/>
    <dgm:cxn modelId="{7CC81104-E554-44B3-8887-3F538AFD20AD}" type="presParOf" srcId="{AE08DE27-2C55-4C14-8171-BD8EFC276A05}" destId="{6BBDCA69-92BC-4F30-A4E1-1CDEC5999644}" srcOrd="2" destOrd="0" presId="urn:microsoft.com/office/officeart/2005/8/layout/vList3"/>
    <dgm:cxn modelId="{1F961CF1-ED2C-4E23-97AC-5FE4A1EB577A}" type="presParOf" srcId="{6BBDCA69-92BC-4F30-A4E1-1CDEC5999644}" destId="{0653D0E3-2EC2-4C99-8EF6-8304795CD03C}" srcOrd="0" destOrd="0" presId="urn:microsoft.com/office/officeart/2005/8/layout/vList3"/>
    <dgm:cxn modelId="{581ACBF2-0FC6-46B3-B6A2-9C2188DCD1CB}" type="presParOf" srcId="{6BBDCA69-92BC-4F30-A4E1-1CDEC5999644}" destId="{187BE32B-8F57-48BE-AFC2-56FECF88A35B}" srcOrd="1" destOrd="0" presId="urn:microsoft.com/office/officeart/2005/8/layout/vList3"/>
    <dgm:cxn modelId="{2A2B96DB-5E1E-4786-8144-6FA26205FEBF}" type="presParOf" srcId="{AE08DE27-2C55-4C14-8171-BD8EFC276A05}" destId="{20CF69A3-70B5-4E09-8584-82B7BF9DCEB4}" srcOrd="3" destOrd="0" presId="urn:microsoft.com/office/officeart/2005/8/layout/vList3"/>
    <dgm:cxn modelId="{9EC6A1E0-3E78-428F-BD61-CCAA16F775AD}" type="presParOf" srcId="{AE08DE27-2C55-4C14-8171-BD8EFC276A05}" destId="{375FCB71-CFA8-417E-B0D0-9D69E5CC5287}" srcOrd="4" destOrd="0" presId="urn:microsoft.com/office/officeart/2005/8/layout/vList3"/>
    <dgm:cxn modelId="{C89A4728-90A0-4CA2-90D5-2A561E9A4F0C}" type="presParOf" srcId="{375FCB71-CFA8-417E-B0D0-9D69E5CC5287}" destId="{3783DA70-D4AC-426B-9204-66809C87B635}" srcOrd="0" destOrd="0" presId="urn:microsoft.com/office/officeart/2005/8/layout/vList3"/>
    <dgm:cxn modelId="{3E4BB7E7-B828-4E66-A1EF-96FB5B4D96EB}" type="presParOf" srcId="{375FCB71-CFA8-417E-B0D0-9D69E5CC5287}" destId="{7929C475-32B4-4A26-9022-47DF32AB7105}" srcOrd="1" destOrd="0" presId="urn:microsoft.com/office/officeart/2005/8/layout/vList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F3DACF-590B-4F8B-887B-79028C5728D9}">
      <dsp:nvSpPr>
        <dsp:cNvPr id="0" name=""/>
        <dsp:cNvSpPr/>
      </dsp:nvSpPr>
      <dsp:spPr>
        <a:xfrm>
          <a:off x="263412" y="390487"/>
          <a:ext cx="2985680" cy="933025"/>
        </a:xfrm>
        <a:prstGeom prst="rect">
          <a:avLst/>
        </a:prstGeom>
        <a:solidFill>
          <a:schemeClr val="lt1">
            <a:alpha val="4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31969" tIns="49530" rIns="49530" bIns="49530" numCol="1" spcCol="1270" anchor="ctr" anchorCtr="0">
          <a:noAutofit/>
        </a:bodyPr>
        <a:lstStyle/>
        <a:p>
          <a:pPr marL="0" lvl="0" indent="0" algn="l" defTabSz="577850">
            <a:lnSpc>
              <a:spcPct val="90000"/>
            </a:lnSpc>
            <a:spcBef>
              <a:spcPct val="0"/>
            </a:spcBef>
            <a:spcAft>
              <a:spcPct val="35000"/>
            </a:spcAft>
            <a:buNone/>
          </a:pPr>
          <a:r>
            <a:rPr lang="en-IN" sz="1300" kern="1200" dirty="0"/>
            <a:t>🟦 </a:t>
          </a:r>
          <a:r>
            <a:rPr lang="en-IN" sz="1300" b="1" kern="1200" dirty="0"/>
            <a:t>Sleep Quality</a:t>
          </a:r>
          <a:endParaRPr lang="en-IN" sz="1300" kern="1200" dirty="0"/>
        </a:p>
        <a:p>
          <a:pPr marL="0" lvl="0" indent="0" algn="l" defTabSz="577850">
            <a:lnSpc>
              <a:spcPct val="90000"/>
            </a:lnSpc>
            <a:spcBef>
              <a:spcPct val="0"/>
            </a:spcBef>
            <a:spcAft>
              <a:spcPct val="35000"/>
            </a:spcAft>
            <a:buNone/>
          </a:pPr>
          <a:r>
            <a:rPr lang="en-IN" sz="1300" kern="1200" dirty="0">
              <a:solidFill>
                <a:schemeClr val="bg2">
                  <a:lumMod val="50000"/>
                </a:schemeClr>
              </a:solidFill>
            </a:rPr>
            <a:t>Reduced sleep quality is linked to increased mental health concerns.</a:t>
          </a:r>
        </a:p>
      </dsp:txBody>
      <dsp:txXfrm>
        <a:off x="263412" y="390487"/>
        <a:ext cx="2985680" cy="933025"/>
      </dsp:txXfrm>
    </dsp:sp>
    <dsp:sp modelId="{D16E428F-043D-4A1F-AD62-015C09BF7C93}">
      <dsp:nvSpPr>
        <dsp:cNvPr id="0" name=""/>
        <dsp:cNvSpPr/>
      </dsp:nvSpPr>
      <dsp:spPr>
        <a:xfrm>
          <a:off x="135312" y="255717"/>
          <a:ext cx="660510" cy="979676"/>
        </a:xfrm>
        <a:prstGeom prst="rect">
          <a:avLst/>
        </a:prstGeom>
        <a:blipFill>
          <a:blip xmlns:r="http://schemas.openxmlformats.org/officeDocument/2006/relationships" r:embed="rId1">
            <a:extLst>
              <a:ext uri="{837473B0-CC2E-450A-ABE3-18F120FF3D39}">
                <a1611:picAttrSrcUrl xmlns:a1611="http://schemas.microsoft.com/office/drawing/2016/11/main" r:id="rId2"/>
              </a:ext>
            </a:extLst>
          </a:blip>
          <a:srcRect/>
          <a:stretch>
            <a:fillRect l="-83000" r="-8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7000205-8B80-45FC-88EF-A3C023FB21AB}">
      <dsp:nvSpPr>
        <dsp:cNvPr id="0" name=""/>
        <dsp:cNvSpPr/>
      </dsp:nvSpPr>
      <dsp:spPr>
        <a:xfrm>
          <a:off x="261564" y="1565062"/>
          <a:ext cx="2985680" cy="933025"/>
        </a:xfrm>
        <a:prstGeom prst="rect">
          <a:avLst/>
        </a:prstGeom>
        <a:solidFill>
          <a:schemeClr val="lt1">
            <a:alpha val="4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31969" tIns="49530" rIns="49530" bIns="49530" numCol="1" spcCol="1270" anchor="ctr" anchorCtr="0">
          <a:noAutofit/>
        </a:bodyPr>
        <a:lstStyle/>
        <a:p>
          <a:pPr marL="0" lvl="0" indent="0" algn="l" defTabSz="577850">
            <a:lnSpc>
              <a:spcPct val="90000"/>
            </a:lnSpc>
            <a:spcBef>
              <a:spcPct val="0"/>
            </a:spcBef>
            <a:spcAft>
              <a:spcPct val="35000"/>
            </a:spcAft>
            <a:buNone/>
          </a:pPr>
          <a:r>
            <a:rPr lang="en-IN" sz="1300" kern="1200" dirty="0"/>
            <a:t>🟦 </a:t>
          </a:r>
          <a:r>
            <a:rPr lang="en-IN" sz="1300" b="1" kern="1200" dirty="0"/>
            <a:t>Concentration</a:t>
          </a:r>
          <a:endParaRPr lang="en-IN" sz="1300" kern="1200" dirty="0"/>
        </a:p>
        <a:p>
          <a:pPr marL="0" lvl="0" indent="0" algn="l" defTabSz="577850">
            <a:lnSpc>
              <a:spcPct val="90000"/>
            </a:lnSpc>
            <a:spcBef>
              <a:spcPct val="0"/>
            </a:spcBef>
            <a:spcAft>
              <a:spcPct val="35000"/>
            </a:spcAft>
            <a:buNone/>
          </a:pPr>
          <a:r>
            <a:rPr lang="en-IN" sz="1300" kern="1200" dirty="0">
              <a:solidFill>
                <a:schemeClr val="bg2">
                  <a:lumMod val="50000"/>
                </a:schemeClr>
              </a:solidFill>
            </a:rPr>
            <a:t>Sleep disturbances significantly affect focus and daily performance</a:t>
          </a:r>
          <a:r>
            <a:rPr lang="en-IN" sz="1300" kern="1200" dirty="0"/>
            <a:t>.</a:t>
          </a:r>
        </a:p>
      </dsp:txBody>
      <dsp:txXfrm>
        <a:off x="261564" y="1565062"/>
        <a:ext cx="2985680" cy="933025"/>
      </dsp:txXfrm>
    </dsp:sp>
    <dsp:sp modelId="{2C61B72A-914C-42B4-B75B-E2A326FF995C}">
      <dsp:nvSpPr>
        <dsp:cNvPr id="0" name=""/>
        <dsp:cNvSpPr/>
      </dsp:nvSpPr>
      <dsp:spPr>
        <a:xfrm>
          <a:off x="216560" y="1418624"/>
          <a:ext cx="653117" cy="979676"/>
        </a:xfrm>
        <a:prstGeom prst="rect">
          <a:avLst/>
        </a:prstGeom>
        <a:blipFill>
          <a:blip xmlns:r="http://schemas.openxmlformats.org/officeDocument/2006/relationships" r:embed="rId3">
            <a:extLst>
              <a:ext uri="{837473B0-CC2E-450A-ABE3-18F120FF3D39}">
                <a1611:picAttrSrcUrl xmlns:a1611="http://schemas.microsoft.com/office/drawing/2016/11/main" r:id="rId4"/>
              </a:ext>
            </a:extLst>
          </a:blip>
          <a:srcRect/>
          <a:stretch>
            <a:fillRect l="-25000" r="-2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76F5CB9-8B01-40C5-B32F-A314B3F02D3D}">
      <dsp:nvSpPr>
        <dsp:cNvPr id="0" name=""/>
        <dsp:cNvSpPr/>
      </dsp:nvSpPr>
      <dsp:spPr>
        <a:xfrm>
          <a:off x="261564" y="2739637"/>
          <a:ext cx="2985680" cy="933025"/>
        </a:xfrm>
        <a:prstGeom prst="rect">
          <a:avLst/>
        </a:prstGeom>
        <a:solidFill>
          <a:schemeClr val="lt1">
            <a:alpha val="4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31969" tIns="49530" rIns="49530" bIns="49530" numCol="1" spcCol="1270" anchor="ctr" anchorCtr="0">
          <a:noAutofit/>
        </a:bodyPr>
        <a:lstStyle/>
        <a:p>
          <a:pPr marL="0" lvl="0" indent="0" algn="l" defTabSz="577850">
            <a:lnSpc>
              <a:spcPct val="90000"/>
            </a:lnSpc>
            <a:spcBef>
              <a:spcPct val="0"/>
            </a:spcBef>
            <a:spcAft>
              <a:spcPct val="35000"/>
            </a:spcAft>
            <a:buNone/>
          </a:pPr>
          <a:r>
            <a:rPr lang="en-IN" sz="1300" kern="1200" dirty="0"/>
            <a:t>🟦 </a:t>
          </a:r>
          <a:r>
            <a:rPr lang="en-IN" sz="1300" b="1" kern="1200" dirty="0"/>
            <a:t>Overall Impact</a:t>
          </a:r>
          <a:endParaRPr lang="en-IN" sz="1300" kern="1200" dirty="0"/>
        </a:p>
        <a:p>
          <a:pPr marL="0" lvl="0" indent="0" algn="l" defTabSz="577850">
            <a:lnSpc>
              <a:spcPct val="90000"/>
            </a:lnSpc>
            <a:spcBef>
              <a:spcPct val="0"/>
            </a:spcBef>
            <a:spcAft>
              <a:spcPct val="35000"/>
            </a:spcAft>
            <a:buNone/>
          </a:pPr>
          <a:r>
            <a:rPr lang="en-IN" sz="1300" kern="1200" dirty="0">
              <a:solidFill>
                <a:schemeClr val="bg2">
                  <a:lumMod val="50000"/>
                </a:schemeClr>
              </a:solidFill>
            </a:rPr>
            <a:t>Maintaining healthy sleep patterns contributes to better emotional well-being.</a:t>
          </a:r>
        </a:p>
      </dsp:txBody>
      <dsp:txXfrm>
        <a:off x="261564" y="2739637"/>
        <a:ext cx="2985680" cy="933025"/>
      </dsp:txXfrm>
    </dsp:sp>
    <dsp:sp modelId="{718D9227-50E1-4177-A73D-A83BD8AE2854}">
      <dsp:nvSpPr>
        <dsp:cNvPr id="0" name=""/>
        <dsp:cNvSpPr/>
      </dsp:nvSpPr>
      <dsp:spPr>
        <a:xfrm>
          <a:off x="137160" y="2604867"/>
          <a:ext cx="653117" cy="979676"/>
        </a:xfrm>
        <a:prstGeom prst="rect">
          <a:avLst/>
        </a:prstGeom>
        <a:blipFill>
          <a:blip xmlns:r="http://schemas.openxmlformats.org/officeDocument/2006/relationships" r:embed="rId5"/>
          <a:srcRect/>
          <a:stretch>
            <a:fillRect l="-63000" r="-6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A46656-3C85-4C17-B5AD-C921A32D6EEA}">
      <dsp:nvSpPr>
        <dsp:cNvPr id="0" name=""/>
        <dsp:cNvSpPr/>
      </dsp:nvSpPr>
      <dsp:spPr>
        <a:xfrm rot="10800000">
          <a:off x="1017409" y="176"/>
          <a:ext cx="3422599" cy="621306"/>
        </a:xfrm>
        <a:prstGeom prst="homePlat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3979" tIns="41910" rIns="78232" bIns="41910" numCol="1" spcCol="1270" anchor="ctr" anchorCtr="0">
          <a:noAutofit/>
        </a:bodyPr>
        <a:lstStyle/>
        <a:p>
          <a:pPr marL="0" lvl="0" indent="0" algn="l" defTabSz="488950">
            <a:lnSpc>
              <a:spcPct val="90000"/>
            </a:lnSpc>
            <a:spcBef>
              <a:spcPct val="0"/>
            </a:spcBef>
            <a:spcAft>
              <a:spcPct val="35000"/>
            </a:spcAft>
            <a:buNone/>
          </a:pPr>
          <a:r>
            <a:rPr lang="en-IN" sz="1100" kern="1200" dirty="0"/>
            <a:t> </a:t>
          </a:r>
          <a:r>
            <a:rPr lang="en-IN" sz="1600" b="1" kern="1200" dirty="0"/>
            <a:t>Strongest Driver : </a:t>
          </a:r>
          <a:r>
            <a:rPr lang="en-IN" sz="1100" kern="1200" dirty="0"/>
            <a:t>Social comparison is the strongest factor influencing depression.</a:t>
          </a:r>
        </a:p>
      </dsp:txBody>
      <dsp:txXfrm rot="10800000">
        <a:off x="1172735" y="176"/>
        <a:ext cx="3267273" cy="621306"/>
      </dsp:txXfrm>
    </dsp:sp>
    <dsp:sp modelId="{0472E286-D4C7-458B-AA42-9F5E6A4B2A2D}">
      <dsp:nvSpPr>
        <dsp:cNvPr id="0" name=""/>
        <dsp:cNvSpPr/>
      </dsp:nvSpPr>
      <dsp:spPr>
        <a:xfrm>
          <a:off x="706756" y="176"/>
          <a:ext cx="621306" cy="621306"/>
        </a:xfrm>
        <a:prstGeom prst="ellipse">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87BE32B-8F57-48BE-AFC2-56FECF88A35B}">
      <dsp:nvSpPr>
        <dsp:cNvPr id="0" name=""/>
        <dsp:cNvSpPr/>
      </dsp:nvSpPr>
      <dsp:spPr>
        <a:xfrm rot="10800000">
          <a:off x="1017409" y="806946"/>
          <a:ext cx="3422599" cy="621306"/>
        </a:xfrm>
        <a:prstGeom prst="homePlate">
          <a:avLst/>
        </a:prstGeom>
        <a:solidFill>
          <a:schemeClr val="accent4">
            <a:hueOff val="-5189321"/>
            <a:satOff val="-24"/>
            <a:lumOff val="-725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3979" tIns="60960" rIns="113792" bIns="60960" numCol="1" spcCol="1270" anchor="ctr" anchorCtr="0">
          <a:noAutofit/>
        </a:bodyPr>
        <a:lstStyle/>
        <a:p>
          <a:pPr marL="0" lvl="0" indent="0" algn="l" defTabSz="711200">
            <a:lnSpc>
              <a:spcPct val="90000"/>
            </a:lnSpc>
            <a:spcBef>
              <a:spcPct val="0"/>
            </a:spcBef>
            <a:spcAft>
              <a:spcPct val="35000"/>
            </a:spcAft>
            <a:buNone/>
          </a:pPr>
          <a:r>
            <a:rPr lang="en-IN" sz="1600" b="1" kern="1200" dirty="0"/>
            <a:t>Correlation: </a:t>
          </a:r>
          <a:r>
            <a:rPr lang="en-IN" sz="1200" kern="1200" dirty="0"/>
            <a:t>Depression and worry show a strong positive relationship.</a:t>
          </a:r>
        </a:p>
      </dsp:txBody>
      <dsp:txXfrm rot="10800000">
        <a:off x="1172735" y="806946"/>
        <a:ext cx="3267273" cy="621306"/>
      </dsp:txXfrm>
    </dsp:sp>
    <dsp:sp modelId="{0653D0E3-2EC2-4C99-8EF6-8304795CD03C}">
      <dsp:nvSpPr>
        <dsp:cNvPr id="0" name=""/>
        <dsp:cNvSpPr/>
      </dsp:nvSpPr>
      <dsp:spPr>
        <a:xfrm>
          <a:off x="706756" y="806946"/>
          <a:ext cx="621306" cy="621306"/>
        </a:xfrm>
        <a:prstGeom prst="ellipse">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929C475-32B4-4A26-9022-47DF32AB7105}">
      <dsp:nvSpPr>
        <dsp:cNvPr id="0" name=""/>
        <dsp:cNvSpPr/>
      </dsp:nvSpPr>
      <dsp:spPr>
        <a:xfrm rot="10800000">
          <a:off x="1017409" y="1613717"/>
          <a:ext cx="3422599" cy="621306"/>
        </a:xfrm>
        <a:prstGeom prst="homePlate">
          <a:avLst/>
        </a:prstGeom>
        <a:solidFill>
          <a:schemeClr val="accent4">
            <a:hueOff val="-10378642"/>
            <a:satOff val="-49"/>
            <a:lumOff val="-1451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3979" tIns="49530" rIns="92456" bIns="49530" numCol="1" spcCol="1270" anchor="ctr" anchorCtr="0">
          <a:noAutofit/>
        </a:bodyPr>
        <a:lstStyle/>
        <a:p>
          <a:pPr marL="0" lvl="0" indent="0" algn="l" defTabSz="577850">
            <a:lnSpc>
              <a:spcPct val="90000"/>
            </a:lnSpc>
            <a:spcBef>
              <a:spcPct val="0"/>
            </a:spcBef>
            <a:spcAft>
              <a:spcPct val="35000"/>
            </a:spcAft>
            <a:buNone/>
          </a:pPr>
          <a:r>
            <a:rPr lang="en-IN" sz="1300" kern="1200" dirty="0"/>
            <a:t> </a:t>
          </a:r>
          <a:r>
            <a:rPr lang="en-IN" sz="1600" b="1" kern="1200" dirty="0"/>
            <a:t>Overall Finding: </a:t>
          </a:r>
          <a:r>
            <a:rPr lang="en-IN" sz="1200" kern="1200" dirty="0"/>
            <a:t>Mental health indicators are closely interconnected</a:t>
          </a:r>
          <a:r>
            <a:rPr lang="en-IN" sz="1300" kern="1200" dirty="0"/>
            <a:t>.</a:t>
          </a:r>
        </a:p>
      </dsp:txBody>
      <dsp:txXfrm rot="10800000">
        <a:off x="1172735" y="1613717"/>
        <a:ext cx="3267273" cy="621306"/>
      </dsp:txXfrm>
    </dsp:sp>
    <dsp:sp modelId="{3783DA70-D4AC-426B-9204-66809C87B635}">
      <dsp:nvSpPr>
        <dsp:cNvPr id="0" name=""/>
        <dsp:cNvSpPr/>
      </dsp:nvSpPr>
      <dsp:spPr>
        <a:xfrm>
          <a:off x="706756" y="1613717"/>
          <a:ext cx="621306" cy="621306"/>
        </a:xfrm>
        <a:prstGeom prst="ellipse">
          <a:avLst/>
        </a:prstGeom>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679DB-2FBC-5096-A4FD-39D4F040D53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9D1E48F-738A-5291-9280-A29CB3D84E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12E32C1-92D0-F633-A358-A18FC13B174C}"/>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37B6AADD-9916-D67C-F0C0-D458D9C8A00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A7E6E31-8025-A4E6-A3EB-5B3E45AB6386}"/>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25015787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0D68F-F98E-F562-6CF8-FFE17889D56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BF5C1B1-30BB-FCB1-4A75-F5543C2B9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5BA48C4-E9C8-52D5-8672-EFEDDDF15656}"/>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09DA899A-9F7E-069A-DE23-41EBD53CA16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C2866A0-7C55-8401-DA5F-54F5711D06DA}"/>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3997343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D4882-CA49-804E-5105-363799A8A1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8B76315-7F77-C231-FB8F-ED20DC1A34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B2155A8-7F39-92B6-A040-8C47855CED86}"/>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3BAE564F-8405-2481-41BB-747A2F36633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F23ADC3-B055-D458-8543-C2D6EB7CEA8D}"/>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13206968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10366-CE91-CFF1-D030-C9460710227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D249A96-E2BC-F936-EECB-3B09A7DBF61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6D78FAF-B2FC-C6D3-B627-146D31F27E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DFE7B6B-5EBA-F93C-4168-E9CF46CBE4A7}"/>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6" name="Footer Placeholder 5">
            <a:extLst>
              <a:ext uri="{FF2B5EF4-FFF2-40B4-BE49-F238E27FC236}">
                <a16:creationId xmlns:a16="http://schemas.microsoft.com/office/drawing/2014/main" id="{99163D77-87B3-4DE8-3F88-21F6416E8B0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41B3DBF-7CBE-E18D-7371-BB5B3935D3BD}"/>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11694434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8BC24-CC40-75A2-0F1C-F79C3555A0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88654C0-58FB-5DFD-5204-D5CCC467BF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AB1CFC-DEF4-9477-48E5-E8A7431135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258D5DC-9B78-57B8-C3B4-928C187360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9D3EEC-2380-E294-16FF-CE1F51294B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A7336A81-4B0C-C0C9-EBA6-D963620EFA26}"/>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8" name="Footer Placeholder 7">
            <a:extLst>
              <a:ext uri="{FF2B5EF4-FFF2-40B4-BE49-F238E27FC236}">
                <a16:creationId xmlns:a16="http://schemas.microsoft.com/office/drawing/2014/main" id="{4442287B-F689-C685-97FC-292DFC5A010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DE4BEEB-2757-5852-82B3-668CC20AFEFC}"/>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10905236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70C09-B686-3548-A6CD-26A76846ED4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17032F8-CE2C-9DD2-DCEC-904BE26843A2}"/>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4" name="Footer Placeholder 3">
            <a:extLst>
              <a:ext uri="{FF2B5EF4-FFF2-40B4-BE49-F238E27FC236}">
                <a16:creationId xmlns:a16="http://schemas.microsoft.com/office/drawing/2014/main" id="{7D3F7E77-0AC6-C055-22AA-3C86E457BB2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8570A4C-6137-2EEF-9F7E-E748D6F4AC8F}"/>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15559313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ABC260-1C7A-D9DB-F054-86A4ED72E151}"/>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3" name="Footer Placeholder 2">
            <a:extLst>
              <a:ext uri="{FF2B5EF4-FFF2-40B4-BE49-F238E27FC236}">
                <a16:creationId xmlns:a16="http://schemas.microsoft.com/office/drawing/2014/main" id="{54E9A921-E936-C83B-833F-162BE1185B3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A83D894-F701-3215-0D29-DE48120E0A39}"/>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33859473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0958-9286-3F03-0EEE-2454690D6C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2E416ED-65E3-D45E-5D43-617BCBB875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3893F71-EB9B-4A49-951D-6E45D69C8A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220F17-57A1-654E-05A1-57A994C910A1}"/>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6" name="Footer Placeholder 5">
            <a:extLst>
              <a:ext uri="{FF2B5EF4-FFF2-40B4-BE49-F238E27FC236}">
                <a16:creationId xmlns:a16="http://schemas.microsoft.com/office/drawing/2014/main" id="{95CA0448-37DD-D462-43E5-789D3C0E94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0E91473-0479-1B36-27D7-1EFE86CFFF3C}"/>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4007095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5204-CE26-1B61-F557-F462661BDF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027E6AB-1453-77C2-0515-9DA27B187A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E241283-3B52-302D-BB8A-09B89F70E6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699D85-1390-F21B-ABD4-3179A144A207}"/>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6" name="Footer Placeholder 5">
            <a:extLst>
              <a:ext uri="{FF2B5EF4-FFF2-40B4-BE49-F238E27FC236}">
                <a16:creationId xmlns:a16="http://schemas.microsoft.com/office/drawing/2014/main" id="{A13DA6B5-1FA0-79B7-0A85-C4CDEC1A519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F7DCFCF-A87C-7863-46F5-87B74D2A9894}"/>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947768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41FC8-0966-3142-D8C5-A1245E65442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33E9CE-DCA0-F6E5-123A-ADCAB14B37B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BB9E1E-03F3-3862-88D7-D8B762E93AD6}"/>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053B4559-1254-6C2B-50CF-C16D84E50A4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09B6288-0B2E-7A27-DDB8-52E46D1BC7A3}"/>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1828218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6B4288-ED8D-5413-590E-6475D255501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76596E2-E4EB-932D-9726-340DF28450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89C1090-5FF7-005B-7257-E859DD2D4FA5}"/>
              </a:ext>
            </a:extLst>
          </p:cNvPr>
          <p:cNvSpPr>
            <a:spLocks noGrp="1"/>
          </p:cNvSpPr>
          <p:nvPr>
            <p:ph type="dt" sz="half" idx="10"/>
          </p:nvPr>
        </p:nvSpPr>
        <p:spPr/>
        <p:txBody>
          <a:body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75CF6222-0CB2-E310-E9FB-F657934D26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D091DBD-ED3C-840A-8BCE-EC60AE297943}"/>
              </a:ext>
            </a:extLst>
          </p:cNvPr>
          <p:cNvSpPr>
            <a:spLocks noGrp="1"/>
          </p:cNvSpPr>
          <p:nvPr>
            <p:ph type="sldNum" sz="quarter" idx="12"/>
          </p:nvPr>
        </p:nvSpPr>
        <p:spPr/>
        <p:txBody>
          <a:bodyPr/>
          <a:lstStyle/>
          <a:p>
            <a:fld id="{51F6C03C-72D2-4014-B891-0270CBA331FA}" type="slidenum">
              <a:rPr lang="en-IN" smtClean="0"/>
              <a:t>‹#›</a:t>
            </a:fld>
            <a:endParaRPr lang="en-IN"/>
          </a:p>
        </p:txBody>
      </p:sp>
    </p:spTree>
    <p:extLst>
      <p:ext uri="{BB962C8B-B14F-4D97-AF65-F5344CB8AC3E}">
        <p14:creationId xmlns:p14="http://schemas.microsoft.com/office/powerpoint/2010/main" val="40133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A9E7EB-C860-A51E-58BC-A55BA19069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C492B58-622D-7740-C680-8E9908D508E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85F14F6-ED51-8E06-08B5-1BB793CB82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166F85-681B-49B9-885D-57D1E116059F}" type="datetimeFigureOut">
              <a:rPr lang="en-IN" smtClean="0"/>
              <a:t>04-07-2026</a:t>
            </a:fld>
            <a:endParaRPr lang="en-IN"/>
          </a:p>
        </p:txBody>
      </p:sp>
      <p:sp>
        <p:nvSpPr>
          <p:cNvPr id="5" name="Footer Placeholder 4">
            <a:extLst>
              <a:ext uri="{FF2B5EF4-FFF2-40B4-BE49-F238E27FC236}">
                <a16:creationId xmlns:a16="http://schemas.microsoft.com/office/drawing/2014/main" id="{519BA02A-D9E5-63B2-8051-9B706C1F264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5E6EB9D7-4DD4-84FA-3A92-14F140B1EC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C03C-72D2-4014-B891-0270CBA331FA}" type="slidenum">
              <a:rPr lang="en-IN" smtClean="0"/>
              <a:t>‹#›</a:t>
            </a:fld>
            <a:endParaRPr lang="en-IN"/>
          </a:p>
        </p:txBody>
      </p:sp>
    </p:spTree>
    <p:extLst>
      <p:ext uri="{BB962C8B-B14F-4D97-AF65-F5344CB8AC3E}">
        <p14:creationId xmlns:p14="http://schemas.microsoft.com/office/powerpoint/2010/main" val="21151160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4.png"/><Relationship Id="rId7" Type="http://schemas.openxmlformats.org/officeDocument/2006/relationships/diagramColors" Target="../diagrams/colors2.xml"/><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lowchart: Connector 9">
            <a:extLst>
              <a:ext uri="{FF2B5EF4-FFF2-40B4-BE49-F238E27FC236}">
                <a16:creationId xmlns:a16="http://schemas.microsoft.com/office/drawing/2014/main" id="{A45AD622-100B-CEEF-243C-DD82A471A471}"/>
              </a:ext>
            </a:extLst>
          </p:cNvPr>
          <p:cNvSpPr/>
          <p:nvPr/>
        </p:nvSpPr>
        <p:spPr>
          <a:xfrm>
            <a:off x="0" y="2761986"/>
            <a:ext cx="3293534" cy="3046148"/>
          </a:xfrm>
          <a:prstGeom prst="flowChartConnector">
            <a:avLst/>
          </a:prstGeom>
          <a:solidFill>
            <a:schemeClr val="accent4">
              <a:lumMod val="40000"/>
              <a:lumOff val="60000"/>
              <a:alpha val="59000"/>
            </a:schemeClr>
          </a:solidFill>
          <a:ln>
            <a:solidFill>
              <a:schemeClr val="accent4">
                <a:lumMod val="40000"/>
                <a:lumOff val="60000"/>
                <a:alpha val="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itle 8">
            <a:extLst>
              <a:ext uri="{FF2B5EF4-FFF2-40B4-BE49-F238E27FC236}">
                <a16:creationId xmlns:a16="http://schemas.microsoft.com/office/drawing/2014/main" id="{FF78604F-2C50-4589-0B9B-70F35EAD2DCA}"/>
              </a:ext>
            </a:extLst>
          </p:cNvPr>
          <p:cNvSpPr txBox="1">
            <a:spLocks/>
          </p:cNvSpPr>
          <p:nvPr/>
        </p:nvSpPr>
        <p:spPr>
          <a:xfrm>
            <a:off x="573933" y="1681512"/>
            <a:ext cx="10094068" cy="1920526"/>
          </a:xfrm>
          <a:prstGeom prst="rect">
            <a:avLst/>
          </a:prstGeom>
          <a:noFill/>
        </p:spPr>
        <p:txBody>
          <a:bodyPr vert="horz" wrap="square" lIns="91440" tIns="45720" rIns="91440" bIns="45720" rtlCol="0" anchor="b">
            <a:sp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IN" sz="4400" b="1" dirty="0">
                <a:solidFill>
                  <a:srgbClr val="215287"/>
                </a:solidFill>
                <a:latin typeface="Segoe UI Black" panose="020B0A02040204020203" pitchFamily="34" charset="0"/>
                <a:ea typeface="Segoe UI Black" panose="020B0A02040204020203" pitchFamily="34" charset="0"/>
                <a:cs typeface="Segoe UI Light" panose="020B0502040204020203" pitchFamily="34" charset="0"/>
              </a:rPr>
              <a:t>Analysing the impact of social media usage on mental health using data analytics</a:t>
            </a:r>
          </a:p>
        </p:txBody>
      </p:sp>
      <p:sp>
        <p:nvSpPr>
          <p:cNvPr id="15" name="Flowchart: Connector 14">
            <a:extLst>
              <a:ext uri="{FF2B5EF4-FFF2-40B4-BE49-F238E27FC236}">
                <a16:creationId xmlns:a16="http://schemas.microsoft.com/office/drawing/2014/main" id="{D0280EB2-4C4D-A1F1-BB30-404A470510C8}"/>
              </a:ext>
            </a:extLst>
          </p:cNvPr>
          <p:cNvSpPr/>
          <p:nvPr/>
        </p:nvSpPr>
        <p:spPr>
          <a:xfrm>
            <a:off x="9521037" y="-523261"/>
            <a:ext cx="3293534" cy="3046148"/>
          </a:xfrm>
          <a:prstGeom prst="flowChartConnector">
            <a:avLst/>
          </a:prstGeom>
          <a:solidFill>
            <a:schemeClr val="accent4">
              <a:lumMod val="40000"/>
              <a:lumOff val="60000"/>
              <a:alpha val="50000"/>
            </a:schemeClr>
          </a:solidFill>
          <a:ln>
            <a:solidFill>
              <a:schemeClr val="accent4">
                <a:lumMod val="40000"/>
                <a:lumOff val="60000"/>
                <a:alpha val="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id="{8901638F-6425-9890-6A3F-F87D20C11007}"/>
              </a:ext>
            </a:extLst>
          </p:cNvPr>
          <p:cNvSpPr txBox="1"/>
          <p:nvPr/>
        </p:nvSpPr>
        <p:spPr>
          <a:xfrm>
            <a:off x="573932" y="3715865"/>
            <a:ext cx="8570068" cy="569195"/>
          </a:xfrm>
          <a:prstGeom prst="rect">
            <a:avLst/>
          </a:prstGeom>
          <a:noFill/>
        </p:spPr>
        <p:txBody>
          <a:bodyPr wrap="square">
            <a:spAutoFit/>
          </a:bodyPr>
          <a:lstStyle/>
          <a:p>
            <a:pPr>
              <a:lnSpc>
                <a:spcPct val="200000"/>
              </a:lnSpc>
            </a:pPr>
            <a:r>
              <a:rPr lang="en-IN" sz="1800" b="1" dirty="0">
                <a:ln>
                  <a:solidFill>
                    <a:schemeClr val="bg2">
                      <a:lumMod val="50000"/>
                    </a:schemeClr>
                  </a:solidFill>
                </a:ln>
                <a:solidFill>
                  <a:schemeClr val="bg1">
                    <a:lumMod val="50000"/>
                  </a:schemeClr>
                </a:solidFill>
                <a:latin typeface="Segoe UI Light" panose="020B0502040204020203" pitchFamily="34" charset="0"/>
                <a:cs typeface="Segoe UI Light" panose="020B0502040204020203" pitchFamily="34" charset="0"/>
              </a:rPr>
              <a:t>A data analytics study using survey-based behavioural</a:t>
            </a:r>
            <a:r>
              <a:rPr lang="en-IN" b="1" dirty="0">
                <a:ln>
                  <a:solidFill>
                    <a:schemeClr val="bg2">
                      <a:lumMod val="50000"/>
                    </a:schemeClr>
                  </a:solidFill>
                </a:ln>
                <a:solidFill>
                  <a:schemeClr val="bg1">
                    <a:lumMod val="50000"/>
                  </a:schemeClr>
                </a:solidFill>
                <a:latin typeface="Segoe UI Light" panose="020B0502040204020203" pitchFamily="34" charset="0"/>
                <a:cs typeface="Segoe UI Light" panose="020B0502040204020203" pitchFamily="34" charset="0"/>
              </a:rPr>
              <a:t> and well-being indicators</a:t>
            </a:r>
            <a:endParaRPr lang="en-IN" dirty="0">
              <a:ln>
                <a:solidFill>
                  <a:schemeClr val="bg2">
                    <a:lumMod val="50000"/>
                  </a:schemeClr>
                </a:solidFill>
              </a:ln>
            </a:endParaRPr>
          </a:p>
        </p:txBody>
      </p:sp>
      <p:sp>
        <p:nvSpPr>
          <p:cNvPr id="25" name="Rectangle: Rounded Corners 24">
            <a:extLst>
              <a:ext uri="{FF2B5EF4-FFF2-40B4-BE49-F238E27FC236}">
                <a16:creationId xmlns:a16="http://schemas.microsoft.com/office/drawing/2014/main" id="{9BA29D5E-152B-8762-F2D8-8C435A9A9C11}"/>
              </a:ext>
            </a:extLst>
          </p:cNvPr>
          <p:cNvSpPr/>
          <p:nvPr/>
        </p:nvSpPr>
        <p:spPr>
          <a:xfrm>
            <a:off x="690664" y="4570356"/>
            <a:ext cx="7626485" cy="317494"/>
          </a:xfrm>
          <a:prstGeom prst="roundRect">
            <a:avLst/>
          </a:prstGeom>
          <a:solidFill>
            <a:schemeClr val="bg2">
              <a:lumMod val="7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b="1" dirty="0">
              <a:solidFill>
                <a:schemeClr val="bg1">
                  <a:lumMod val="50000"/>
                </a:schemeClr>
              </a:solidFill>
              <a:latin typeface="Segoe UI Light" panose="020B0502040204020203" pitchFamily="34" charset="0"/>
              <a:cs typeface="Segoe UI Light" panose="020B0502040204020203" pitchFamily="34" charset="0"/>
            </a:endParaRPr>
          </a:p>
          <a:p>
            <a:pPr algn="ctr"/>
            <a:r>
              <a:rPr lang="en-IN" b="1" dirty="0">
                <a:solidFill>
                  <a:schemeClr val="bg2">
                    <a:lumMod val="25000"/>
                  </a:schemeClr>
                </a:solidFill>
                <a:latin typeface="Segoe UI Light" panose="020B0502040204020203" pitchFamily="34" charset="0"/>
                <a:cs typeface="Segoe UI Light" panose="020B0502040204020203" pitchFamily="34" charset="0"/>
              </a:rPr>
              <a:t>Beyond screen time : understanding behavioural drivers of mental well-being</a:t>
            </a:r>
            <a:endParaRPr lang="en-IN" dirty="0">
              <a:solidFill>
                <a:schemeClr val="bg2">
                  <a:lumMod val="25000"/>
                </a:schemeClr>
              </a:solidFill>
            </a:endParaRPr>
          </a:p>
          <a:p>
            <a:pPr algn="ctr"/>
            <a:endParaRPr lang="en-IN" dirty="0"/>
          </a:p>
        </p:txBody>
      </p:sp>
      <p:cxnSp>
        <p:nvCxnSpPr>
          <p:cNvPr id="27" name="Straight Connector 26">
            <a:extLst>
              <a:ext uri="{FF2B5EF4-FFF2-40B4-BE49-F238E27FC236}">
                <a16:creationId xmlns:a16="http://schemas.microsoft.com/office/drawing/2014/main" id="{1222ACDA-EC4C-E79D-3CC7-CCF17C7F1DB1}"/>
              </a:ext>
            </a:extLst>
          </p:cNvPr>
          <p:cNvCxnSpPr>
            <a:cxnSpLocks/>
          </p:cNvCxnSpPr>
          <p:nvPr/>
        </p:nvCxnSpPr>
        <p:spPr>
          <a:xfrm>
            <a:off x="447472" y="6284067"/>
            <a:ext cx="11089532" cy="0"/>
          </a:xfrm>
          <a:prstGeom prst="line">
            <a:avLst/>
          </a:prstGeom>
          <a:ln>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8924A2EB-6670-AC26-1736-0A79CB0D9C63}"/>
              </a:ext>
            </a:extLst>
          </p:cNvPr>
          <p:cNvSpPr txBox="1"/>
          <p:nvPr/>
        </p:nvSpPr>
        <p:spPr>
          <a:xfrm>
            <a:off x="352013" y="6345972"/>
            <a:ext cx="7642098" cy="307777"/>
          </a:xfrm>
          <a:prstGeom prst="rect">
            <a:avLst/>
          </a:prstGeom>
          <a:noFill/>
        </p:spPr>
        <p:txBody>
          <a:bodyPr wrap="square">
            <a:spAutoFit/>
          </a:bodyPr>
          <a:lstStyle/>
          <a:p>
            <a:r>
              <a:rPr lang="en-IN" sz="1400" dirty="0">
                <a:solidFill>
                  <a:schemeClr val="tx1">
                    <a:lumMod val="85000"/>
                    <a:lumOff val="15000"/>
                  </a:schemeClr>
                </a:solidFill>
                <a:latin typeface="Segoe UI Semilight" panose="020B0402040204020203" pitchFamily="34" charset="0"/>
                <a:cs typeface="Segoe UI Semilight" panose="020B0402040204020203" pitchFamily="34" charset="0"/>
              </a:rPr>
              <a:t>Research Team </a:t>
            </a:r>
            <a:r>
              <a:rPr lang="en-US" sz="1400" b="1" dirty="0">
                <a:solidFill>
                  <a:schemeClr val="tx1">
                    <a:lumMod val="85000"/>
                    <a:lumOff val="15000"/>
                  </a:schemeClr>
                </a:solidFill>
                <a:latin typeface="Segoe UI Semilight" panose="020B0402040204020203" pitchFamily="34" charset="0"/>
                <a:cs typeface="Segoe UI Semilight" panose="020B0402040204020203" pitchFamily="34" charset="0"/>
              </a:rPr>
              <a:t>:</a:t>
            </a:r>
            <a:r>
              <a:rPr lang="en-US" sz="1400" dirty="0">
                <a:solidFill>
                  <a:schemeClr val="tx1">
                    <a:lumMod val="85000"/>
                    <a:lumOff val="15000"/>
                  </a:schemeClr>
                </a:solidFill>
                <a:latin typeface="Segoe UI Semilight" panose="020B0402040204020203" pitchFamily="34" charset="0"/>
                <a:cs typeface="Segoe UI Semilight" panose="020B0402040204020203" pitchFamily="34" charset="0"/>
              </a:rPr>
              <a:t> Deepika Mudireddy  |  Srividhya  |  Ganesh Acharya  |  Vrinda Suni</a:t>
            </a:r>
            <a:endParaRPr lang="en-IN" sz="1400"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
        <p:nvSpPr>
          <p:cNvPr id="33" name="TextBox 32">
            <a:extLst>
              <a:ext uri="{FF2B5EF4-FFF2-40B4-BE49-F238E27FC236}">
                <a16:creationId xmlns:a16="http://schemas.microsoft.com/office/drawing/2014/main" id="{F0291BE8-AF4D-37B4-0E2A-15B0E6573158}"/>
              </a:ext>
            </a:extLst>
          </p:cNvPr>
          <p:cNvSpPr txBox="1"/>
          <p:nvPr/>
        </p:nvSpPr>
        <p:spPr>
          <a:xfrm>
            <a:off x="10419224" y="35677"/>
            <a:ext cx="1772776" cy="646331"/>
          </a:xfrm>
          <a:prstGeom prst="rect">
            <a:avLst/>
          </a:prstGeom>
          <a:noFill/>
        </p:spPr>
        <p:txBody>
          <a:bodyPr wrap="square" rtlCol="0">
            <a:spAutoFit/>
          </a:bodyPr>
          <a:lstStyle/>
          <a:p>
            <a:r>
              <a:rPr lang="en-IN" sz="1200" dirty="0">
                <a:solidFill>
                  <a:schemeClr val="bg2">
                    <a:lumMod val="25000"/>
                  </a:schemeClr>
                </a:solidFill>
                <a:latin typeface="Corbel Light" panose="020B0303020204020204" pitchFamily="34" charset="0"/>
                <a:cs typeface="Segoe UI Light" panose="020B0502040204020203" pitchFamily="34" charset="0"/>
              </a:rPr>
              <a:t>The University of Europe for Applied Sciences (UE)</a:t>
            </a:r>
          </a:p>
          <a:p>
            <a:r>
              <a:rPr lang="en-IN" sz="1200" dirty="0">
                <a:solidFill>
                  <a:schemeClr val="bg2">
                    <a:lumMod val="25000"/>
                  </a:schemeClr>
                </a:solidFill>
                <a:latin typeface="Corbel Light" panose="020B0303020204020204" pitchFamily="34" charset="0"/>
                <a:cs typeface="Segoe UI Light" panose="020B0502040204020203" pitchFamily="34" charset="0"/>
              </a:rPr>
              <a:t> Potsdam campus</a:t>
            </a:r>
          </a:p>
        </p:txBody>
      </p:sp>
      <p:sp>
        <p:nvSpPr>
          <p:cNvPr id="35" name="TextBox 34">
            <a:extLst>
              <a:ext uri="{FF2B5EF4-FFF2-40B4-BE49-F238E27FC236}">
                <a16:creationId xmlns:a16="http://schemas.microsoft.com/office/drawing/2014/main" id="{137023F6-F6FC-8C45-D108-62542950C209}"/>
              </a:ext>
            </a:extLst>
          </p:cNvPr>
          <p:cNvSpPr txBox="1"/>
          <p:nvPr/>
        </p:nvSpPr>
        <p:spPr>
          <a:xfrm>
            <a:off x="573932" y="108718"/>
            <a:ext cx="6096000" cy="307777"/>
          </a:xfrm>
          <a:prstGeom prst="rect">
            <a:avLst/>
          </a:prstGeom>
          <a:noFill/>
        </p:spPr>
        <p:txBody>
          <a:bodyPr wrap="square">
            <a:spAutoFit/>
          </a:bodyPr>
          <a:lstStyle/>
          <a:p>
            <a:r>
              <a:rPr lang="en-IN" sz="1400" dirty="0">
                <a:solidFill>
                  <a:schemeClr val="bg2">
                    <a:lumMod val="25000"/>
                  </a:schemeClr>
                </a:solidFill>
                <a:latin typeface="Corbel Light" panose="020B0303020204020204" pitchFamily="34" charset="0"/>
                <a:cs typeface="Arial" panose="020B0604020202020204" pitchFamily="34" charset="0"/>
              </a:rPr>
              <a:t>Data Analytics</a:t>
            </a:r>
            <a:r>
              <a:rPr lang="en-IN" sz="1400" dirty="0">
                <a:solidFill>
                  <a:schemeClr val="bg2">
                    <a:lumMod val="25000"/>
                  </a:schemeClr>
                </a:solidFill>
                <a:latin typeface="Corbel Light" panose="020B0303020204020204" pitchFamily="34" charset="0"/>
                <a:cs typeface="Segoe UI Light" panose="020B0502040204020203" pitchFamily="34" charset="0"/>
              </a:rPr>
              <a:t> 60 - Final Project Presentation</a:t>
            </a:r>
          </a:p>
        </p:txBody>
      </p:sp>
    </p:spTree>
    <p:extLst>
      <p:ext uri="{BB962C8B-B14F-4D97-AF65-F5344CB8AC3E}">
        <p14:creationId xmlns:p14="http://schemas.microsoft.com/office/powerpoint/2010/main" val="1197838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592CED-CD0E-2FDF-86B2-5877870DCD5F}"/>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T</a:t>
            </a:r>
            <a:r>
              <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EAM</a:t>
            </a:r>
          </a:p>
        </p:txBody>
      </p:sp>
      <p:sp>
        <p:nvSpPr>
          <p:cNvPr id="5" name="TextBox 4">
            <a:extLst>
              <a:ext uri="{FF2B5EF4-FFF2-40B4-BE49-F238E27FC236}">
                <a16:creationId xmlns:a16="http://schemas.microsoft.com/office/drawing/2014/main" id="{0B5D3D88-D147-D4FD-03B8-F25E0971F38B}"/>
              </a:ext>
            </a:extLst>
          </p:cNvPr>
          <p:cNvSpPr txBox="1"/>
          <p:nvPr/>
        </p:nvSpPr>
        <p:spPr>
          <a:xfrm>
            <a:off x="566021" y="1468348"/>
            <a:ext cx="10105221" cy="646331"/>
          </a:xfrm>
          <a:prstGeom prst="rect">
            <a:avLst/>
          </a:prstGeom>
          <a:noFill/>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Team Roles and Project Contributions</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DEB3136A-82D9-7F02-14D2-F51206E2220E}"/>
              </a:ext>
            </a:extLst>
          </p:cNvPr>
          <p:cNvSpPr txBox="1"/>
          <p:nvPr/>
        </p:nvSpPr>
        <p:spPr>
          <a:xfrm>
            <a:off x="566021" y="2141802"/>
            <a:ext cx="10873706" cy="338554"/>
          </a:xfrm>
          <a:prstGeom prst="rect">
            <a:avLst/>
          </a:prstGeom>
          <a:noFill/>
        </p:spPr>
        <p:txBody>
          <a:bodyPr wrap="square">
            <a:spAutoFit/>
          </a:bodyPr>
          <a:lstStyle/>
          <a:p>
            <a:r>
              <a:rPr lang="en-US"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rPr>
              <a:t>A clear division of responsibilities supports data handling ,analysis, interpretation and delivery</a:t>
            </a:r>
            <a:endParaRPr lang="en-IN"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endParaRPr>
          </a:p>
        </p:txBody>
      </p:sp>
      <p:sp>
        <p:nvSpPr>
          <p:cNvPr id="8" name="Rectangle: Rounded Corners 7">
            <a:extLst>
              <a:ext uri="{FF2B5EF4-FFF2-40B4-BE49-F238E27FC236}">
                <a16:creationId xmlns:a16="http://schemas.microsoft.com/office/drawing/2014/main" id="{011D1712-568E-F64F-8800-36E9D1CDB215}"/>
              </a:ext>
            </a:extLst>
          </p:cNvPr>
          <p:cNvSpPr/>
          <p:nvPr/>
        </p:nvSpPr>
        <p:spPr>
          <a:xfrm>
            <a:off x="626431" y="2928026"/>
            <a:ext cx="2383276" cy="3531140"/>
          </a:xfrm>
          <a:prstGeom prst="round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b="1" dirty="0">
              <a:solidFill>
                <a:srgbClr val="002060"/>
              </a:solidFill>
              <a:cs typeface="Segoe UI Semilight" panose="020B0402040204020203" pitchFamily="34" charset="0"/>
            </a:endParaRPr>
          </a:p>
          <a:p>
            <a:r>
              <a:rPr lang="en-IN" b="1" dirty="0">
                <a:solidFill>
                  <a:srgbClr val="002060"/>
                </a:solidFill>
                <a:cs typeface="Segoe UI Semilight" panose="020B0402040204020203" pitchFamily="34" charset="0"/>
              </a:rPr>
              <a:t>Vrinda Suni</a:t>
            </a:r>
          </a:p>
          <a:p>
            <a:r>
              <a:rPr lang="en-IN" sz="1400" b="1" dirty="0">
                <a:solidFill>
                  <a:schemeClr val="bg2">
                    <a:lumMod val="50000"/>
                  </a:schemeClr>
                </a:solidFill>
                <a:cs typeface="Segoe UI Semilight" panose="020B0402040204020203" pitchFamily="34" charset="0"/>
              </a:rPr>
              <a:t>Role: Team Lead, Presentation &amp; Project Coordination</a:t>
            </a:r>
          </a:p>
          <a:p>
            <a:endParaRPr lang="en-IN" sz="1000" b="1" dirty="0">
              <a:solidFill>
                <a:schemeClr val="bg2">
                  <a:lumMod val="50000"/>
                </a:schemeClr>
              </a:solidFill>
              <a:cs typeface="Segoe UI Semilight" panose="020B0402040204020203" pitchFamily="34" charset="0"/>
            </a:endParaRPr>
          </a:p>
          <a:p>
            <a:pPr algn="just"/>
            <a:r>
              <a:rPr lang="en-IN" sz="1400" dirty="0">
                <a:solidFill>
                  <a:schemeClr val="bg2">
                    <a:lumMod val="25000"/>
                  </a:schemeClr>
                </a:solidFill>
                <a:cs typeface="Segoe UI Semilight" panose="020B0402040204020203" pitchFamily="34" charset="0"/>
              </a:rPr>
              <a:t>Coordinated overall project planning and execution Designed and the presentation slides Managed GitHub repository and final submission process  </a:t>
            </a:r>
          </a:p>
        </p:txBody>
      </p:sp>
      <p:sp>
        <p:nvSpPr>
          <p:cNvPr id="10" name="Flowchart: Connector 9">
            <a:extLst>
              <a:ext uri="{FF2B5EF4-FFF2-40B4-BE49-F238E27FC236}">
                <a16:creationId xmlns:a16="http://schemas.microsoft.com/office/drawing/2014/main" id="{CDCD7DE7-2FD4-ECCC-46F9-51E33BECFBC0}"/>
              </a:ext>
            </a:extLst>
          </p:cNvPr>
          <p:cNvSpPr/>
          <p:nvPr/>
        </p:nvSpPr>
        <p:spPr>
          <a:xfrm>
            <a:off x="1345751" y="2547026"/>
            <a:ext cx="838200" cy="787400"/>
          </a:xfrm>
          <a:prstGeom prst="flowChartConnector">
            <a:avLst/>
          </a:prstGeom>
          <a:ln>
            <a:solidFill>
              <a:schemeClr val="accent4">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2" name="Flowchart: Connector 11">
            <a:extLst>
              <a:ext uri="{FF2B5EF4-FFF2-40B4-BE49-F238E27FC236}">
                <a16:creationId xmlns:a16="http://schemas.microsoft.com/office/drawing/2014/main" id="{65273389-0F80-1450-05F5-8BDA464A8B2A}"/>
              </a:ext>
            </a:extLst>
          </p:cNvPr>
          <p:cNvSpPr/>
          <p:nvPr/>
        </p:nvSpPr>
        <p:spPr>
          <a:xfrm>
            <a:off x="1400784" y="2591476"/>
            <a:ext cx="715433" cy="673100"/>
          </a:xfrm>
          <a:prstGeom prst="flowChartConnector">
            <a:avLst/>
          </a:prstGeom>
          <a:solidFill>
            <a:schemeClr val="bg1"/>
          </a:solidFill>
          <a:ln w="28575">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lumMod val="85000"/>
                  <a:lumOff val="15000"/>
                </a:schemeClr>
              </a:solidFill>
            </a:endParaRPr>
          </a:p>
        </p:txBody>
      </p:sp>
      <p:sp>
        <p:nvSpPr>
          <p:cNvPr id="22" name="Rectangle: Rounded Corners 21">
            <a:extLst>
              <a:ext uri="{FF2B5EF4-FFF2-40B4-BE49-F238E27FC236}">
                <a16:creationId xmlns:a16="http://schemas.microsoft.com/office/drawing/2014/main" id="{A690A4C8-1B4E-267F-10D4-01E349C55041}"/>
              </a:ext>
            </a:extLst>
          </p:cNvPr>
          <p:cNvSpPr/>
          <p:nvPr/>
        </p:nvSpPr>
        <p:spPr>
          <a:xfrm>
            <a:off x="3469532" y="2928026"/>
            <a:ext cx="2383276" cy="3531140"/>
          </a:xfrm>
          <a:prstGeom prst="round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sz="2000" b="1" dirty="0">
              <a:solidFill>
                <a:schemeClr val="tx1">
                  <a:lumMod val="95000"/>
                  <a:lumOff val="5000"/>
                </a:schemeClr>
              </a:solidFill>
              <a:cs typeface="Segoe UI Semilight" panose="020B0402040204020203" pitchFamily="34" charset="0"/>
            </a:endParaRPr>
          </a:p>
          <a:p>
            <a:r>
              <a:rPr lang="en-IN" sz="2000" b="1" dirty="0">
                <a:solidFill>
                  <a:srgbClr val="002060"/>
                </a:solidFill>
                <a:cs typeface="Segoe UI Semilight" panose="020B0402040204020203" pitchFamily="34" charset="0"/>
              </a:rPr>
              <a:t>Ganesh</a:t>
            </a:r>
            <a:endParaRPr lang="en-IN" sz="1400" b="1" dirty="0">
              <a:solidFill>
                <a:srgbClr val="002060"/>
              </a:solidFill>
              <a:cs typeface="Segoe UI Semilight" panose="020B0402040204020203" pitchFamily="34" charset="0"/>
            </a:endParaRPr>
          </a:p>
          <a:p>
            <a:r>
              <a:rPr lang="en-IN" sz="1400" b="1" dirty="0">
                <a:solidFill>
                  <a:schemeClr val="bg2">
                    <a:lumMod val="50000"/>
                  </a:schemeClr>
                </a:solidFill>
                <a:cs typeface="Segoe UI Semilight" panose="020B0402040204020203" pitchFamily="34" charset="0"/>
              </a:rPr>
              <a:t>Role: Data Cleaning &amp; Preprocessing</a:t>
            </a:r>
          </a:p>
          <a:p>
            <a:endParaRPr lang="en-IN" sz="1400" b="1" dirty="0">
              <a:solidFill>
                <a:schemeClr val="bg2">
                  <a:lumMod val="50000"/>
                </a:schemeClr>
              </a:solidFill>
              <a:cs typeface="Segoe UI Semilight" panose="020B0402040204020203" pitchFamily="34" charset="0"/>
            </a:endParaRPr>
          </a:p>
          <a:p>
            <a:pPr algn="just"/>
            <a:r>
              <a:rPr lang="en-IN" sz="1400" dirty="0">
                <a:solidFill>
                  <a:schemeClr val="bg2">
                    <a:lumMod val="25000"/>
                  </a:schemeClr>
                </a:solidFill>
                <a:cs typeface="Segoe UI Semilight" panose="020B0402040204020203" pitchFamily="34" charset="0"/>
              </a:rPr>
              <a:t>Performed data cleaning by handling missing and duplicate values Standardized dataset formats for uniform analysis Prepared refined data for statistical evaluation</a:t>
            </a:r>
          </a:p>
        </p:txBody>
      </p:sp>
      <p:pic>
        <p:nvPicPr>
          <p:cNvPr id="24" name="Graphic 23" descr="Classroom with solid fill">
            <a:extLst>
              <a:ext uri="{FF2B5EF4-FFF2-40B4-BE49-F238E27FC236}">
                <a16:creationId xmlns:a16="http://schemas.microsoft.com/office/drawing/2014/main" id="{D3398AE2-D0D6-E0A5-D9BF-7F853E4E786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314015" y="2652805"/>
            <a:ext cx="514350" cy="514350"/>
          </a:xfrm>
          <a:prstGeom prst="rect">
            <a:avLst/>
          </a:prstGeom>
        </p:spPr>
      </p:pic>
      <p:sp>
        <p:nvSpPr>
          <p:cNvPr id="26" name="Rectangle: Rounded Corners 25">
            <a:extLst>
              <a:ext uri="{FF2B5EF4-FFF2-40B4-BE49-F238E27FC236}">
                <a16:creationId xmlns:a16="http://schemas.microsoft.com/office/drawing/2014/main" id="{7525C54D-12BA-F7E2-3D41-CDDEE27D7E08}"/>
              </a:ext>
            </a:extLst>
          </p:cNvPr>
          <p:cNvSpPr/>
          <p:nvPr/>
        </p:nvSpPr>
        <p:spPr>
          <a:xfrm>
            <a:off x="6297036" y="2928026"/>
            <a:ext cx="2383276" cy="3531140"/>
          </a:xfrm>
          <a:prstGeom prst="round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b="1" dirty="0">
              <a:solidFill>
                <a:srgbClr val="002060"/>
              </a:solidFill>
              <a:cs typeface="Segoe UI Semilight" panose="020B0402040204020203" pitchFamily="34" charset="0"/>
            </a:endParaRPr>
          </a:p>
          <a:p>
            <a:r>
              <a:rPr lang="en-US" b="1" dirty="0">
                <a:solidFill>
                  <a:srgbClr val="002060"/>
                </a:solidFill>
                <a:cs typeface="Segoe UI Semilight" panose="020B0402040204020203" pitchFamily="34" charset="0"/>
              </a:rPr>
              <a:t>Deepika</a:t>
            </a:r>
          </a:p>
          <a:p>
            <a:r>
              <a:rPr lang="en-IN" sz="1400" b="1" dirty="0">
                <a:solidFill>
                  <a:schemeClr val="bg2">
                    <a:lumMod val="50000"/>
                  </a:schemeClr>
                </a:solidFill>
                <a:cs typeface="Segoe UI Semilight" panose="020B0402040204020203" pitchFamily="34" charset="0"/>
              </a:rPr>
              <a:t>Role: Data Analysis &amp;Visualization</a:t>
            </a:r>
          </a:p>
          <a:p>
            <a:endParaRPr lang="en-IN" sz="1400" b="1" dirty="0">
              <a:solidFill>
                <a:schemeClr val="bg2">
                  <a:lumMod val="50000"/>
                </a:schemeClr>
              </a:solidFill>
              <a:cs typeface="Segoe UI Semilight" panose="020B0402040204020203" pitchFamily="34" charset="0"/>
            </a:endParaRPr>
          </a:p>
          <a:p>
            <a:pPr algn="just"/>
            <a:r>
              <a:rPr lang="en-IN" sz="1400" dirty="0">
                <a:solidFill>
                  <a:schemeClr val="tx1">
                    <a:lumMod val="75000"/>
                    <a:lumOff val="25000"/>
                  </a:schemeClr>
                </a:solidFill>
                <a:cs typeface="Segoe UI Semilight" panose="020B0402040204020203" pitchFamily="34" charset="0"/>
              </a:rPr>
              <a:t>Conducted statistical and exploratory data analysis </a:t>
            </a:r>
          </a:p>
          <a:p>
            <a:pPr algn="just"/>
            <a:r>
              <a:rPr lang="en-IN" sz="1400" dirty="0">
                <a:solidFill>
                  <a:schemeClr val="tx1">
                    <a:lumMod val="75000"/>
                    <a:lumOff val="25000"/>
                  </a:schemeClr>
                </a:solidFill>
                <a:cs typeface="Segoe UI Semilight" panose="020B0402040204020203" pitchFamily="34" charset="0"/>
              </a:rPr>
              <a:t>Developed charts and visual representations for insights Identified key patterns and trends in the dataset</a:t>
            </a:r>
          </a:p>
        </p:txBody>
      </p:sp>
      <p:pic>
        <p:nvPicPr>
          <p:cNvPr id="28" name="Graphic 27" descr="Classroom with solid fill">
            <a:extLst>
              <a:ext uri="{FF2B5EF4-FFF2-40B4-BE49-F238E27FC236}">
                <a16:creationId xmlns:a16="http://schemas.microsoft.com/office/drawing/2014/main" id="{E59F3703-B739-D68E-AA33-1946F18413A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83677" y="2652805"/>
            <a:ext cx="514350" cy="514350"/>
          </a:xfrm>
          <a:prstGeom prst="rect">
            <a:avLst/>
          </a:prstGeom>
        </p:spPr>
      </p:pic>
      <p:sp>
        <p:nvSpPr>
          <p:cNvPr id="30" name="Rectangle: Rounded Corners 29">
            <a:extLst>
              <a:ext uri="{FF2B5EF4-FFF2-40B4-BE49-F238E27FC236}">
                <a16:creationId xmlns:a16="http://schemas.microsoft.com/office/drawing/2014/main" id="{DE7864D2-85E0-DBBF-9D6D-FBA5688416A8}"/>
              </a:ext>
            </a:extLst>
          </p:cNvPr>
          <p:cNvSpPr/>
          <p:nvPr/>
        </p:nvSpPr>
        <p:spPr>
          <a:xfrm>
            <a:off x="9124540" y="2928026"/>
            <a:ext cx="2383276" cy="3531140"/>
          </a:xfrm>
          <a:prstGeom prst="round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b="1" dirty="0">
                <a:solidFill>
                  <a:srgbClr val="002060"/>
                </a:solidFill>
                <a:cs typeface="Segoe UI Semilight" panose="020B0402040204020203" pitchFamily="34" charset="0"/>
              </a:rPr>
              <a:t>Srividhya</a:t>
            </a:r>
          </a:p>
          <a:p>
            <a:r>
              <a:rPr lang="en-IN" sz="1400" b="1" dirty="0">
                <a:solidFill>
                  <a:schemeClr val="bg2">
                    <a:lumMod val="50000"/>
                  </a:schemeClr>
                </a:solidFill>
                <a:cs typeface="Segoe UI Semilight" panose="020B0402040204020203" pitchFamily="34" charset="0"/>
              </a:rPr>
              <a:t>Role: Data Collection &amp; Dataset Management</a:t>
            </a:r>
          </a:p>
          <a:p>
            <a:pPr algn="just"/>
            <a:endParaRPr lang="en-IN" sz="800" dirty="0">
              <a:solidFill>
                <a:schemeClr val="bg2">
                  <a:lumMod val="25000"/>
                </a:schemeClr>
              </a:solidFill>
              <a:cs typeface="Segoe UI Semilight" panose="020B0402040204020203" pitchFamily="34" charset="0"/>
            </a:endParaRPr>
          </a:p>
          <a:p>
            <a:pPr algn="just"/>
            <a:endParaRPr lang="en-IN" sz="800" dirty="0">
              <a:solidFill>
                <a:schemeClr val="bg2">
                  <a:lumMod val="25000"/>
                </a:schemeClr>
              </a:solidFill>
              <a:cs typeface="Segoe UI Semilight" panose="020B0402040204020203" pitchFamily="34" charset="0"/>
            </a:endParaRPr>
          </a:p>
          <a:p>
            <a:pPr algn="just"/>
            <a:r>
              <a:rPr lang="en-IN" sz="1400" dirty="0">
                <a:solidFill>
                  <a:schemeClr val="bg2">
                    <a:lumMod val="50000"/>
                  </a:schemeClr>
                </a:solidFill>
                <a:cs typeface="Segoe UI Semilight" panose="020B0402040204020203" pitchFamily="34" charset="0"/>
              </a:rPr>
              <a:t>Collected datasets from verified and relevant sources. Organized and structured raw data for analysis. Ensured data quality, completeness, and consistency</a:t>
            </a:r>
          </a:p>
        </p:txBody>
      </p:sp>
      <p:pic>
        <p:nvPicPr>
          <p:cNvPr id="32" name="Graphic 31" descr="Classroom with solid fill">
            <a:extLst>
              <a:ext uri="{FF2B5EF4-FFF2-40B4-BE49-F238E27FC236}">
                <a16:creationId xmlns:a16="http://schemas.microsoft.com/office/drawing/2014/main" id="{D8AC08EF-FEB9-6FA3-18B8-E1F04EA631D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11181" y="2652805"/>
            <a:ext cx="514350" cy="514350"/>
          </a:xfrm>
          <a:prstGeom prst="rect">
            <a:avLst/>
          </a:prstGeom>
        </p:spPr>
      </p:pic>
      <p:sp>
        <p:nvSpPr>
          <p:cNvPr id="40" name="Flowchart: Connector 39">
            <a:extLst>
              <a:ext uri="{FF2B5EF4-FFF2-40B4-BE49-F238E27FC236}">
                <a16:creationId xmlns:a16="http://schemas.microsoft.com/office/drawing/2014/main" id="{B2841C91-0A36-BDD3-C01F-F64E3D0AB8DB}"/>
              </a:ext>
            </a:extLst>
          </p:cNvPr>
          <p:cNvSpPr/>
          <p:nvPr/>
        </p:nvSpPr>
        <p:spPr>
          <a:xfrm>
            <a:off x="4126514" y="2551047"/>
            <a:ext cx="838200" cy="787400"/>
          </a:xfrm>
          <a:prstGeom prst="flowChartConnector">
            <a:avLst/>
          </a:prstGeom>
          <a:ln>
            <a:solidFill>
              <a:schemeClr val="accent4">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42" name="Flowchart: Connector 41">
            <a:extLst>
              <a:ext uri="{FF2B5EF4-FFF2-40B4-BE49-F238E27FC236}">
                <a16:creationId xmlns:a16="http://schemas.microsoft.com/office/drawing/2014/main" id="{3AA46C23-F368-9989-77FB-0AB179041B80}"/>
              </a:ext>
            </a:extLst>
          </p:cNvPr>
          <p:cNvSpPr/>
          <p:nvPr/>
        </p:nvSpPr>
        <p:spPr>
          <a:xfrm>
            <a:off x="4181547" y="2595497"/>
            <a:ext cx="715433" cy="673100"/>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4" name="Picture 43" descr="Data cleaning - Free computer icons">
            <a:extLst>
              <a:ext uri="{FF2B5EF4-FFF2-40B4-BE49-F238E27FC236}">
                <a16:creationId xmlns:a16="http://schemas.microsoft.com/office/drawing/2014/main" id="{46FFBF63-233C-4B11-6BC0-79AA4E3AB687}"/>
              </a:ext>
            </a:extLst>
          </p:cNvPr>
          <p:cNvPicPr>
            <a:picLocks noChangeAspect="1"/>
          </p:cNvPicPr>
          <p:nvPr/>
        </p:nvPicPr>
        <p:blipFill>
          <a:blip r:embed="rId3">
            <a:duotone>
              <a:prstClr val="black"/>
              <a:schemeClr val="bg1">
                <a:lumMod val="50000"/>
                <a:tint val="45000"/>
                <a:satMod val="400000"/>
              </a:schemeClr>
            </a:duotone>
          </a:blip>
          <a:stretch>
            <a:fillRect/>
          </a:stretch>
        </p:blipFill>
        <p:spPr>
          <a:xfrm>
            <a:off x="4316589" y="2705352"/>
            <a:ext cx="445347" cy="445347"/>
          </a:xfrm>
          <a:prstGeom prst="rect">
            <a:avLst/>
          </a:prstGeom>
        </p:spPr>
      </p:pic>
      <p:sp>
        <p:nvSpPr>
          <p:cNvPr id="46" name="Flowchart: Connector 45">
            <a:extLst>
              <a:ext uri="{FF2B5EF4-FFF2-40B4-BE49-F238E27FC236}">
                <a16:creationId xmlns:a16="http://schemas.microsoft.com/office/drawing/2014/main" id="{9EB1BB7D-38B6-7B72-3990-ED1D47786695}"/>
              </a:ext>
            </a:extLst>
          </p:cNvPr>
          <p:cNvSpPr/>
          <p:nvPr/>
        </p:nvSpPr>
        <p:spPr>
          <a:xfrm>
            <a:off x="7035249" y="2547026"/>
            <a:ext cx="838200" cy="787400"/>
          </a:xfrm>
          <a:prstGeom prst="flowChartConnector">
            <a:avLst/>
          </a:prstGeom>
          <a:ln>
            <a:solidFill>
              <a:schemeClr val="accent4">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48" name="Flowchart: Connector 47">
            <a:extLst>
              <a:ext uri="{FF2B5EF4-FFF2-40B4-BE49-F238E27FC236}">
                <a16:creationId xmlns:a16="http://schemas.microsoft.com/office/drawing/2014/main" id="{79593D40-95BC-62C3-B9DE-1077279ADD61}"/>
              </a:ext>
            </a:extLst>
          </p:cNvPr>
          <p:cNvSpPr/>
          <p:nvPr/>
        </p:nvSpPr>
        <p:spPr>
          <a:xfrm>
            <a:off x="7090282" y="2591476"/>
            <a:ext cx="715433" cy="673100"/>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0" name="Graphic 49" descr="Internet with solid fill">
            <a:extLst>
              <a:ext uri="{FF2B5EF4-FFF2-40B4-BE49-F238E27FC236}">
                <a16:creationId xmlns:a16="http://schemas.microsoft.com/office/drawing/2014/main" id="{AB389F47-BFBC-D8B5-C44C-0863B75D61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41519" y="2621910"/>
            <a:ext cx="596462" cy="596462"/>
          </a:xfrm>
          <a:prstGeom prst="rect">
            <a:avLst/>
          </a:prstGeom>
        </p:spPr>
      </p:pic>
      <p:sp>
        <p:nvSpPr>
          <p:cNvPr id="52" name="Flowchart: Connector 51">
            <a:extLst>
              <a:ext uri="{FF2B5EF4-FFF2-40B4-BE49-F238E27FC236}">
                <a16:creationId xmlns:a16="http://schemas.microsoft.com/office/drawing/2014/main" id="{9903A9C0-467D-7A7D-7E5B-87321D869C9F}"/>
              </a:ext>
            </a:extLst>
          </p:cNvPr>
          <p:cNvSpPr/>
          <p:nvPr/>
        </p:nvSpPr>
        <p:spPr>
          <a:xfrm>
            <a:off x="9933640" y="2507479"/>
            <a:ext cx="838200" cy="787400"/>
          </a:xfrm>
          <a:prstGeom prst="flowChartConnector">
            <a:avLst/>
          </a:prstGeom>
          <a:ln>
            <a:solidFill>
              <a:schemeClr val="accent4">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54" name="Flowchart: Connector 53">
            <a:extLst>
              <a:ext uri="{FF2B5EF4-FFF2-40B4-BE49-F238E27FC236}">
                <a16:creationId xmlns:a16="http://schemas.microsoft.com/office/drawing/2014/main" id="{2574B679-38BD-757A-EF01-F7BD63675009}"/>
              </a:ext>
            </a:extLst>
          </p:cNvPr>
          <p:cNvSpPr/>
          <p:nvPr/>
        </p:nvSpPr>
        <p:spPr>
          <a:xfrm>
            <a:off x="9988673" y="2551929"/>
            <a:ext cx="715433" cy="673100"/>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56" name="Graphic 55" descr="Classroom with solid fill">
            <a:extLst>
              <a:ext uri="{FF2B5EF4-FFF2-40B4-BE49-F238E27FC236}">
                <a16:creationId xmlns:a16="http://schemas.microsoft.com/office/drawing/2014/main" id="{A60261F5-E4BC-5D2B-4977-59D6ABA8477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35240" y="2589120"/>
            <a:ext cx="575733" cy="575733"/>
          </a:xfrm>
          <a:prstGeom prst="rect">
            <a:avLst/>
          </a:prstGeom>
        </p:spPr>
      </p:pic>
      <p:pic>
        <p:nvPicPr>
          <p:cNvPr id="58" name="Graphic 57" descr="Database with solid fill">
            <a:extLst>
              <a:ext uri="{FF2B5EF4-FFF2-40B4-BE49-F238E27FC236}">
                <a16:creationId xmlns:a16="http://schemas.microsoft.com/office/drawing/2014/main" id="{508CFB47-88C6-628A-85DC-26D553D2082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18128" y="2707653"/>
            <a:ext cx="457200" cy="457200"/>
          </a:xfrm>
          <a:prstGeom prst="rect">
            <a:avLst/>
          </a:prstGeom>
        </p:spPr>
      </p:pic>
      <p:sp>
        <p:nvSpPr>
          <p:cNvPr id="60" name="Text 27">
            <a:extLst>
              <a:ext uri="{FF2B5EF4-FFF2-40B4-BE49-F238E27FC236}">
                <a16:creationId xmlns:a16="http://schemas.microsoft.com/office/drawing/2014/main" id="{12045BA3-B594-FD73-6234-7E54E43C4B00}"/>
              </a:ext>
            </a:extLst>
          </p:cNvPr>
          <p:cNvSpPr/>
          <p:nvPr/>
        </p:nvSpPr>
        <p:spPr>
          <a:xfrm>
            <a:off x="11355586" y="6557555"/>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02 / 14</a:t>
            </a:r>
            <a:endParaRPr lang="en-US" sz="1125" dirty="0">
              <a:ln>
                <a:solidFill>
                  <a:schemeClr val="bg1">
                    <a:lumMod val="65000"/>
                  </a:schemeClr>
                </a:solidFill>
              </a:ln>
            </a:endParaRPr>
          </a:p>
        </p:txBody>
      </p:sp>
      <p:sp>
        <p:nvSpPr>
          <p:cNvPr id="62" name="TextBox 61">
            <a:extLst>
              <a:ext uri="{FF2B5EF4-FFF2-40B4-BE49-F238E27FC236}">
                <a16:creationId xmlns:a16="http://schemas.microsoft.com/office/drawing/2014/main" id="{8DA273E7-2293-C8F8-D6AC-362DD3643D67}"/>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Tree>
    <p:extLst>
      <p:ext uri="{BB962C8B-B14F-4D97-AF65-F5344CB8AC3E}">
        <p14:creationId xmlns:p14="http://schemas.microsoft.com/office/powerpoint/2010/main" val="4537909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72B4D07-F212-E706-3DC7-A4344EFC09D4}"/>
              </a:ext>
            </a:extLst>
          </p:cNvPr>
          <p:cNvSpPr txBox="1"/>
          <p:nvPr/>
        </p:nvSpPr>
        <p:spPr>
          <a:xfrm>
            <a:off x="566021" y="1468348"/>
            <a:ext cx="10105221" cy="646331"/>
          </a:xfrm>
          <a:prstGeom prst="rect">
            <a:avLst/>
          </a:prstGeom>
          <a:noFill/>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Problem Context and Research Motivation</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0F756799-4AA4-B257-80B7-70B759420808}"/>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RESEARCH MOTIVATION</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8" name="Flowchart: Alternate Process 7">
            <a:extLst>
              <a:ext uri="{FF2B5EF4-FFF2-40B4-BE49-F238E27FC236}">
                <a16:creationId xmlns:a16="http://schemas.microsoft.com/office/drawing/2014/main" id="{FECBD241-E15B-9C33-AC4B-F615FDFB910C}"/>
              </a:ext>
            </a:extLst>
          </p:cNvPr>
          <p:cNvSpPr/>
          <p:nvPr/>
        </p:nvSpPr>
        <p:spPr>
          <a:xfrm>
            <a:off x="566021" y="2402733"/>
            <a:ext cx="3276405" cy="4154822"/>
          </a:xfrm>
          <a:prstGeom prst="flowChartAlternateProcess">
            <a:avLst/>
          </a:prstGeom>
          <a:solidFill>
            <a:srgbClr val="215287"/>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latin typeface="Segoe UI Black" panose="020B0A02040204020203" pitchFamily="34" charset="0"/>
                <a:ea typeface="Segoe UI Black" panose="020B0A02040204020203" pitchFamily="34" charset="0"/>
                <a:cs typeface="Cascadia Code SemiBold" panose="020B0609020000020004" pitchFamily="49" charset="0"/>
              </a:rPr>
              <a:t>Behavioral patterns matter – not only screen time.</a:t>
            </a:r>
          </a:p>
          <a:p>
            <a:endParaRPr lang="en-US" sz="2800" b="1" dirty="0">
              <a:latin typeface="Segoe UI Black" panose="020B0A02040204020203" pitchFamily="34" charset="0"/>
              <a:ea typeface="Segoe UI Black" panose="020B0A02040204020203" pitchFamily="34" charset="0"/>
              <a:cs typeface="Cascadia Code SemiBold" panose="020B0609020000020004" pitchFamily="49" charset="0"/>
            </a:endParaRPr>
          </a:p>
          <a:p>
            <a:pPr>
              <a:lnSpc>
                <a:spcPct val="150000"/>
              </a:lnSpc>
            </a:pPr>
            <a:r>
              <a:rPr lang="en-US" sz="1400" b="1" dirty="0">
                <a:latin typeface="Segoe UI Semilight" panose="020B0402040204020203" pitchFamily="34" charset="0"/>
                <a:cs typeface="Segoe UI Semilight" panose="020B0402040204020203" pitchFamily="34" charset="0"/>
              </a:rPr>
              <a:t>Social media is embedded in communication, learning and daily routines nut the mental health signal depends on how people engage</a:t>
            </a:r>
            <a:endParaRPr lang="en-IN" sz="1400" b="1"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A784D5B1-CC9B-D27F-8621-058CABCE9EB2}"/>
              </a:ext>
            </a:extLst>
          </p:cNvPr>
          <p:cNvSpPr/>
          <p:nvPr/>
        </p:nvSpPr>
        <p:spPr>
          <a:xfrm>
            <a:off x="4931923" y="2402732"/>
            <a:ext cx="5836596" cy="415482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2000" dirty="0">
                <a:solidFill>
                  <a:schemeClr val="bg2">
                    <a:lumMod val="25000"/>
                  </a:schemeClr>
                </a:solidFill>
                <a:latin typeface="Aptos Narrow" panose="020B0004020202020204" pitchFamily="34" charset="0"/>
                <a:cs typeface="Segoe UI Semilight" panose="020B0402040204020203" pitchFamily="34" charset="0"/>
              </a:rPr>
              <a:t>Social media has reshaped communication, information sharing, learning, and everyday social interaction.</a:t>
            </a:r>
          </a:p>
          <a:p>
            <a:pPr marL="285750" indent="-285750">
              <a:buFont typeface="Arial" panose="020B0604020202020204" pitchFamily="34" charset="0"/>
              <a:buChar char="•"/>
            </a:pPr>
            <a:r>
              <a:rPr lang="en-US" sz="2000" dirty="0">
                <a:solidFill>
                  <a:schemeClr val="bg2">
                    <a:lumMod val="25000"/>
                  </a:schemeClr>
                </a:solidFill>
                <a:latin typeface="Aptos Narrow" panose="020B0004020202020204" pitchFamily="34" charset="0"/>
                <a:cs typeface="Segoe UI Semilight" panose="020B0402040204020203" pitchFamily="34" charset="0"/>
              </a:rPr>
              <a:t>Growing concerns include anxiety, depressed mood, sleep disruption, and attention difficulties. </a:t>
            </a:r>
          </a:p>
          <a:p>
            <a:pPr marL="285750" indent="-285750">
              <a:buFont typeface="Arial" panose="020B0604020202020204" pitchFamily="34" charset="0"/>
              <a:buChar char="•"/>
            </a:pPr>
            <a:r>
              <a:rPr lang="en-US" sz="2000" dirty="0">
                <a:solidFill>
                  <a:schemeClr val="bg2">
                    <a:lumMod val="25000"/>
                  </a:schemeClr>
                </a:solidFill>
                <a:latin typeface="Aptos Narrow" panose="020B0004020202020204" pitchFamily="34" charset="0"/>
                <a:cs typeface="Segoe UI Semilight" panose="020B0402040204020203" pitchFamily="34" charset="0"/>
              </a:rPr>
              <a:t>Prior discussion often over-focuses on total exposure time rather than behavioral mechanisms.</a:t>
            </a:r>
          </a:p>
          <a:p>
            <a:pPr marL="285750" indent="-285750">
              <a:buFont typeface="Arial" panose="020B0604020202020204" pitchFamily="34" charset="0"/>
              <a:buChar char="•"/>
            </a:pPr>
            <a:r>
              <a:rPr lang="en-US" sz="2000" dirty="0">
                <a:solidFill>
                  <a:schemeClr val="bg2">
                    <a:lumMod val="25000"/>
                  </a:schemeClr>
                </a:solidFill>
                <a:latin typeface="Aptos Narrow" panose="020B0004020202020204" pitchFamily="34" charset="0"/>
                <a:cs typeface="Segoe UI Semilight" panose="020B0402040204020203" pitchFamily="34" charset="0"/>
              </a:rPr>
              <a:t> project examines whether comparison, validation seeking, distraction, and platform use reveal stronger signals.</a:t>
            </a:r>
          </a:p>
          <a:p>
            <a:pPr marL="285750" indent="-285750">
              <a:buFont typeface="Arial" panose="020B0604020202020204" pitchFamily="34" charset="0"/>
              <a:buChar char="•"/>
            </a:pPr>
            <a:r>
              <a:rPr lang="en-US" sz="2000" dirty="0">
                <a:solidFill>
                  <a:schemeClr val="bg2">
                    <a:lumMod val="25000"/>
                  </a:schemeClr>
                </a:solidFill>
                <a:latin typeface="Aptos Narrow" panose="020B0004020202020204" pitchFamily="34" charset="0"/>
                <a:cs typeface="Segoe UI Semilight" panose="020B0402040204020203" pitchFamily="34" charset="0"/>
              </a:rPr>
              <a:t>The goal is a descriptive, data-grounded view of digital well-being for young adults</a:t>
            </a:r>
            <a:r>
              <a:rPr lang="en-US" sz="2000" dirty="0">
                <a:solidFill>
                  <a:schemeClr val="bg2">
                    <a:lumMod val="25000"/>
                  </a:schemeClr>
                </a:solidFill>
                <a:latin typeface="Aptos Narrow" panose="020B0004020202020204" pitchFamily="34" charset="0"/>
              </a:rPr>
              <a:t>.</a:t>
            </a:r>
            <a:endParaRPr lang="en-IN" sz="2000" dirty="0">
              <a:solidFill>
                <a:schemeClr val="bg2">
                  <a:lumMod val="25000"/>
                </a:schemeClr>
              </a:solidFill>
              <a:latin typeface="Aptos Narrow" panose="020B0004020202020204" pitchFamily="34" charset="0"/>
            </a:endParaRPr>
          </a:p>
        </p:txBody>
      </p:sp>
      <p:sp>
        <p:nvSpPr>
          <p:cNvPr id="11" name="TextBox 10">
            <a:extLst>
              <a:ext uri="{FF2B5EF4-FFF2-40B4-BE49-F238E27FC236}">
                <a16:creationId xmlns:a16="http://schemas.microsoft.com/office/drawing/2014/main" id="{1531919C-8BB1-90D9-FDBA-B3E0019CE288}"/>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13" name="Text 27">
            <a:extLst>
              <a:ext uri="{FF2B5EF4-FFF2-40B4-BE49-F238E27FC236}">
                <a16:creationId xmlns:a16="http://schemas.microsoft.com/office/drawing/2014/main" id="{0FF48C6F-48CC-5A0E-A56D-A82F9099E1F7}"/>
              </a:ext>
            </a:extLst>
          </p:cNvPr>
          <p:cNvSpPr/>
          <p:nvPr/>
        </p:nvSpPr>
        <p:spPr>
          <a:xfrm>
            <a:off x="11355586" y="6557555"/>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03 / 14</a:t>
            </a:r>
            <a:endParaRPr lang="en-US" sz="1125" dirty="0">
              <a:ln>
                <a:solidFill>
                  <a:schemeClr val="bg1">
                    <a:lumMod val="65000"/>
                  </a:schemeClr>
                </a:solidFill>
              </a:ln>
            </a:endParaRPr>
          </a:p>
        </p:txBody>
      </p:sp>
    </p:spTree>
    <p:extLst>
      <p:ext uri="{BB962C8B-B14F-4D97-AF65-F5344CB8AC3E}">
        <p14:creationId xmlns:p14="http://schemas.microsoft.com/office/powerpoint/2010/main" val="3065540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7">
            <a:extLst>
              <a:ext uri="{FF2B5EF4-FFF2-40B4-BE49-F238E27FC236}">
                <a16:creationId xmlns:a16="http://schemas.microsoft.com/office/drawing/2014/main" id="{10D424E3-79A5-F5A4-0161-6FB69159AEA3}"/>
              </a:ext>
            </a:extLst>
          </p:cNvPr>
          <p:cNvSpPr/>
          <p:nvPr/>
        </p:nvSpPr>
        <p:spPr>
          <a:xfrm>
            <a:off x="11355586" y="6557555"/>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04 / 14</a:t>
            </a:r>
            <a:endParaRPr lang="en-US" sz="1125" dirty="0">
              <a:ln>
                <a:solidFill>
                  <a:schemeClr val="bg1">
                    <a:lumMod val="65000"/>
                  </a:schemeClr>
                </a:solidFill>
              </a:ln>
            </a:endParaRPr>
          </a:p>
        </p:txBody>
      </p:sp>
      <p:sp>
        <p:nvSpPr>
          <p:cNvPr id="5" name="TextBox 4">
            <a:extLst>
              <a:ext uri="{FF2B5EF4-FFF2-40B4-BE49-F238E27FC236}">
                <a16:creationId xmlns:a16="http://schemas.microsoft.com/office/drawing/2014/main" id="{686D619A-EA59-0392-662C-9023CA517738}"/>
              </a:ext>
            </a:extLst>
          </p:cNvPr>
          <p:cNvSpPr txBox="1"/>
          <p:nvPr/>
        </p:nvSpPr>
        <p:spPr>
          <a:xfrm>
            <a:off x="566021" y="1468348"/>
            <a:ext cx="10105221"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Research Objectives and Questions</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1096F7CA-9F14-6206-F0C1-5AEA493656D0}"/>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OBJECTIVES</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8" name="Flowchart: Alternate Process 7">
            <a:extLst>
              <a:ext uri="{FF2B5EF4-FFF2-40B4-BE49-F238E27FC236}">
                <a16:creationId xmlns:a16="http://schemas.microsoft.com/office/drawing/2014/main" id="{8E975654-E59B-2025-470F-DB39590E0AB4}"/>
              </a:ext>
            </a:extLst>
          </p:cNvPr>
          <p:cNvSpPr/>
          <p:nvPr/>
        </p:nvSpPr>
        <p:spPr>
          <a:xfrm>
            <a:off x="690664" y="2392827"/>
            <a:ext cx="5405336" cy="1926397"/>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9" name="Flowchart: Connector 8">
            <a:extLst>
              <a:ext uri="{FF2B5EF4-FFF2-40B4-BE49-F238E27FC236}">
                <a16:creationId xmlns:a16="http://schemas.microsoft.com/office/drawing/2014/main" id="{74744C8B-1D72-5102-BD85-24AFBDFCAAAA}"/>
              </a:ext>
            </a:extLst>
          </p:cNvPr>
          <p:cNvSpPr/>
          <p:nvPr/>
        </p:nvSpPr>
        <p:spPr>
          <a:xfrm>
            <a:off x="1040859" y="2704289"/>
            <a:ext cx="573932" cy="496110"/>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01</a:t>
            </a:r>
            <a:endParaRPr lang="en-IN" sz="1600" dirty="0"/>
          </a:p>
        </p:txBody>
      </p:sp>
      <p:sp>
        <p:nvSpPr>
          <p:cNvPr id="11" name="TextBox 10">
            <a:extLst>
              <a:ext uri="{FF2B5EF4-FFF2-40B4-BE49-F238E27FC236}">
                <a16:creationId xmlns:a16="http://schemas.microsoft.com/office/drawing/2014/main" id="{4966467A-51FC-D8BC-8C59-F2CE0FFC9277}"/>
              </a:ext>
            </a:extLst>
          </p:cNvPr>
          <p:cNvSpPr txBox="1"/>
          <p:nvPr/>
        </p:nvSpPr>
        <p:spPr>
          <a:xfrm>
            <a:off x="1040859" y="3244334"/>
            <a:ext cx="3336588"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Usage intensity</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13" name="TextBox 12">
            <a:extLst>
              <a:ext uri="{FF2B5EF4-FFF2-40B4-BE49-F238E27FC236}">
                <a16:creationId xmlns:a16="http://schemas.microsoft.com/office/drawing/2014/main" id="{F809412D-360A-3982-D87A-494273629D5C}"/>
              </a:ext>
            </a:extLst>
          </p:cNvPr>
          <p:cNvSpPr txBox="1"/>
          <p:nvPr/>
        </p:nvSpPr>
        <p:spPr>
          <a:xfrm>
            <a:off x="1040859" y="3580096"/>
            <a:ext cx="4844375" cy="584775"/>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Assess how daily hours relate to worry, depressed mood, sleep issue and concentration difficulty</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15" name="Flowchart: Alternate Process 14">
            <a:extLst>
              <a:ext uri="{FF2B5EF4-FFF2-40B4-BE49-F238E27FC236}">
                <a16:creationId xmlns:a16="http://schemas.microsoft.com/office/drawing/2014/main" id="{EEB654F6-7416-4610-72D7-8AA4CB2B1CA9}"/>
              </a:ext>
            </a:extLst>
          </p:cNvPr>
          <p:cNvSpPr/>
          <p:nvPr/>
        </p:nvSpPr>
        <p:spPr>
          <a:xfrm>
            <a:off x="6515909" y="2392826"/>
            <a:ext cx="5405336" cy="1926397"/>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7" name="Flowchart: Connector 16">
            <a:extLst>
              <a:ext uri="{FF2B5EF4-FFF2-40B4-BE49-F238E27FC236}">
                <a16:creationId xmlns:a16="http://schemas.microsoft.com/office/drawing/2014/main" id="{866C9B60-C801-5C03-6ACC-5AF13B8B317E}"/>
              </a:ext>
            </a:extLst>
          </p:cNvPr>
          <p:cNvSpPr/>
          <p:nvPr/>
        </p:nvSpPr>
        <p:spPr>
          <a:xfrm>
            <a:off x="6796390" y="2704289"/>
            <a:ext cx="573932" cy="496110"/>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02</a:t>
            </a:r>
            <a:endParaRPr lang="en-IN" sz="1600" dirty="0"/>
          </a:p>
        </p:txBody>
      </p:sp>
      <p:sp>
        <p:nvSpPr>
          <p:cNvPr id="19" name="TextBox 18">
            <a:extLst>
              <a:ext uri="{FF2B5EF4-FFF2-40B4-BE49-F238E27FC236}">
                <a16:creationId xmlns:a16="http://schemas.microsoft.com/office/drawing/2014/main" id="{33ADC0E3-4B68-F985-C485-D5E021D1F1A1}"/>
              </a:ext>
            </a:extLst>
          </p:cNvPr>
          <p:cNvSpPr txBox="1"/>
          <p:nvPr/>
        </p:nvSpPr>
        <p:spPr>
          <a:xfrm>
            <a:off x="6796390" y="3244334"/>
            <a:ext cx="6096000"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Platform differences</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21" name="TextBox 20">
            <a:extLst>
              <a:ext uri="{FF2B5EF4-FFF2-40B4-BE49-F238E27FC236}">
                <a16:creationId xmlns:a16="http://schemas.microsoft.com/office/drawing/2014/main" id="{B6857B84-3FA2-115D-EC10-42EFC7E17C26}"/>
              </a:ext>
            </a:extLst>
          </p:cNvPr>
          <p:cNvSpPr txBox="1"/>
          <p:nvPr/>
        </p:nvSpPr>
        <p:spPr>
          <a:xfrm>
            <a:off x="6796390" y="3580096"/>
            <a:ext cx="4844375" cy="584775"/>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Compare descriptive mental-health profiles across commonly used platforms in the survey sample.</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23" name="Flowchart: Alternate Process 22">
            <a:extLst>
              <a:ext uri="{FF2B5EF4-FFF2-40B4-BE49-F238E27FC236}">
                <a16:creationId xmlns:a16="http://schemas.microsoft.com/office/drawing/2014/main" id="{907EDA71-A756-BAEF-B2E0-3BF7D5F08C59}"/>
              </a:ext>
            </a:extLst>
          </p:cNvPr>
          <p:cNvSpPr/>
          <p:nvPr/>
        </p:nvSpPr>
        <p:spPr>
          <a:xfrm>
            <a:off x="700390" y="4597372"/>
            <a:ext cx="5405336" cy="1926397"/>
          </a:xfrm>
          <a:prstGeom prst="flowChartAlternateProcess">
            <a:avLst/>
          </a:prstGeom>
          <a:solidFill>
            <a:schemeClr val="accent4">
              <a:lumMod val="20000"/>
              <a:lumOff val="80000"/>
            </a:schemeClr>
          </a:solidFill>
          <a:ln>
            <a:solidFill>
              <a:schemeClr val="accent4">
                <a:lumMod val="20000"/>
                <a:lumOff val="8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Flowchart: Connector 24">
            <a:extLst>
              <a:ext uri="{FF2B5EF4-FFF2-40B4-BE49-F238E27FC236}">
                <a16:creationId xmlns:a16="http://schemas.microsoft.com/office/drawing/2014/main" id="{BC38F3FD-CD4C-3E76-B8FF-A0F1426014D1}"/>
              </a:ext>
            </a:extLst>
          </p:cNvPr>
          <p:cNvSpPr/>
          <p:nvPr/>
        </p:nvSpPr>
        <p:spPr>
          <a:xfrm>
            <a:off x="1040859" y="4841078"/>
            <a:ext cx="573932" cy="496110"/>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03</a:t>
            </a:r>
            <a:endParaRPr lang="en-IN" sz="1600" dirty="0"/>
          </a:p>
        </p:txBody>
      </p:sp>
      <p:sp>
        <p:nvSpPr>
          <p:cNvPr id="27" name="TextBox 26">
            <a:extLst>
              <a:ext uri="{FF2B5EF4-FFF2-40B4-BE49-F238E27FC236}">
                <a16:creationId xmlns:a16="http://schemas.microsoft.com/office/drawing/2014/main" id="{26F5378F-156B-2F11-9702-0507AA32DC78}"/>
              </a:ext>
            </a:extLst>
          </p:cNvPr>
          <p:cNvSpPr txBox="1"/>
          <p:nvPr/>
        </p:nvSpPr>
        <p:spPr>
          <a:xfrm>
            <a:off x="1040859" y="5381123"/>
            <a:ext cx="6096000"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Behavioral drivers</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29" name="TextBox 28">
            <a:extLst>
              <a:ext uri="{FF2B5EF4-FFF2-40B4-BE49-F238E27FC236}">
                <a16:creationId xmlns:a16="http://schemas.microsoft.com/office/drawing/2014/main" id="{9DD80E42-8B77-B00E-9B35-BB4609207FA9}"/>
              </a:ext>
            </a:extLst>
          </p:cNvPr>
          <p:cNvSpPr txBox="1"/>
          <p:nvPr/>
        </p:nvSpPr>
        <p:spPr>
          <a:xfrm>
            <a:off x="1040859" y="5716885"/>
            <a:ext cx="4844375" cy="584775"/>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Examine social comparison and validation seeking as mechanisms behind pooper well-being indicators.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31" name="Flowchart: Alternate Process 30">
            <a:extLst>
              <a:ext uri="{FF2B5EF4-FFF2-40B4-BE49-F238E27FC236}">
                <a16:creationId xmlns:a16="http://schemas.microsoft.com/office/drawing/2014/main" id="{A8F43B78-6498-AFA8-BA70-C0B52F0310BC}"/>
              </a:ext>
            </a:extLst>
          </p:cNvPr>
          <p:cNvSpPr/>
          <p:nvPr/>
        </p:nvSpPr>
        <p:spPr>
          <a:xfrm>
            <a:off x="6446195" y="4579484"/>
            <a:ext cx="5405336" cy="1926397"/>
          </a:xfrm>
          <a:prstGeom prst="flowChartAlternateProcess">
            <a:avLst/>
          </a:prstGeom>
          <a:solidFill>
            <a:schemeClr val="accent4">
              <a:lumMod val="20000"/>
              <a:lumOff val="80000"/>
            </a:schemeClr>
          </a:solidFill>
          <a:ln>
            <a:solidFill>
              <a:schemeClr val="accent4">
                <a:lumMod val="20000"/>
                <a:lumOff val="8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3" name="Flowchart: Connector 32">
            <a:extLst>
              <a:ext uri="{FF2B5EF4-FFF2-40B4-BE49-F238E27FC236}">
                <a16:creationId xmlns:a16="http://schemas.microsoft.com/office/drawing/2014/main" id="{776A31BC-0791-6A04-E134-B56CE7360B5E}"/>
              </a:ext>
            </a:extLst>
          </p:cNvPr>
          <p:cNvSpPr/>
          <p:nvPr/>
        </p:nvSpPr>
        <p:spPr>
          <a:xfrm>
            <a:off x="6796390" y="4841078"/>
            <a:ext cx="573932" cy="496110"/>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04</a:t>
            </a:r>
            <a:endParaRPr lang="en-IN" sz="1600" dirty="0"/>
          </a:p>
        </p:txBody>
      </p:sp>
      <p:sp>
        <p:nvSpPr>
          <p:cNvPr id="35" name="TextBox 34">
            <a:extLst>
              <a:ext uri="{FF2B5EF4-FFF2-40B4-BE49-F238E27FC236}">
                <a16:creationId xmlns:a16="http://schemas.microsoft.com/office/drawing/2014/main" id="{AA3DF760-334D-EB4E-A855-B581D224A76C}"/>
              </a:ext>
            </a:extLst>
          </p:cNvPr>
          <p:cNvSpPr txBox="1"/>
          <p:nvPr/>
        </p:nvSpPr>
        <p:spPr>
          <a:xfrm>
            <a:off x="6796390" y="5381123"/>
            <a:ext cx="6096000"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Functioning and sleep</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37" name="TextBox 36">
            <a:extLst>
              <a:ext uri="{FF2B5EF4-FFF2-40B4-BE49-F238E27FC236}">
                <a16:creationId xmlns:a16="http://schemas.microsoft.com/office/drawing/2014/main" id="{A1A1424C-CE9A-D606-D2E7-D9FD6A386AD1}"/>
              </a:ext>
            </a:extLst>
          </p:cNvPr>
          <p:cNvSpPr txBox="1"/>
          <p:nvPr/>
        </p:nvSpPr>
        <p:spPr>
          <a:xfrm>
            <a:off x="6796390" y="5716885"/>
            <a:ext cx="4844375" cy="584775"/>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Explore how sleep problems and concentration difficulty co-occur with emotional outcomes.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39" name="TextBox 38">
            <a:extLst>
              <a:ext uri="{FF2B5EF4-FFF2-40B4-BE49-F238E27FC236}">
                <a16:creationId xmlns:a16="http://schemas.microsoft.com/office/drawing/2014/main" id="{D008D9CA-2FEF-ABEB-5BCE-9247CC181E08}"/>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Tree>
    <p:extLst>
      <p:ext uri="{BB962C8B-B14F-4D97-AF65-F5344CB8AC3E}">
        <p14:creationId xmlns:p14="http://schemas.microsoft.com/office/powerpoint/2010/main" val="1643009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06CBA-F61C-9580-7DCE-6B9A456F00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D46BF1-0D66-4DA9-F200-1D94FF9EED13}"/>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5" name="TextBox 4">
            <a:extLst>
              <a:ext uri="{FF2B5EF4-FFF2-40B4-BE49-F238E27FC236}">
                <a16:creationId xmlns:a16="http://schemas.microsoft.com/office/drawing/2014/main" id="{5376A081-BABC-54CE-F815-3BB389242D29}"/>
              </a:ext>
            </a:extLst>
          </p:cNvPr>
          <p:cNvSpPr txBox="1"/>
          <p:nvPr/>
        </p:nvSpPr>
        <p:spPr>
          <a:xfrm>
            <a:off x="566022" y="1468348"/>
            <a:ext cx="5114932"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Dataset Overview</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9EC9D3B0-142C-4146-0ABB-376075BC25E8}"/>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DATA FOUNDATION</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9" name="TextBox 8">
            <a:extLst>
              <a:ext uri="{FF2B5EF4-FFF2-40B4-BE49-F238E27FC236}">
                <a16:creationId xmlns:a16="http://schemas.microsoft.com/office/drawing/2014/main" id="{EDF609BB-DA43-9B43-659B-54EED03F7C1A}"/>
              </a:ext>
            </a:extLst>
          </p:cNvPr>
          <p:cNvSpPr txBox="1"/>
          <p:nvPr/>
        </p:nvSpPr>
        <p:spPr>
          <a:xfrm>
            <a:off x="566021" y="2141802"/>
            <a:ext cx="7449570" cy="338554"/>
          </a:xfrm>
          <a:prstGeom prst="rect">
            <a:avLst/>
          </a:prstGeom>
          <a:noFill/>
        </p:spPr>
        <p:txBody>
          <a:bodyPr wrap="square">
            <a:spAutoFit/>
          </a:bodyPr>
          <a:lstStyle/>
          <a:p>
            <a:r>
              <a:rPr lang="en-US"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rPr>
              <a:t>The survey spans demographics, platform behavior and ordinal mental-health indicators.</a:t>
            </a:r>
            <a:endParaRPr lang="en-IN"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endParaRPr>
          </a:p>
        </p:txBody>
      </p:sp>
      <p:sp>
        <p:nvSpPr>
          <p:cNvPr id="10" name="Flowchart: Alternate Process 9">
            <a:extLst>
              <a:ext uri="{FF2B5EF4-FFF2-40B4-BE49-F238E27FC236}">
                <a16:creationId xmlns:a16="http://schemas.microsoft.com/office/drawing/2014/main" id="{657589F0-9478-ED49-24B5-42830E53576F}"/>
              </a:ext>
            </a:extLst>
          </p:cNvPr>
          <p:cNvSpPr/>
          <p:nvPr/>
        </p:nvSpPr>
        <p:spPr>
          <a:xfrm>
            <a:off x="671210" y="2772383"/>
            <a:ext cx="2490280" cy="1867711"/>
          </a:xfrm>
          <a:prstGeom prst="flowChartAlternateProcess">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b="1" dirty="0"/>
              <a:t>379</a:t>
            </a:r>
            <a:endParaRPr lang="en-US" sz="2400" dirty="0"/>
          </a:p>
          <a:p>
            <a:r>
              <a:rPr lang="en-US" b="1" dirty="0"/>
              <a:t>Respondents</a:t>
            </a:r>
          </a:p>
          <a:p>
            <a:r>
              <a:rPr lang="en-US" sz="1400" dirty="0"/>
              <a:t>Clean survey records used for descriptive analysis.</a:t>
            </a:r>
            <a:endParaRPr lang="en-IN" sz="1400" dirty="0"/>
          </a:p>
        </p:txBody>
      </p:sp>
      <p:sp>
        <p:nvSpPr>
          <p:cNvPr id="18" name="Flowchart: Alternate Process 17">
            <a:extLst>
              <a:ext uri="{FF2B5EF4-FFF2-40B4-BE49-F238E27FC236}">
                <a16:creationId xmlns:a16="http://schemas.microsoft.com/office/drawing/2014/main" id="{DC5F1E7A-BFA7-DA7F-107A-13DFC03C287D}"/>
              </a:ext>
            </a:extLst>
          </p:cNvPr>
          <p:cNvSpPr/>
          <p:nvPr/>
        </p:nvSpPr>
        <p:spPr>
          <a:xfrm>
            <a:off x="3391712" y="2772382"/>
            <a:ext cx="2490280" cy="1867711"/>
          </a:xfrm>
          <a:prstGeom prst="flowChartAlternateProcess">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b="1" dirty="0">
                <a:solidFill>
                  <a:srgbClr val="215287"/>
                </a:solidFill>
              </a:rPr>
              <a:t>22.2 </a:t>
            </a:r>
            <a:r>
              <a:rPr lang="en-US" sz="1600" b="1" dirty="0">
                <a:solidFill>
                  <a:srgbClr val="215287"/>
                </a:solidFill>
              </a:rPr>
              <a:t>years</a:t>
            </a:r>
            <a:endParaRPr lang="en-US" sz="900" dirty="0">
              <a:solidFill>
                <a:srgbClr val="215287"/>
              </a:solidFill>
            </a:endParaRPr>
          </a:p>
          <a:p>
            <a:r>
              <a:rPr lang="en-US" b="1" dirty="0">
                <a:solidFill>
                  <a:srgbClr val="215287"/>
                </a:solidFill>
              </a:rPr>
              <a:t>Average age</a:t>
            </a:r>
          </a:p>
          <a:p>
            <a:r>
              <a:rPr lang="en-US" sz="1400" dirty="0">
                <a:solidFill>
                  <a:srgbClr val="215287"/>
                </a:solidFill>
              </a:rPr>
              <a:t>Sample centered on young adults in their early twenties.</a:t>
            </a:r>
            <a:endParaRPr lang="en-IN" sz="1400" dirty="0">
              <a:solidFill>
                <a:srgbClr val="215287"/>
              </a:solidFill>
            </a:endParaRPr>
          </a:p>
        </p:txBody>
      </p:sp>
      <p:sp>
        <p:nvSpPr>
          <p:cNvPr id="20" name="Flowchart: Alternate Process 19">
            <a:extLst>
              <a:ext uri="{FF2B5EF4-FFF2-40B4-BE49-F238E27FC236}">
                <a16:creationId xmlns:a16="http://schemas.microsoft.com/office/drawing/2014/main" id="{32F47DA6-45EB-7CC1-4B03-6BD097D95D91}"/>
              </a:ext>
            </a:extLst>
          </p:cNvPr>
          <p:cNvSpPr/>
          <p:nvPr/>
        </p:nvSpPr>
        <p:spPr>
          <a:xfrm>
            <a:off x="6112214" y="2772382"/>
            <a:ext cx="2490280" cy="1867711"/>
          </a:xfrm>
          <a:prstGeom prst="flowChartAlternateProcess">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b="1" dirty="0">
                <a:solidFill>
                  <a:srgbClr val="215287"/>
                </a:solidFill>
              </a:rPr>
              <a:t>73%</a:t>
            </a:r>
            <a:endParaRPr lang="en-US" sz="2000" dirty="0">
              <a:solidFill>
                <a:srgbClr val="215287"/>
              </a:solidFill>
            </a:endParaRPr>
          </a:p>
          <a:p>
            <a:r>
              <a:rPr lang="en-US" b="1" dirty="0">
                <a:solidFill>
                  <a:srgbClr val="215287"/>
                </a:solidFill>
              </a:rPr>
              <a:t>Students </a:t>
            </a:r>
          </a:p>
          <a:p>
            <a:r>
              <a:rPr lang="en-US" sz="1400" dirty="0">
                <a:solidFill>
                  <a:srgbClr val="215287"/>
                </a:solidFill>
              </a:rPr>
              <a:t>University students dominate the occupation profile.</a:t>
            </a:r>
            <a:endParaRPr lang="en-IN" sz="1400" dirty="0">
              <a:solidFill>
                <a:srgbClr val="215287"/>
              </a:solidFill>
            </a:endParaRPr>
          </a:p>
        </p:txBody>
      </p:sp>
      <p:sp>
        <p:nvSpPr>
          <p:cNvPr id="22" name="Flowchart: Alternate Process 21">
            <a:extLst>
              <a:ext uri="{FF2B5EF4-FFF2-40B4-BE49-F238E27FC236}">
                <a16:creationId xmlns:a16="http://schemas.microsoft.com/office/drawing/2014/main" id="{C022D037-FAFB-31AF-F6F7-7F78DB492822}"/>
              </a:ext>
            </a:extLst>
          </p:cNvPr>
          <p:cNvSpPr/>
          <p:nvPr/>
        </p:nvSpPr>
        <p:spPr>
          <a:xfrm>
            <a:off x="8832716" y="2772381"/>
            <a:ext cx="2490280" cy="1867711"/>
          </a:xfrm>
          <a:prstGeom prst="flowChartAlternateProcess">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b="1" dirty="0">
                <a:solidFill>
                  <a:srgbClr val="215287"/>
                </a:solidFill>
              </a:rPr>
              <a:t>58%</a:t>
            </a:r>
            <a:endParaRPr lang="en-US" sz="2000" b="1" dirty="0">
              <a:solidFill>
                <a:srgbClr val="215287"/>
              </a:solidFill>
            </a:endParaRPr>
          </a:p>
          <a:p>
            <a:endParaRPr lang="en-US" sz="1400" dirty="0">
              <a:solidFill>
                <a:srgbClr val="215287"/>
              </a:solidFill>
            </a:endParaRPr>
          </a:p>
          <a:p>
            <a:r>
              <a:rPr lang="en-US" b="1" dirty="0">
                <a:solidFill>
                  <a:srgbClr val="215287"/>
                </a:solidFill>
              </a:rPr>
              <a:t>Female</a:t>
            </a:r>
          </a:p>
          <a:p>
            <a:r>
              <a:rPr lang="en-US" sz="1400" dirty="0">
                <a:solidFill>
                  <a:srgbClr val="215287"/>
                </a:solidFill>
              </a:rPr>
              <a:t>Female respondents form the largest gender group.</a:t>
            </a:r>
            <a:endParaRPr lang="en-IN" sz="1400" dirty="0">
              <a:solidFill>
                <a:srgbClr val="215287"/>
              </a:solidFill>
            </a:endParaRPr>
          </a:p>
        </p:txBody>
      </p:sp>
      <p:sp>
        <p:nvSpPr>
          <p:cNvPr id="25" name="Flowchart: Alternate Process 24">
            <a:extLst>
              <a:ext uri="{FF2B5EF4-FFF2-40B4-BE49-F238E27FC236}">
                <a16:creationId xmlns:a16="http://schemas.microsoft.com/office/drawing/2014/main" id="{564BA9C8-8378-BD1F-07E7-3A999700E07F}"/>
              </a:ext>
            </a:extLst>
          </p:cNvPr>
          <p:cNvSpPr/>
          <p:nvPr/>
        </p:nvSpPr>
        <p:spPr>
          <a:xfrm>
            <a:off x="4356733" y="5261105"/>
            <a:ext cx="6966263" cy="1028822"/>
          </a:xfrm>
          <a:prstGeom prst="flowChartAlternateProcess">
            <a:avLst/>
          </a:prstGeom>
          <a:solidFill>
            <a:schemeClr val="accent4">
              <a:lumMod val="20000"/>
              <a:lumOff val="80000"/>
            </a:schemeClr>
          </a:solidFill>
          <a:ln>
            <a:solidFill>
              <a:schemeClr val="accent4">
                <a:lumMod val="20000"/>
                <a:lumOff val="80000"/>
              </a:schemeClr>
            </a:solidFill>
          </a:ln>
          <a:effectLst>
            <a:softEdge rad="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1200" b="1" dirty="0">
                <a:solidFill>
                  <a:schemeClr val="bg2">
                    <a:lumMod val="50000"/>
                  </a:schemeClr>
                </a:solidFill>
              </a:rPr>
              <a:t>Key Highlights</a:t>
            </a:r>
            <a:endParaRPr lang="en-IN" sz="1200" dirty="0">
              <a:solidFill>
                <a:schemeClr val="bg2">
                  <a:lumMod val="50000"/>
                </a:schemeClr>
              </a:solidFill>
            </a:endParaRPr>
          </a:p>
          <a:p>
            <a:r>
              <a:rPr lang="en-IN" sz="1200" dirty="0">
                <a:solidFill>
                  <a:schemeClr val="bg2">
                    <a:lumMod val="50000"/>
                  </a:schemeClr>
                </a:solidFill>
              </a:rPr>
              <a:t>Majority of the respondents are </a:t>
            </a:r>
            <a:r>
              <a:rPr lang="en-IN" sz="1200" b="1" dirty="0">
                <a:solidFill>
                  <a:schemeClr val="bg2">
                    <a:lumMod val="50000"/>
                  </a:schemeClr>
                </a:solidFill>
              </a:rPr>
              <a:t>students</a:t>
            </a:r>
            <a:r>
              <a:rPr lang="en-IN" sz="1200" dirty="0">
                <a:solidFill>
                  <a:schemeClr val="bg2">
                    <a:lumMod val="50000"/>
                  </a:schemeClr>
                </a:solidFill>
              </a:rPr>
              <a:t>, making the dataset relevant for analysing social media usage among young adults. </a:t>
            </a:r>
          </a:p>
          <a:p>
            <a:r>
              <a:rPr lang="en-IN" sz="1200" dirty="0">
                <a:solidFill>
                  <a:schemeClr val="bg2">
                    <a:lumMod val="50000"/>
                  </a:schemeClr>
                </a:solidFill>
              </a:rPr>
              <a:t>The average participant age is </a:t>
            </a:r>
            <a:r>
              <a:rPr lang="en-IN" sz="1200" b="1" dirty="0">
                <a:solidFill>
                  <a:schemeClr val="bg2">
                    <a:lumMod val="50000"/>
                  </a:schemeClr>
                </a:solidFill>
              </a:rPr>
              <a:t>22.2 years</a:t>
            </a:r>
            <a:r>
              <a:rPr lang="en-IN" sz="1200" dirty="0">
                <a:solidFill>
                  <a:schemeClr val="bg2">
                    <a:lumMod val="50000"/>
                  </a:schemeClr>
                </a:solidFill>
              </a:rPr>
              <a:t>, representing the young adult population. </a:t>
            </a:r>
          </a:p>
          <a:p>
            <a:r>
              <a:rPr lang="en-IN" sz="1200" dirty="0">
                <a:solidFill>
                  <a:schemeClr val="bg2">
                    <a:lumMod val="50000"/>
                  </a:schemeClr>
                </a:solidFill>
              </a:rPr>
              <a:t>The dataset has a slightly higher proportion of </a:t>
            </a:r>
            <a:r>
              <a:rPr lang="en-IN" sz="1200" b="1" dirty="0">
                <a:solidFill>
                  <a:schemeClr val="bg2">
                    <a:lumMod val="50000"/>
                  </a:schemeClr>
                </a:solidFill>
              </a:rPr>
              <a:t>female respondents (58%)</a:t>
            </a:r>
            <a:r>
              <a:rPr lang="en-IN" sz="1200" dirty="0">
                <a:solidFill>
                  <a:schemeClr val="bg2">
                    <a:lumMod val="50000"/>
                  </a:schemeClr>
                </a:solidFill>
              </a:rPr>
              <a:t> than males.</a:t>
            </a:r>
          </a:p>
        </p:txBody>
      </p:sp>
      <p:sp>
        <p:nvSpPr>
          <p:cNvPr id="27" name="Text 27">
            <a:extLst>
              <a:ext uri="{FF2B5EF4-FFF2-40B4-BE49-F238E27FC236}">
                <a16:creationId xmlns:a16="http://schemas.microsoft.com/office/drawing/2014/main" id="{CA6AE357-C472-A0FE-9DE5-8F0A0BF3D1A8}"/>
              </a:ext>
            </a:extLst>
          </p:cNvPr>
          <p:cNvSpPr/>
          <p:nvPr/>
        </p:nvSpPr>
        <p:spPr>
          <a:xfrm>
            <a:off x="11355586" y="6557555"/>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05 / 14</a:t>
            </a:r>
            <a:endParaRPr lang="en-US" sz="1125" dirty="0">
              <a:ln>
                <a:solidFill>
                  <a:schemeClr val="bg1">
                    <a:lumMod val="65000"/>
                  </a:schemeClr>
                </a:solidFill>
              </a:ln>
            </a:endParaRPr>
          </a:p>
        </p:txBody>
      </p:sp>
      <p:sp>
        <p:nvSpPr>
          <p:cNvPr id="16" name="Flowchart: Alternate Process 15">
            <a:extLst>
              <a:ext uri="{FF2B5EF4-FFF2-40B4-BE49-F238E27FC236}">
                <a16:creationId xmlns:a16="http://schemas.microsoft.com/office/drawing/2014/main" id="{26BC16AA-31F8-E48A-D17D-4BDAAFE4E531}"/>
              </a:ext>
            </a:extLst>
          </p:cNvPr>
          <p:cNvSpPr/>
          <p:nvPr/>
        </p:nvSpPr>
        <p:spPr>
          <a:xfrm>
            <a:off x="808672" y="5261105"/>
            <a:ext cx="3052128" cy="1028822"/>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sz="1200" b="1" dirty="0">
              <a:solidFill>
                <a:schemeClr val="bg2">
                  <a:lumMod val="50000"/>
                </a:schemeClr>
              </a:solidFill>
            </a:endParaRPr>
          </a:p>
          <a:p>
            <a:r>
              <a:rPr lang="en-IN" sz="1200" b="1" dirty="0">
                <a:solidFill>
                  <a:schemeClr val="bg2">
                    <a:lumMod val="50000"/>
                  </a:schemeClr>
                </a:solidFill>
              </a:rPr>
              <a:t>Calculation</a:t>
            </a:r>
          </a:p>
          <a:p>
            <a:r>
              <a:rPr lang="en-IN" sz="1200" b="1" dirty="0">
                <a:solidFill>
                  <a:schemeClr val="bg2">
                    <a:lumMod val="50000"/>
                  </a:schemeClr>
                </a:solidFill>
              </a:rPr>
              <a:t>Students:</a:t>
            </a:r>
            <a:r>
              <a:rPr lang="en-IN" sz="1200" dirty="0">
                <a:solidFill>
                  <a:schemeClr val="bg2">
                    <a:lumMod val="50000"/>
                  </a:schemeClr>
                </a:solidFill>
              </a:rPr>
              <a:t> 397 × 73% = </a:t>
            </a:r>
            <a:r>
              <a:rPr lang="en-IN" sz="1200" b="1" dirty="0">
                <a:solidFill>
                  <a:schemeClr val="bg2">
                    <a:lumMod val="50000"/>
                  </a:schemeClr>
                </a:solidFill>
              </a:rPr>
              <a:t>289.81 ≈ 290</a:t>
            </a:r>
            <a:r>
              <a:rPr lang="en-IN" sz="1200" dirty="0">
                <a:solidFill>
                  <a:schemeClr val="bg2">
                    <a:lumMod val="50000"/>
                  </a:schemeClr>
                </a:solidFill>
              </a:rPr>
              <a:t> </a:t>
            </a:r>
          </a:p>
          <a:p>
            <a:r>
              <a:rPr lang="en-IN" sz="1200" b="1" dirty="0">
                <a:solidFill>
                  <a:schemeClr val="bg2">
                    <a:lumMod val="50000"/>
                  </a:schemeClr>
                </a:solidFill>
              </a:rPr>
              <a:t>Female:</a:t>
            </a:r>
            <a:r>
              <a:rPr lang="en-IN" sz="1200" dirty="0">
                <a:solidFill>
                  <a:schemeClr val="bg2">
                    <a:lumMod val="50000"/>
                  </a:schemeClr>
                </a:solidFill>
              </a:rPr>
              <a:t> 397 × 58% = </a:t>
            </a:r>
            <a:r>
              <a:rPr lang="en-IN" sz="1200" b="1" dirty="0">
                <a:solidFill>
                  <a:schemeClr val="bg2">
                    <a:lumMod val="50000"/>
                  </a:schemeClr>
                </a:solidFill>
              </a:rPr>
              <a:t>230.26 ≈ 230</a:t>
            </a:r>
            <a:r>
              <a:rPr lang="en-IN" sz="1200" dirty="0">
                <a:solidFill>
                  <a:schemeClr val="bg2">
                    <a:lumMod val="50000"/>
                  </a:schemeClr>
                </a:solidFill>
              </a:rPr>
              <a:t> </a:t>
            </a:r>
          </a:p>
          <a:p>
            <a:r>
              <a:rPr lang="en-IN" sz="1200" b="1" dirty="0">
                <a:solidFill>
                  <a:schemeClr val="bg2">
                    <a:lumMod val="50000"/>
                  </a:schemeClr>
                </a:solidFill>
              </a:rPr>
              <a:t>Male:</a:t>
            </a:r>
            <a:r>
              <a:rPr lang="en-IN" sz="1200" dirty="0">
                <a:solidFill>
                  <a:schemeClr val="bg2">
                    <a:lumMod val="50000"/>
                  </a:schemeClr>
                </a:solidFill>
              </a:rPr>
              <a:t> 397 − 230 = </a:t>
            </a:r>
            <a:r>
              <a:rPr lang="en-IN" sz="1200" b="1" dirty="0">
                <a:solidFill>
                  <a:schemeClr val="bg2">
                    <a:lumMod val="50000"/>
                  </a:schemeClr>
                </a:solidFill>
              </a:rPr>
              <a:t>167</a:t>
            </a:r>
            <a:endParaRPr lang="en-IN" sz="1200" dirty="0">
              <a:solidFill>
                <a:schemeClr val="bg2">
                  <a:lumMod val="50000"/>
                </a:schemeClr>
              </a:solidFill>
            </a:endParaRPr>
          </a:p>
          <a:p>
            <a:endParaRPr lang="en-IN" sz="1100" dirty="0">
              <a:solidFill>
                <a:schemeClr val="bg2">
                  <a:lumMod val="50000"/>
                </a:schemeClr>
              </a:solidFill>
            </a:endParaRPr>
          </a:p>
        </p:txBody>
      </p:sp>
    </p:spTree>
    <p:extLst>
      <p:ext uri="{BB962C8B-B14F-4D97-AF65-F5344CB8AC3E}">
        <p14:creationId xmlns:p14="http://schemas.microsoft.com/office/powerpoint/2010/main" val="36835083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1C923B1-495D-2667-0528-80248EEB3658}"/>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5" name="TextBox 4">
            <a:extLst>
              <a:ext uri="{FF2B5EF4-FFF2-40B4-BE49-F238E27FC236}">
                <a16:creationId xmlns:a16="http://schemas.microsoft.com/office/drawing/2014/main" id="{311C1B60-0755-A60D-D24D-87BEC7BA7B6F}"/>
              </a:ext>
            </a:extLst>
          </p:cNvPr>
          <p:cNvSpPr txBox="1"/>
          <p:nvPr/>
        </p:nvSpPr>
        <p:spPr>
          <a:xfrm>
            <a:off x="566021" y="1468348"/>
            <a:ext cx="10941799"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Analytical Workflow and Methodology </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93DFEC4C-241E-3F71-318C-E8FCA3F83ADB}"/>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METHODOLOGY</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9" name="TextBox 8">
            <a:extLst>
              <a:ext uri="{FF2B5EF4-FFF2-40B4-BE49-F238E27FC236}">
                <a16:creationId xmlns:a16="http://schemas.microsoft.com/office/drawing/2014/main" id="{3A282A4A-3BC2-D59B-E163-42843CCC816D}"/>
              </a:ext>
            </a:extLst>
          </p:cNvPr>
          <p:cNvSpPr txBox="1"/>
          <p:nvPr/>
        </p:nvSpPr>
        <p:spPr>
          <a:xfrm>
            <a:off x="566021" y="2141802"/>
            <a:ext cx="8325060" cy="338554"/>
          </a:xfrm>
          <a:prstGeom prst="rect">
            <a:avLst/>
          </a:prstGeom>
          <a:noFill/>
        </p:spPr>
        <p:txBody>
          <a:bodyPr wrap="square">
            <a:spAutoFit/>
          </a:bodyPr>
          <a:lstStyle/>
          <a:p>
            <a:r>
              <a:rPr lang="en-US"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rPr>
              <a:t>A structured descriptive-analytics pipeline connects the cleaned survey to interpretable findings.</a:t>
            </a:r>
            <a:endParaRPr lang="en-IN" sz="1600" dirty="0">
              <a:solidFill>
                <a:schemeClr val="bg2">
                  <a:lumMod val="50000"/>
                </a:schemeClr>
              </a:solidFill>
              <a:latin typeface="Aptos Narrow" panose="020B0004020202020204" pitchFamily="34" charset="0"/>
              <a:ea typeface="Cascadia Mono SemiBold" panose="020B0609020000020004" pitchFamily="49" charset="0"/>
              <a:cs typeface="Cascadia Mono SemiBold" panose="020B0609020000020004" pitchFamily="49" charset="0"/>
            </a:endParaRPr>
          </a:p>
        </p:txBody>
      </p:sp>
      <p:sp>
        <p:nvSpPr>
          <p:cNvPr id="17" name="Flowchart: Alternate Process 16">
            <a:extLst>
              <a:ext uri="{FF2B5EF4-FFF2-40B4-BE49-F238E27FC236}">
                <a16:creationId xmlns:a16="http://schemas.microsoft.com/office/drawing/2014/main" id="{8014B913-15CA-B5E8-AD7B-94ED74CAF8AA}"/>
              </a:ext>
            </a:extLst>
          </p:cNvPr>
          <p:cNvSpPr/>
          <p:nvPr/>
        </p:nvSpPr>
        <p:spPr>
          <a:xfrm>
            <a:off x="379871"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9" name="Flowchart: Connector 18">
            <a:extLst>
              <a:ext uri="{FF2B5EF4-FFF2-40B4-BE49-F238E27FC236}">
                <a16:creationId xmlns:a16="http://schemas.microsoft.com/office/drawing/2014/main" id="{A082B380-85E7-BB34-F68B-52B7CE3E7754}"/>
              </a:ext>
            </a:extLst>
          </p:cNvPr>
          <p:cNvSpPr/>
          <p:nvPr/>
        </p:nvSpPr>
        <p:spPr>
          <a:xfrm>
            <a:off x="566021"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01</a:t>
            </a:r>
            <a:endParaRPr lang="en-IN" sz="1400" dirty="0"/>
          </a:p>
        </p:txBody>
      </p:sp>
      <p:sp>
        <p:nvSpPr>
          <p:cNvPr id="21" name="TextBox 20">
            <a:extLst>
              <a:ext uri="{FF2B5EF4-FFF2-40B4-BE49-F238E27FC236}">
                <a16:creationId xmlns:a16="http://schemas.microsoft.com/office/drawing/2014/main" id="{0D04C3DF-D516-E80C-89AA-69839242D877}"/>
              </a:ext>
            </a:extLst>
          </p:cNvPr>
          <p:cNvSpPr txBox="1"/>
          <p:nvPr/>
        </p:nvSpPr>
        <p:spPr>
          <a:xfrm>
            <a:off x="480824" y="3485001"/>
            <a:ext cx="1573232"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Collection</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23" name="TextBox 22">
            <a:extLst>
              <a:ext uri="{FF2B5EF4-FFF2-40B4-BE49-F238E27FC236}">
                <a16:creationId xmlns:a16="http://schemas.microsoft.com/office/drawing/2014/main" id="{55C51B9E-466F-279D-1117-7F81468408CC}"/>
              </a:ext>
            </a:extLst>
          </p:cNvPr>
          <p:cNvSpPr txBox="1"/>
          <p:nvPr/>
        </p:nvSpPr>
        <p:spPr>
          <a:xfrm>
            <a:off x="430347" y="4203636"/>
            <a:ext cx="1743626" cy="1815882"/>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Survey responses covering demographics, platform use, behaviors, and well-being outcomes.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57" name="Flowchart: Alternate Process 56">
            <a:extLst>
              <a:ext uri="{FF2B5EF4-FFF2-40B4-BE49-F238E27FC236}">
                <a16:creationId xmlns:a16="http://schemas.microsoft.com/office/drawing/2014/main" id="{D5809BAB-585A-AA58-8C7A-CD769D60CF23}"/>
              </a:ext>
            </a:extLst>
          </p:cNvPr>
          <p:cNvSpPr/>
          <p:nvPr/>
        </p:nvSpPr>
        <p:spPr>
          <a:xfrm>
            <a:off x="2325403"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9" name="Flowchart: Connector 58">
            <a:extLst>
              <a:ext uri="{FF2B5EF4-FFF2-40B4-BE49-F238E27FC236}">
                <a16:creationId xmlns:a16="http://schemas.microsoft.com/office/drawing/2014/main" id="{C07FEC32-4C59-64F2-B6C4-BBC85BF8D483}"/>
              </a:ext>
            </a:extLst>
          </p:cNvPr>
          <p:cNvSpPr/>
          <p:nvPr/>
        </p:nvSpPr>
        <p:spPr>
          <a:xfrm>
            <a:off x="2511553"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02</a:t>
            </a:r>
            <a:endParaRPr lang="en-IN" sz="1400" dirty="0"/>
          </a:p>
        </p:txBody>
      </p:sp>
      <p:sp>
        <p:nvSpPr>
          <p:cNvPr id="61" name="TextBox 60">
            <a:extLst>
              <a:ext uri="{FF2B5EF4-FFF2-40B4-BE49-F238E27FC236}">
                <a16:creationId xmlns:a16="http://schemas.microsoft.com/office/drawing/2014/main" id="{95697760-45BF-6244-D047-7A4DD88BE82D}"/>
              </a:ext>
            </a:extLst>
          </p:cNvPr>
          <p:cNvSpPr txBox="1"/>
          <p:nvPr/>
        </p:nvSpPr>
        <p:spPr>
          <a:xfrm>
            <a:off x="2426356" y="3485001"/>
            <a:ext cx="1573232"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Cleaning</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63" name="TextBox 62">
            <a:extLst>
              <a:ext uri="{FF2B5EF4-FFF2-40B4-BE49-F238E27FC236}">
                <a16:creationId xmlns:a16="http://schemas.microsoft.com/office/drawing/2014/main" id="{9800AD3B-7F25-548F-89B6-D739E0C3F818}"/>
              </a:ext>
            </a:extLst>
          </p:cNvPr>
          <p:cNvSpPr txBox="1"/>
          <p:nvPr/>
        </p:nvSpPr>
        <p:spPr>
          <a:xfrm>
            <a:off x="2484701" y="4203636"/>
            <a:ext cx="1743626" cy="1569660"/>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Standardized fields, checking completeness, and prepared ordinal variables for analysis.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65" name="Flowchart: Alternate Process 64">
            <a:extLst>
              <a:ext uri="{FF2B5EF4-FFF2-40B4-BE49-F238E27FC236}">
                <a16:creationId xmlns:a16="http://schemas.microsoft.com/office/drawing/2014/main" id="{3E9626BF-E0AD-9479-7380-3A29B907C5A6}"/>
              </a:ext>
            </a:extLst>
          </p:cNvPr>
          <p:cNvSpPr/>
          <p:nvPr/>
        </p:nvSpPr>
        <p:spPr>
          <a:xfrm>
            <a:off x="4270935"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7" name="Flowchart: Connector 66">
            <a:extLst>
              <a:ext uri="{FF2B5EF4-FFF2-40B4-BE49-F238E27FC236}">
                <a16:creationId xmlns:a16="http://schemas.microsoft.com/office/drawing/2014/main" id="{645D25DE-9DD4-EF46-B534-24CA240DD83C}"/>
              </a:ext>
            </a:extLst>
          </p:cNvPr>
          <p:cNvSpPr/>
          <p:nvPr/>
        </p:nvSpPr>
        <p:spPr>
          <a:xfrm>
            <a:off x="4457085"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03</a:t>
            </a:r>
            <a:endParaRPr lang="en-IN" sz="1400" dirty="0"/>
          </a:p>
        </p:txBody>
      </p:sp>
      <p:sp>
        <p:nvSpPr>
          <p:cNvPr id="69" name="TextBox 68">
            <a:extLst>
              <a:ext uri="{FF2B5EF4-FFF2-40B4-BE49-F238E27FC236}">
                <a16:creationId xmlns:a16="http://schemas.microsoft.com/office/drawing/2014/main" id="{C05EFD07-031C-9554-B5DC-991FA2AEC38F}"/>
              </a:ext>
            </a:extLst>
          </p:cNvPr>
          <p:cNvSpPr txBox="1"/>
          <p:nvPr/>
        </p:nvSpPr>
        <p:spPr>
          <a:xfrm>
            <a:off x="4371888" y="3485001"/>
            <a:ext cx="1573232" cy="369332"/>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EDA</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71" name="TextBox 70">
            <a:extLst>
              <a:ext uri="{FF2B5EF4-FFF2-40B4-BE49-F238E27FC236}">
                <a16:creationId xmlns:a16="http://schemas.microsoft.com/office/drawing/2014/main" id="{719B0F54-1899-B767-2897-FB74279B8167}"/>
              </a:ext>
            </a:extLst>
          </p:cNvPr>
          <p:cNvSpPr txBox="1"/>
          <p:nvPr/>
        </p:nvSpPr>
        <p:spPr>
          <a:xfrm>
            <a:off x="4286689" y="4207244"/>
            <a:ext cx="1743626" cy="1569660"/>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Profiled responded demographics and baseline score distributions.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81" name="Flowchart: Alternate Process 80">
            <a:extLst>
              <a:ext uri="{FF2B5EF4-FFF2-40B4-BE49-F238E27FC236}">
                <a16:creationId xmlns:a16="http://schemas.microsoft.com/office/drawing/2014/main" id="{C593D333-9497-C718-8101-30B9C0065BC3}"/>
              </a:ext>
            </a:extLst>
          </p:cNvPr>
          <p:cNvSpPr/>
          <p:nvPr/>
        </p:nvSpPr>
        <p:spPr>
          <a:xfrm>
            <a:off x="6216467"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3" name="Flowchart: Connector 82">
            <a:extLst>
              <a:ext uri="{FF2B5EF4-FFF2-40B4-BE49-F238E27FC236}">
                <a16:creationId xmlns:a16="http://schemas.microsoft.com/office/drawing/2014/main" id="{8B472AC7-DC81-0358-A65E-A2E6D0CC223B}"/>
              </a:ext>
            </a:extLst>
          </p:cNvPr>
          <p:cNvSpPr/>
          <p:nvPr/>
        </p:nvSpPr>
        <p:spPr>
          <a:xfrm>
            <a:off x="6402617"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04</a:t>
            </a:r>
            <a:endParaRPr lang="en-IN" sz="1400" dirty="0"/>
          </a:p>
        </p:txBody>
      </p:sp>
      <p:sp>
        <p:nvSpPr>
          <p:cNvPr id="85" name="TextBox 84">
            <a:extLst>
              <a:ext uri="{FF2B5EF4-FFF2-40B4-BE49-F238E27FC236}">
                <a16:creationId xmlns:a16="http://schemas.microsoft.com/office/drawing/2014/main" id="{39500301-93EB-2884-D099-7D54041C447E}"/>
              </a:ext>
            </a:extLst>
          </p:cNvPr>
          <p:cNvSpPr txBox="1"/>
          <p:nvPr/>
        </p:nvSpPr>
        <p:spPr>
          <a:xfrm>
            <a:off x="6317420" y="3485001"/>
            <a:ext cx="1573232" cy="646331"/>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Behavioral analysis</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87" name="TextBox 86">
            <a:extLst>
              <a:ext uri="{FF2B5EF4-FFF2-40B4-BE49-F238E27FC236}">
                <a16:creationId xmlns:a16="http://schemas.microsoft.com/office/drawing/2014/main" id="{6E2DB30F-F360-3603-B681-443414CC3CB5}"/>
              </a:ext>
            </a:extLst>
          </p:cNvPr>
          <p:cNvSpPr txBox="1"/>
          <p:nvPr/>
        </p:nvSpPr>
        <p:spPr>
          <a:xfrm>
            <a:off x="6317420" y="4203636"/>
            <a:ext cx="1743626" cy="1569660"/>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Compared outcomes by usage intensity, comparison and validation seeking.</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89" name="Flowchart: Alternate Process 88">
            <a:extLst>
              <a:ext uri="{FF2B5EF4-FFF2-40B4-BE49-F238E27FC236}">
                <a16:creationId xmlns:a16="http://schemas.microsoft.com/office/drawing/2014/main" id="{E6F6EE26-B5E7-2BC9-CB92-E733A9742CC9}"/>
              </a:ext>
            </a:extLst>
          </p:cNvPr>
          <p:cNvSpPr/>
          <p:nvPr/>
        </p:nvSpPr>
        <p:spPr>
          <a:xfrm>
            <a:off x="8161999"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91" name="Flowchart: Connector 90">
            <a:extLst>
              <a:ext uri="{FF2B5EF4-FFF2-40B4-BE49-F238E27FC236}">
                <a16:creationId xmlns:a16="http://schemas.microsoft.com/office/drawing/2014/main" id="{AB15E9CD-C008-0673-E2BE-0802CB5F4478}"/>
              </a:ext>
            </a:extLst>
          </p:cNvPr>
          <p:cNvSpPr/>
          <p:nvPr/>
        </p:nvSpPr>
        <p:spPr>
          <a:xfrm>
            <a:off x="8348149"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05</a:t>
            </a:r>
            <a:endParaRPr lang="en-IN" sz="1400" dirty="0"/>
          </a:p>
        </p:txBody>
      </p:sp>
      <p:sp>
        <p:nvSpPr>
          <p:cNvPr id="93" name="TextBox 92">
            <a:extLst>
              <a:ext uri="{FF2B5EF4-FFF2-40B4-BE49-F238E27FC236}">
                <a16:creationId xmlns:a16="http://schemas.microsoft.com/office/drawing/2014/main" id="{7542F167-9BE6-8ACB-68D1-C553C05DEDD5}"/>
              </a:ext>
            </a:extLst>
          </p:cNvPr>
          <p:cNvSpPr txBox="1"/>
          <p:nvPr/>
        </p:nvSpPr>
        <p:spPr>
          <a:xfrm>
            <a:off x="8262951" y="3485001"/>
            <a:ext cx="1674185" cy="646331"/>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Platform comparison</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95" name="TextBox 94">
            <a:extLst>
              <a:ext uri="{FF2B5EF4-FFF2-40B4-BE49-F238E27FC236}">
                <a16:creationId xmlns:a16="http://schemas.microsoft.com/office/drawing/2014/main" id="{C3A549A5-2CEE-B5E0-310D-E0A370208818}"/>
              </a:ext>
            </a:extLst>
          </p:cNvPr>
          <p:cNvSpPr txBox="1"/>
          <p:nvPr/>
        </p:nvSpPr>
        <p:spPr>
          <a:xfrm>
            <a:off x="8228230" y="4203636"/>
            <a:ext cx="1743626" cy="1323439"/>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Benchmarked platform groups using average mental-health indicators.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97" name="Flowchart: Alternate Process 96">
            <a:extLst>
              <a:ext uri="{FF2B5EF4-FFF2-40B4-BE49-F238E27FC236}">
                <a16:creationId xmlns:a16="http://schemas.microsoft.com/office/drawing/2014/main" id="{56CE4562-69B4-4ACE-3133-07F3B46F047D}"/>
              </a:ext>
            </a:extLst>
          </p:cNvPr>
          <p:cNvSpPr/>
          <p:nvPr/>
        </p:nvSpPr>
        <p:spPr>
          <a:xfrm>
            <a:off x="10107531" y="2689807"/>
            <a:ext cx="1844579" cy="3375676"/>
          </a:xfrm>
          <a:prstGeom prst="flowChartAlternateProcess">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99" name="Flowchart: Connector 98">
            <a:extLst>
              <a:ext uri="{FF2B5EF4-FFF2-40B4-BE49-F238E27FC236}">
                <a16:creationId xmlns:a16="http://schemas.microsoft.com/office/drawing/2014/main" id="{82B5CE24-3812-E268-3B06-841DF07C7CE9}"/>
              </a:ext>
            </a:extLst>
          </p:cNvPr>
          <p:cNvSpPr/>
          <p:nvPr/>
        </p:nvSpPr>
        <p:spPr>
          <a:xfrm>
            <a:off x="10293681" y="2799545"/>
            <a:ext cx="515566" cy="525175"/>
          </a:xfrm>
          <a:prstGeom prst="flowChartConnector">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06</a:t>
            </a:r>
            <a:endParaRPr lang="en-IN" sz="1400" dirty="0"/>
          </a:p>
        </p:txBody>
      </p:sp>
      <p:sp>
        <p:nvSpPr>
          <p:cNvPr id="101" name="TextBox 100">
            <a:extLst>
              <a:ext uri="{FF2B5EF4-FFF2-40B4-BE49-F238E27FC236}">
                <a16:creationId xmlns:a16="http://schemas.microsoft.com/office/drawing/2014/main" id="{7C54A0A3-C0D3-6BBC-28FF-BCC7A67636B7}"/>
              </a:ext>
            </a:extLst>
          </p:cNvPr>
          <p:cNvSpPr txBox="1"/>
          <p:nvPr/>
        </p:nvSpPr>
        <p:spPr>
          <a:xfrm>
            <a:off x="10208483" y="3485001"/>
            <a:ext cx="1743625" cy="646331"/>
          </a:xfrm>
          <a:prstGeom prst="rect">
            <a:avLst/>
          </a:prstGeom>
          <a:noFill/>
        </p:spPr>
        <p:txBody>
          <a:bodyPr wrap="square">
            <a:spAutoFit/>
          </a:bodyPr>
          <a:lstStyle/>
          <a:p>
            <a:r>
              <a:rPr lang="en-US"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rPr>
              <a:t>Correlation &amp; findings</a:t>
            </a:r>
            <a:endParaRPr lang="en-IN" b="1" dirty="0">
              <a:solidFill>
                <a:schemeClr val="bg2">
                  <a:lumMod val="25000"/>
                </a:schemeClr>
              </a:solidFill>
              <a:latin typeface="Arial Black" panose="020B0A04020102020204" pitchFamily="34" charset="0"/>
              <a:ea typeface="Segoe UI Black" panose="020B0A02040204020203" pitchFamily="34" charset="0"/>
              <a:cs typeface="Cascadia Mono SemiBold" panose="020B0609020000020004" pitchFamily="49" charset="0"/>
            </a:endParaRPr>
          </a:p>
        </p:txBody>
      </p:sp>
      <p:sp>
        <p:nvSpPr>
          <p:cNvPr id="103" name="TextBox 102">
            <a:extLst>
              <a:ext uri="{FF2B5EF4-FFF2-40B4-BE49-F238E27FC236}">
                <a16:creationId xmlns:a16="http://schemas.microsoft.com/office/drawing/2014/main" id="{F678CC7F-71F3-4C8F-C377-1BD1F39F13B3}"/>
              </a:ext>
            </a:extLst>
          </p:cNvPr>
          <p:cNvSpPr txBox="1"/>
          <p:nvPr/>
        </p:nvSpPr>
        <p:spPr>
          <a:xfrm>
            <a:off x="10266846" y="4131332"/>
            <a:ext cx="1743626" cy="1569660"/>
          </a:xfrm>
          <a:prstGeom prst="rect">
            <a:avLst/>
          </a:prstGeom>
          <a:noFill/>
        </p:spPr>
        <p:txBody>
          <a:bodyPr wrap="square">
            <a:spAutoFit/>
          </a:bodyPr>
          <a:lstStyle/>
          <a:p>
            <a:r>
              <a:rPr lang="en-US" sz="1600" dirty="0">
                <a:solidFill>
                  <a:schemeClr val="bg2">
                    <a:lumMod val="50000"/>
                  </a:schemeClr>
                </a:solidFill>
                <a:ea typeface="Segoe UI Black" panose="020B0A02040204020203" pitchFamily="34" charset="0"/>
                <a:cs typeface="Cascadia Mono SemiBold" panose="020B0609020000020004" pitchFamily="49" charset="0"/>
              </a:rPr>
              <a:t>Visualized relationships and summarized descriptive academic cautions.</a:t>
            </a:r>
            <a:endParaRPr lang="en-IN" sz="1600" dirty="0">
              <a:solidFill>
                <a:schemeClr val="bg2">
                  <a:lumMod val="50000"/>
                </a:schemeClr>
              </a:solidFill>
              <a:ea typeface="Segoe UI Black" panose="020B0A02040204020203" pitchFamily="34" charset="0"/>
              <a:cs typeface="Cascadia Mono SemiBold" panose="020B0609020000020004" pitchFamily="49" charset="0"/>
            </a:endParaRPr>
          </a:p>
        </p:txBody>
      </p:sp>
      <p:sp>
        <p:nvSpPr>
          <p:cNvPr id="106" name="Rectangle 105">
            <a:extLst>
              <a:ext uri="{FF2B5EF4-FFF2-40B4-BE49-F238E27FC236}">
                <a16:creationId xmlns:a16="http://schemas.microsoft.com/office/drawing/2014/main" id="{EE0412E6-9181-A994-3070-B715994082CF}"/>
              </a:ext>
            </a:extLst>
          </p:cNvPr>
          <p:cNvSpPr/>
          <p:nvPr/>
        </p:nvSpPr>
        <p:spPr>
          <a:xfrm>
            <a:off x="497928" y="6148999"/>
            <a:ext cx="11471284" cy="437474"/>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2">
                    <a:lumMod val="25000"/>
                  </a:schemeClr>
                </a:solidFill>
              </a:rPr>
              <a:t>  Analytical stance </a:t>
            </a:r>
            <a:r>
              <a:rPr lang="en-US" sz="1600" dirty="0">
                <a:solidFill>
                  <a:schemeClr val="bg2">
                    <a:lumMod val="25000"/>
                  </a:schemeClr>
                </a:solidFill>
              </a:rPr>
              <a:t>: descriptive and exploratory, associations are interpreted cautiously and not presented as causal effects</a:t>
            </a:r>
            <a:r>
              <a:rPr lang="en-US" dirty="0">
                <a:solidFill>
                  <a:schemeClr val="bg2">
                    <a:lumMod val="25000"/>
                  </a:schemeClr>
                </a:solidFill>
              </a:rPr>
              <a:t>.</a:t>
            </a:r>
            <a:endParaRPr lang="en-IN" dirty="0">
              <a:solidFill>
                <a:schemeClr val="bg2">
                  <a:lumMod val="25000"/>
                </a:schemeClr>
              </a:solidFill>
            </a:endParaRPr>
          </a:p>
        </p:txBody>
      </p:sp>
      <p:sp>
        <p:nvSpPr>
          <p:cNvPr id="107" name="Rectangle 106">
            <a:extLst>
              <a:ext uri="{FF2B5EF4-FFF2-40B4-BE49-F238E27FC236}">
                <a16:creationId xmlns:a16="http://schemas.microsoft.com/office/drawing/2014/main" id="{31DC3A6E-BED8-4C35-DB7D-1D8C7E2F6FBD}"/>
              </a:ext>
            </a:extLst>
          </p:cNvPr>
          <p:cNvSpPr/>
          <p:nvPr/>
        </p:nvSpPr>
        <p:spPr>
          <a:xfrm>
            <a:off x="497928" y="6148999"/>
            <a:ext cx="68094" cy="437474"/>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9" name="Text 27">
            <a:extLst>
              <a:ext uri="{FF2B5EF4-FFF2-40B4-BE49-F238E27FC236}">
                <a16:creationId xmlns:a16="http://schemas.microsoft.com/office/drawing/2014/main" id="{2885E271-BB8E-95A3-D7C1-508EC8E6B44B}"/>
              </a:ext>
            </a:extLst>
          </p:cNvPr>
          <p:cNvSpPr/>
          <p:nvPr/>
        </p:nvSpPr>
        <p:spPr>
          <a:xfrm>
            <a:off x="11355586" y="6625352"/>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06 / 14</a:t>
            </a:r>
            <a:endParaRPr lang="en-US" sz="1125" dirty="0">
              <a:ln>
                <a:solidFill>
                  <a:schemeClr val="bg1">
                    <a:lumMod val="65000"/>
                  </a:schemeClr>
                </a:solidFill>
              </a:ln>
            </a:endParaRPr>
          </a:p>
        </p:txBody>
      </p:sp>
      <p:sp>
        <p:nvSpPr>
          <p:cNvPr id="4" name="Rectangle 3">
            <a:extLst>
              <a:ext uri="{FF2B5EF4-FFF2-40B4-BE49-F238E27FC236}">
                <a16:creationId xmlns:a16="http://schemas.microsoft.com/office/drawing/2014/main" id="{86525DA0-471C-5846-4260-84AB6909759D}"/>
              </a:ext>
            </a:extLst>
          </p:cNvPr>
          <p:cNvSpPr/>
          <p:nvPr/>
        </p:nvSpPr>
        <p:spPr>
          <a:xfrm>
            <a:off x="-1" y="0"/>
            <a:ext cx="51931" cy="6917267"/>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146253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970DC06-C74C-33A8-FE8E-AC4E1306C556}"/>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7" name="TextBox 6">
            <a:extLst>
              <a:ext uri="{FF2B5EF4-FFF2-40B4-BE49-F238E27FC236}">
                <a16:creationId xmlns:a16="http://schemas.microsoft.com/office/drawing/2014/main" id="{C64B4396-3214-EA5F-4837-70122B7F67B1}"/>
              </a:ext>
            </a:extLst>
          </p:cNvPr>
          <p:cNvSpPr txBox="1"/>
          <p:nvPr/>
        </p:nvSpPr>
        <p:spPr>
          <a:xfrm>
            <a:off x="566022" y="1082484"/>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KEY VISUALIZATION 1 </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9" name="TextBox 8">
            <a:extLst>
              <a:ext uri="{FF2B5EF4-FFF2-40B4-BE49-F238E27FC236}">
                <a16:creationId xmlns:a16="http://schemas.microsoft.com/office/drawing/2014/main" id="{BD647F6A-C3BE-B1CF-D0E3-DF134809E9D7}"/>
              </a:ext>
            </a:extLst>
          </p:cNvPr>
          <p:cNvSpPr txBox="1"/>
          <p:nvPr/>
        </p:nvSpPr>
        <p:spPr>
          <a:xfrm>
            <a:off x="566022" y="1468348"/>
            <a:ext cx="11625978"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Mental Health Scores vs Daily Social Media Usage</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38" name="object 7">
            <a:extLst>
              <a:ext uri="{FF2B5EF4-FFF2-40B4-BE49-F238E27FC236}">
                <a16:creationId xmlns:a16="http://schemas.microsoft.com/office/drawing/2014/main" id="{C29E4EF0-70F5-2E62-5AEE-6FE7A3939402}"/>
              </a:ext>
            </a:extLst>
          </p:cNvPr>
          <p:cNvSpPr txBox="1"/>
          <p:nvPr/>
        </p:nvSpPr>
        <p:spPr>
          <a:xfrm>
            <a:off x="809059" y="9797185"/>
            <a:ext cx="139976" cy="201978"/>
          </a:xfrm>
          <a:prstGeom prst="rect">
            <a:avLst/>
          </a:prstGeom>
        </p:spPr>
        <p:txBody>
          <a:bodyPr vert="horz" wrap="square" lIns="0" tIns="17145" rIns="0" bIns="0" rtlCol="0">
            <a:spAutoFit/>
          </a:bodyPr>
          <a:lstStyle/>
          <a:p>
            <a:pPr marL="12700">
              <a:lnSpc>
                <a:spcPct val="100000"/>
              </a:lnSpc>
              <a:spcBef>
                <a:spcPts val="135"/>
              </a:spcBef>
            </a:pPr>
            <a:r>
              <a:rPr sz="1200" spc="-50" dirty="0">
                <a:solidFill>
                  <a:srgbClr val="D1D0CD"/>
                </a:solidFill>
                <a:latin typeface="Arial MT"/>
                <a:cs typeface="Arial MT"/>
              </a:rPr>
              <a:t>0</a:t>
            </a:r>
            <a:endParaRPr sz="1200">
              <a:latin typeface="Arial MT"/>
              <a:cs typeface="Arial MT"/>
            </a:endParaRPr>
          </a:p>
        </p:txBody>
      </p:sp>
      <p:sp>
        <p:nvSpPr>
          <p:cNvPr id="39" name="object 8">
            <a:extLst>
              <a:ext uri="{FF2B5EF4-FFF2-40B4-BE49-F238E27FC236}">
                <a16:creationId xmlns:a16="http://schemas.microsoft.com/office/drawing/2014/main" id="{B3E91BFB-FBCE-40DF-33EE-3E3BC90FC770}"/>
              </a:ext>
            </a:extLst>
          </p:cNvPr>
          <p:cNvSpPr txBox="1"/>
          <p:nvPr/>
        </p:nvSpPr>
        <p:spPr>
          <a:xfrm>
            <a:off x="809059" y="7810377"/>
            <a:ext cx="139976" cy="201978"/>
          </a:xfrm>
          <a:prstGeom prst="rect">
            <a:avLst/>
          </a:prstGeom>
        </p:spPr>
        <p:txBody>
          <a:bodyPr vert="horz" wrap="square" lIns="0" tIns="17145" rIns="0" bIns="0" rtlCol="0">
            <a:spAutoFit/>
          </a:bodyPr>
          <a:lstStyle/>
          <a:p>
            <a:pPr marL="12700">
              <a:lnSpc>
                <a:spcPct val="100000"/>
              </a:lnSpc>
              <a:spcBef>
                <a:spcPts val="135"/>
              </a:spcBef>
            </a:pPr>
            <a:r>
              <a:rPr sz="1200" spc="-50" dirty="0">
                <a:solidFill>
                  <a:srgbClr val="D1D0CD"/>
                </a:solidFill>
                <a:latin typeface="Arial MT"/>
                <a:cs typeface="Arial MT"/>
              </a:rPr>
              <a:t>1</a:t>
            </a:r>
            <a:endParaRPr sz="1200">
              <a:latin typeface="Arial MT"/>
              <a:cs typeface="Arial MT"/>
            </a:endParaRPr>
          </a:p>
        </p:txBody>
      </p:sp>
      <p:pic>
        <p:nvPicPr>
          <p:cNvPr id="2063" name="Picture 2062">
            <a:extLst>
              <a:ext uri="{FF2B5EF4-FFF2-40B4-BE49-F238E27FC236}">
                <a16:creationId xmlns:a16="http://schemas.microsoft.com/office/drawing/2014/main" id="{91D597AB-A27B-7D3C-8FC5-B71A08C09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022" y="2370667"/>
            <a:ext cx="6484692" cy="4267406"/>
          </a:xfrm>
          <a:prstGeom prst="rect">
            <a:avLst/>
          </a:prstGeom>
        </p:spPr>
      </p:pic>
      <p:sp>
        <p:nvSpPr>
          <p:cNvPr id="2077" name="Text 27">
            <a:extLst>
              <a:ext uri="{FF2B5EF4-FFF2-40B4-BE49-F238E27FC236}">
                <a16:creationId xmlns:a16="http://schemas.microsoft.com/office/drawing/2014/main" id="{12ECCF5A-00AD-B4A0-8ACB-4621C30D9947}"/>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07 / 14</a:t>
            </a:r>
            <a:endParaRPr lang="en-US" sz="1125" dirty="0">
              <a:ln>
                <a:solidFill>
                  <a:schemeClr val="bg1">
                    <a:lumMod val="65000"/>
                  </a:schemeClr>
                </a:solidFill>
              </a:ln>
            </a:endParaRPr>
          </a:p>
        </p:txBody>
      </p:sp>
      <p:sp>
        <p:nvSpPr>
          <p:cNvPr id="2" name="Rectangle 1">
            <a:extLst>
              <a:ext uri="{FF2B5EF4-FFF2-40B4-BE49-F238E27FC236}">
                <a16:creationId xmlns:a16="http://schemas.microsoft.com/office/drawing/2014/main" id="{948645C1-4FAD-5A38-A54C-371FD8B649BA}"/>
              </a:ext>
            </a:extLst>
          </p:cNvPr>
          <p:cNvSpPr/>
          <p:nvPr/>
        </p:nvSpPr>
        <p:spPr>
          <a:xfrm>
            <a:off x="7456453" y="2848349"/>
            <a:ext cx="1955800" cy="1161301"/>
          </a:xfrm>
          <a:prstGeom prst="rect">
            <a:avLst/>
          </a:prstGeom>
          <a:solidFill>
            <a:srgbClr val="215287"/>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b="1" dirty="0">
              <a:solidFill>
                <a:schemeClr val="bg1"/>
              </a:solidFill>
            </a:endParaRPr>
          </a:p>
          <a:p>
            <a:pPr algn="ctr"/>
            <a:r>
              <a:rPr lang="en-IN" b="1" dirty="0">
                <a:solidFill>
                  <a:schemeClr val="bg1"/>
                </a:solidFill>
              </a:rPr>
              <a:t>Higher Usage</a:t>
            </a:r>
          </a:p>
          <a:p>
            <a:pPr algn="ctr"/>
            <a:endParaRPr lang="en-IN" sz="900" dirty="0">
              <a:solidFill>
                <a:schemeClr val="bg1"/>
              </a:solidFill>
            </a:endParaRPr>
          </a:p>
          <a:p>
            <a:pPr algn="ctr"/>
            <a:r>
              <a:rPr lang="en-IN" sz="1200" dirty="0">
                <a:solidFill>
                  <a:schemeClr val="bg1"/>
                </a:solidFill>
              </a:rPr>
              <a:t>Mental health scores increase with daily social media usage.</a:t>
            </a:r>
          </a:p>
          <a:p>
            <a:pPr algn="ctr"/>
            <a:endParaRPr lang="en-IN" sz="1600" dirty="0">
              <a:solidFill>
                <a:schemeClr val="bg1"/>
              </a:solidFill>
            </a:endParaRPr>
          </a:p>
        </p:txBody>
      </p:sp>
      <p:sp>
        <p:nvSpPr>
          <p:cNvPr id="4" name="Rectangle 3">
            <a:extLst>
              <a:ext uri="{FF2B5EF4-FFF2-40B4-BE49-F238E27FC236}">
                <a16:creationId xmlns:a16="http://schemas.microsoft.com/office/drawing/2014/main" id="{DBC5E3CC-BE78-77B0-066A-D642CC9D50FB}"/>
              </a:ext>
            </a:extLst>
          </p:cNvPr>
          <p:cNvSpPr/>
          <p:nvPr/>
        </p:nvSpPr>
        <p:spPr>
          <a:xfrm>
            <a:off x="9817992" y="2848349"/>
            <a:ext cx="1955800" cy="1161301"/>
          </a:xfrm>
          <a:prstGeom prst="rect">
            <a:avLst/>
          </a:prstGeom>
          <a:solidFill>
            <a:srgbClr val="215287"/>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bg1"/>
                </a:solidFill>
              </a:rPr>
              <a:t>High-Risk</a:t>
            </a:r>
            <a:r>
              <a:rPr lang="en-IN" sz="2000" b="1" dirty="0">
                <a:solidFill>
                  <a:schemeClr val="bg1"/>
                </a:solidFill>
              </a:rPr>
              <a:t> Users</a:t>
            </a:r>
            <a:endParaRPr lang="en-IN" sz="2000" dirty="0">
              <a:solidFill>
                <a:schemeClr val="bg1"/>
              </a:solidFill>
            </a:endParaRPr>
          </a:p>
          <a:p>
            <a:pPr algn="ctr"/>
            <a:endParaRPr lang="en-IN" sz="700" dirty="0">
              <a:solidFill>
                <a:schemeClr val="bg1"/>
              </a:solidFill>
            </a:endParaRPr>
          </a:p>
          <a:p>
            <a:pPr algn="ctr"/>
            <a:r>
              <a:rPr lang="en-IN" sz="1200" dirty="0">
                <a:solidFill>
                  <a:schemeClr val="bg1"/>
                </a:solidFill>
              </a:rPr>
              <a:t>Users spending more than 5 hours/day report higher depression and worry</a:t>
            </a:r>
            <a:r>
              <a:rPr lang="en-IN" sz="1400" dirty="0">
                <a:solidFill>
                  <a:schemeClr val="bg1"/>
                </a:solidFill>
              </a:rPr>
              <a:t>.</a:t>
            </a:r>
          </a:p>
        </p:txBody>
      </p:sp>
      <p:sp>
        <p:nvSpPr>
          <p:cNvPr id="8" name="Rectangle 7">
            <a:extLst>
              <a:ext uri="{FF2B5EF4-FFF2-40B4-BE49-F238E27FC236}">
                <a16:creationId xmlns:a16="http://schemas.microsoft.com/office/drawing/2014/main" id="{2AC26EAF-C1D5-6764-EC76-94751490B13F}"/>
              </a:ext>
            </a:extLst>
          </p:cNvPr>
          <p:cNvSpPr/>
          <p:nvPr/>
        </p:nvSpPr>
        <p:spPr>
          <a:xfrm>
            <a:off x="7456453" y="4342030"/>
            <a:ext cx="1955800" cy="1161301"/>
          </a:xfrm>
          <a:prstGeom prst="rect">
            <a:avLst/>
          </a:prstGeom>
          <a:solidFill>
            <a:srgbClr val="215287"/>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t>Sleep Impact</a:t>
            </a:r>
          </a:p>
          <a:p>
            <a:pPr algn="ctr"/>
            <a:endParaRPr lang="en-IN" sz="700" dirty="0"/>
          </a:p>
          <a:p>
            <a:pPr algn="ctr"/>
            <a:r>
              <a:rPr lang="en-IN" sz="1200" dirty="0"/>
              <a:t>Longer screen time is associated with increased sleep issues.</a:t>
            </a:r>
          </a:p>
        </p:txBody>
      </p:sp>
      <p:sp>
        <p:nvSpPr>
          <p:cNvPr id="11" name="Rectangle 10">
            <a:extLst>
              <a:ext uri="{FF2B5EF4-FFF2-40B4-BE49-F238E27FC236}">
                <a16:creationId xmlns:a16="http://schemas.microsoft.com/office/drawing/2014/main" id="{8D380A37-307B-1EC2-F131-B5C252456B70}"/>
              </a:ext>
            </a:extLst>
          </p:cNvPr>
          <p:cNvSpPr/>
          <p:nvPr/>
        </p:nvSpPr>
        <p:spPr>
          <a:xfrm>
            <a:off x="9817992" y="4342030"/>
            <a:ext cx="1955800" cy="1161301"/>
          </a:xfrm>
          <a:prstGeom prst="rect">
            <a:avLst/>
          </a:prstGeom>
          <a:solidFill>
            <a:srgbClr val="215287"/>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bg1"/>
                </a:solidFill>
              </a:rPr>
              <a:t>Overall Finding</a:t>
            </a:r>
          </a:p>
          <a:p>
            <a:pPr algn="ctr"/>
            <a:endParaRPr lang="en-IN" sz="700" dirty="0">
              <a:solidFill>
                <a:schemeClr val="bg1"/>
              </a:solidFill>
            </a:endParaRPr>
          </a:p>
          <a:p>
            <a:pPr algn="ctr"/>
            <a:r>
              <a:rPr lang="en-IN" sz="1200" dirty="0">
                <a:solidFill>
                  <a:schemeClr val="bg1"/>
                </a:solidFill>
              </a:rPr>
              <a:t>Lower daily usage is linked with better mental well-being.</a:t>
            </a:r>
          </a:p>
        </p:txBody>
      </p:sp>
      <p:sp>
        <p:nvSpPr>
          <p:cNvPr id="13" name="Rectangle 12">
            <a:extLst>
              <a:ext uri="{FF2B5EF4-FFF2-40B4-BE49-F238E27FC236}">
                <a16:creationId xmlns:a16="http://schemas.microsoft.com/office/drawing/2014/main" id="{DE7F1251-9182-2971-6FEA-44B2AAC49C37}"/>
              </a:ext>
            </a:extLst>
          </p:cNvPr>
          <p:cNvSpPr/>
          <p:nvPr/>
        </p:nvSpPr>
        <p:spPr>
          <a:xfrm>
            <a:off x="-1" y="0"/>
            <a:ext cx="51931" cy="6917267"/>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4492287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CAB415-D3C3-4934-789D-1C441DE29C50}"/>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5" name="TextBox 4">
            <a:extLst>
              <a:ext uri="{FF2B5EF4-FFF2-40B4-BE49-F238E27FC236}">
                <a16:creationId xmlns:a16="http://schemas.microsoft.com/office/drawing/2014/main" id="{E00D7E22-8ECF-CB90-4F62-87DA86DC6FCF}"/>
              </a:ext>
            </a:extLst>
          </p:cNvPr>
          <p:cNvSpPr txBox="1"/>
          <p:nvPr/>
        </p:nvSpPr>
        <p:spPr>
          <a:xfrm>
            <a:off x="514020" y="939167"/>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KEY VISUALIZATION 2 </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7" name="TextBox 6">
            <a:extLst>
              <a:ext uri="{FF2B5EF4-FFF2-40B4-BE49-F238E27FC236}">
                <a16:creationId xmlns:a16="http://schemas.microsoft.com/office/drawing/2014/main" id="{BFAF3BCA-CE4D-9E1E-7722-A0C658CA13AB}"/>
              </a:ext>
            </a:extLst>
          </p:cNvPr>
          <p:cNvSpPr txBox="1"/>
          <p:nvPr/>
        </p:nvSpPr>
        <p:spPr>
          <a:xfrm>
            <a:off x="514020" y="1342435"/>
            <a:ext cx="11625978"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Mental Health by Social Media Platform</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11" name="Text 27">
            <a:extLst>
              <a:ext uri="{FF2B5EF4-FFF2-40B4-BE49-F238E27FC236}">
                <a16:creationId xmlns:a16="http://schemas.microsoft.com/office/drawing/2014/main" id="{443AA74F-F3F4-D3E5-0805-66D3D5B44FF9}"/>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08 / 14</a:t>
            </a:r>
            <a:endParaRPr lang="en-US" sz="1125" dirty="0">
              <a:ln>
                <a:solidFill>
                  <a:schemeClr val="bg1">
                    <a:lumMod val="65000"/>
                  </a:schemeClr>
                </a:solidFill>
              </a:ln>
            </a:endParaRPr>
          </a:p>
        </p:txBody>
      </p:sp>
      <p:pic>
        <p:nvPicPr>
          <p:cNvPr id="4" name="Picture 3">
            <a:extLst>
              <a:ext uri="{FF2B5EF4-FFF2-40B4-BE49-F238E27FC236}">
                <a16:creationId xmlns:a16="http://schemas.microsoft.com/office/drawing/2014/main" id="{52BC3EDD-3784-53B0-879F-B179EE014BE5}"/>
              </a:ext>
            </a:extLst>
          </p:cNvPr>
          <p:cNvPicPr>
            <a:picLocks noChangeAspect="1"/>
          </p:cNvPicPr>
          <p:nvPr/>
        </p:nvPicPr>
        <p:blipFill>
          <a:blip r:embed="rId2">
            <a:extLst>
              <a:ext uri="{28A0092B-C50C-407E-A947-70E740481C1C}">
                <a14:useLocalDpi xmlns:a14="http://schemas.microsoft.com/office/drawing/2010/main" val="0"/>
              </a:ext>
            </a:extLst>
          </a:blip>
          <a:srcRect l="2763" t="3900" r="3246" b="4269"/>
          <a:stretch>
            <a:fillRect/>
          </a:stretch>
        </p:blipFill>
        <p:spPr>
          <a:xfrm>
            <a:off x="581754" y="2311597"/>
            <a:ext cx="8475134" cy="3999391"/>
          </a:xfrm>
          <a:prstGeom prst="rect">
            <a:avLst/>
          </a:prstGeom>
        </p:spPr>
      </p:pic>
      <p:sp>
        <p:nvSpPr>
          <p:cNvPr id="15" name="Flowchart: Alternate Process 14">
            <a:extLst>
              <a:ext uri="{FF2B5EF4-FFF2-40B4-BE49-F238E27FC236}">
                <a16:creationId xmlns:a16="http://schemas.microsoft.com/office/drawing/2014/main" id="{54F90488-4FBF-F1ED-7BE3-F09BEEA4502F}"/>
              </a:ext>
            </a:extLst>
          </p:cNvPr>
          <p:cNvSpPr/>
          <p:nvPr/>
        </p:nvSpPr>
        <p:spPr>
          <a:xfrm>
            <a:off x="9586712" y="2558692"/>
            <a:ext cx="2023534" cy="1168400"/>
          </a:xfrm>
          <a:prstGeom prst="flowChartAlternateProcess">
            <a:avLst/>
          </a:prstGeom>
          <a:solidFill>
            <a:schemeClr val="bg2">
              <a:lumMod val="7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900" b="1" dirty="0"/>
          </a:p>
        </p:txBody>
      </p:sp>
      <p:sp>
        <p:nvSpPr>
          <p:cNvPr id="17" name="Flowchart: Alternate Process 16">
            <a:extLst>
              <a:ext uri="{FF2B5EF4-FFF2-40B4-BE49-F238E27FC236}">
                <a16:creationId xmlns:a16="http://schemas.microsoft.com/office/drawing/2014/main" id="{D1746FB2-8C8E-6614-76C3-1E4A445E5FD5}"/>
              </a:ext>
            </a:extLst>
          </p:cNvPr>
          <p:cNvSpPr/>
          <p:nvPr/>
        </p:nvSpPr>
        <p:spPr>
          <a:xfrm>
            <a:off x="9649713" y="2621268"/>
            <a:ext cx="1894190" cy="1046084"/>
          </a:xfrm>
          <a:prstGeom prst="flowChartAlternateProcess">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900" b="1" dirty="0"/>
              <a:t>Highest Score</a:t>
            </a:r>
          </a:p>
          <a:p>
            <a:pPr algn="ctr"/>
            <a:endParaRPr lang="en-US" sz="700" b="1" dirty="0"/>
          </a:p>
          <a:p>
            <a:pPr algn="ctr"/>
            <a:r>
              <a:rPr lang="en-US" sz="1600" dirty="0"/>
              <a:t>TikTok</a:t>
            </a:r>
            <a:endParaRPr lang="en-IN" sz="1100" dirty="0"/>
          </a:p>
        </p:txBody>
      </p:sp>
      <p:sp>
        <p:nvSpPr>
          <p:cNvPr id="19" name="Flowchart: Alternate Process 18">
            <a:extLst>
              <a:ext uri="{FF2B5EF4-FFF2-40B4-BE49-F238E27FC236}">
                <a16:creationId xmlns:a16="http://schemas.microsoft.com/office/drawing/2014/main" id="{D0CADB5D-6850-9E94-02C7-8E02E535B2C7}"/>
              </a:ext>
            </a:extLst>
          </p:cNvPr>
          <p:cNvSpPr/>
          <p:nvPr/>
        </p:nvSpPr>
        <p:spPr>
          <a:xfrm>
            <a:off x="9585041" y="3911984"/>
            <a:ext cx="2023534" cy="1168400"/>
          </a:xfrm>
          <a:prstGeom prst="flowChartAlternateProcess">
            <a:avLst/>
          </a:prstGeom>
          <a:solidFill>
            <a:schemeClr val="bg2">
              <a:lumMod val="7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900" b="1" dirty="0"/>
          </a:p>
        </p:txBody>
      </p:sp>
      <p:sp>
        <p:nvSpPr>
          <p:cNvPr id="21" name="Flowchart: Alternate Process 20">
            <a:extLst>
              <a:ext uri="{FF2B5EF4-FFF2-40B4-BE49-F238E27FC236}">
                <a16:creationId xmlns:a16="http://schemas.microsoft.com/office/drawing/2014/main" id="{DEEE19A8-40DE-C692-8025-7264765102E2}"/>
              </a:ext>
            </a:extLst>
          </p:cNvPr>
          <p:cNvSpPr/>
          <p:nvPr/>
        </p:nvSpPr>
        <p:spPr>
          <a:xfrm>
            <a:off x="9648042" y="3974560"/>
            <a:ext cx="1894190" cy="1046084"/>
          </a:xfrm>
          <a:prstGeom prst="flowChartAlternateProcess">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900" b="1" dirty="0"/>
              <a:t>Lowest Score</a:t>
            </a:r>
          </a:p>
          <a:p>
            <a:pPr algn="ctr"/>
            <a:endParaRPr lang="en-US" sz="700" b="1" dirty="0"/>
          </a:p>
          <a:p>
            <a:pPr algn="ctr"/>
            <a:r>
              <a:rPr lang="en-US" sz="1400" dirty="0"/>
              <a:t>Reddit</a:t>
            </a:r>
          </a:p>
          <a:p>
            <a:pPr algn="ctr"/>
            <a:r>
              <a:rPr lang="en-US" sz="1400" dirty="0"/>
              <a:t>YouTube</a:t>
            </a:r>
            <a:endParaRPr lang="en-IN" sz="1050" dirty="0"/>
          </a:p>
        </p:txBody>
      </p:sp>
      <p:sp>
        <p:nvSpPr>
          <p:cNvPr id="23" name="Flowchart: Alternate Process 22">
            <a:extLst>
              <a:ext uri="{FF2B5EF4-FFF2-40B4-BE49-F238E27FC236}">
                <a16:creationId xmlns:a16="http://schemas.microsoft.com/office/drawing/2014/main" id="{E5AFB640-348E-0124-89FE-9E2A267B7B3A}"/>
              </a:ext>
            </a:extLst>
          </p:cNvPr>
          <p:cNvSpPr/>
          <p:nvPr/>
        </p:nvSpPr>
        <p:spPr>
          <a:xfrm>
            <a:off x="9586712" y="5280527"/>
            <a:ext cx="2023534" cy="1168400"/>
          </a:xfrm>
          <a:prstGeom prst="flowChartAlternateProcess">
            <a:avLst/>
          </a:prstGeom>
          <a:solidFill>
            <a:schemeClr val="bg2">
              <a:lumMod val="7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900" b="1" dirty="0"/>
          </a:p>
        </p:txBody>
      </p:sp>
      <p:sp>
        <p:nvSpPr>
          <p:cNvPr id="25" name="Flowchart: Alternate Process 24">
            <a:extLst>
              <a:ext uri="{FF2B5EF4-FFF2-40B4-BE49-F238E27FC236}">
                <a16:creationId xmlns:a16="http://schemas.microsoft.com/office/drawing/2014/main" id="{776019A4-45EC-85AB-E783-98F750172ED3}"/>
              </a:ext>
            </a:extLst>
          </p:cNvPr>
          <p:cNvSpPr/>
          <p:nvPr/>
        </p:nvSpPr>
        <p:spPr>
          <a:xfrm>
            <a:off x="9649713" y="5343103"/>
            <a:ext cx="1894190" cy="1046084"/>
          </a:xfrm>
          <a:prstGeom prst="flowChartAlternateProcess">
            <a:avLst/>
          </a:prstGeom>
          <a:solidFill>
            <a:srgbClr val="215287"/>
          </a:solidFill>
          <a:ln>
            <a:solidFill>
              <a:srgbClr val="21528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900" b="1" dirty="0"/>
              <a:t>Observation</a:t>
            </a:r>
          </a:p>
          <a:p>
            <a:pPr algn="ctr"/>
            <a:endParaRPr lang="en-US" sz="700" b="1" dirty="0"/>
          </a:p>
          <a:p>
            <a:pPr algn="ctr"/>
            <a:r>
              <a:rPr lang="en-US" sz="1300" dirty="0"/>
              <a:t>Platform choice</a:t>
            </a:r>
          </a:p>
          <a:p>
            <a:pPr algn="ctr"/>
            <a:r>
              <a:rPr lang="en-US" sz="1300" dirty="0"/>
              <a:t>Influences outcomes</a:t>
            </a:r>
            <a:endParaRPr lang="en-IN" sz="1300" dirty="0"/>
          </a:p>
        </p:txBody>
      </p:sp>
      <p:sp>
        <p:nvSpPr>
          <p:cNvPr id="26" name="Rectangle 25">
            <a:extLst>
              <a:ext uri="{FF2B5EF4-FFF2-40B4-BE49-F238E27FC236}">
                <a16:creationId xmlns:a16="http://schemas.microsoft.com/office/drawing/2014/main" id="{9392A834-9493-10C0-C908-A2B149AF269A}"/>
              </a:ext>
            </a:extLst>
          </p:cNvPr>
          <p:cNvSpPr/>
          <p:nvPr/>
        </p:nvSpPr>
        <p:spPr>
          <a:xfrm>
            <a:off x="-1" y="0"/>
            <a:ext cx="51931" cy="6917267"/>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3B08E767-E53C-2832-9492-532247C1862D}"/>
              </a:ext>
            </a:extLst>
          </p:cNvPr>
          <p:cNvSpPr/>
          <p:nvPr/>
        </p:nvSpPr>
        <p:spPr>
          <a:xfrm>
            <a:off x="581754" y="6389187"/>
            <a:ext cx="8475134" cy="468813"/>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buNone/>
            </a:pPr>
            <a:r>
              <a:rPr lang="en-IN" sz="1100" dirty="0">
                <a:solidFill>
                  <a:schemeClr val="bg2">
                    <a:lumMod val="25000"/>
                  </a:schemeClr>
                </a:solidFill>
              </a:rPr>
              <a:t>🟦 </a:t>
            </a:r>
            <a:r>
              <a:rPr lang="en-IN" sz="1100" b="1" dirty="0">
                <a:solidFill>
                  <a:schemeClr val="bg2">
                    <a:lumMod val="25000"/>
                  </a:schemeClr>
                </a:solidFill>
              </a:rPr>
              <a:t>Highest Score : </a:t>
            </a:r>
            <a:r>
              <a:rPr lang="en-IN" sz="1100" dirty="0">
                <a:solidFill>
                  <a:schemeClr val="bg2">
                    <a:lumMod val="25000"/>
                  </a:schemeClr>
                </a:solidFill>
              </a:rPr>
              <a:t>TikTok users reported the highest depression and worry scores.🟦 </a:t>
            </a:r>
            <a:r>
              <a:rPr lang="en-IN" sz="1100" b="1" dirty="0">
                <a:solidFill>
                  <a:schemeClr val="bg2">
                    <a:lumMod val="25000"/>
                  </a:schemeClr>
                </a:solidFill>
              </a:rPr>
              <a:t>Lower Score: </a:t>
            </a:r>
            <a:r>
              <a:rPr lang="en-IN" sz="1100" dirty="0">
                <a:solidFill>
                  <a:schemeClr val="bg2">
                    <a:lumMod val="25000"/>
                  </a:schemeClr>
                </a:solidFill>
              </a:rPr>
              <a:t>Reddit and YouTube users showed comparatively lower scores.🟦 </a:t>
            </a:r>
            <a:r>
              <a:rPr lang="en-IN" sz="1100" b="1" dirty="0">
                <a:solidFill>
                  <a:schemeClr val="bg2">
                    <a:lumMod val="25000"/>
                  </a:schemeClr>
                </a:solidFill>
              </a:rPr>
              <a:t>Platform Effect: </a:t>
            </a:r>
            <a:r>
              <a:rPr lang="en-IN" sz="1100" dirty="0">
                <a:solidFill>
                  <a:schemeClr val="bg2">
                    <a:lumMod val="25000"/>
                  </a:schemeClr>
                </a:solidFill>
              </a:rPr>
              <a:t>Mental health outcomes vary across social media platforms.🟦</a:t>
            </a:r>
            <a:r>
              <a:rPr lang="en-IN" sz="1100" b="1" dirty="0">
                <a:solidFill>
                  <a:schemeClr val="bg2">
                    <a:lumMod val="25000"/>
                  </a:schemeClr>
                </a:solidFill>
              </a:rPr>
              <a:t>Overall Finding: </a:t>
            </a:r>
            <a:r>
              <a:rPr lang="en-IN" sz="1100" dirty="0">
                <a:solidFill>
                  <a:schemeClr val="bg2">
                    <a:lumMod val="25000"/>
                  </a:schemeClr>
                </a:solidFill>
              </a:rPr>
              <a:t>Platform choice may influence emotional well-being.</a:t>
            </a:r>
          </a:p>
        </p:txBody>
      </p:sp>
    </p:spTree>
    <p:extLst>
      <p:ext uri="{BB962C8B-B14F-4D97-AF65-F5344CB8AC3E}">
        <p14:creationId xmlns:p14="http://schemas.microsoft.com/office/powerpoint/2010/main" val="32578144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446B16B-D6C8-FAE7-7C46-559045AD070F}"/>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4" name="TextBox 3">
            <a:extLst>
              <a:ext uri="{FF2B5EF4-FFF2-40B4-BE49-F238E27FC236}">
                <a16:creationId xmlns:a16="http://schemas.microsoft.com/office/drawing/2014/main" id="{DB8280DF-FEF8-9CA5-3709-8C08205592A1}"/>
              </a:ext>
            </a:extLst>
          </p:cNvPr>
          <p:cNvSpPr txBox="1"/>
          <p:nvPr/>
        </p:nvSpPr>
        <p:spPr>
          <a:xfrm>
            <a:off x="514020" y="939167"/>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KEY VISUALIZATION 3 </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6" name="TextBox 5">
            <a:extLst>
              <a:ext uri="{FF2B5EF4-FFF2-40B4-BE49-F238E27FC236}">
                <a16:creationId xmlns:a16="http://schemas.microsoft.com/office/drawing/2014/main" id="{EFBDBE86-40F4-241E-DB01-2849205C786D}"/>
              </a:ext>
            </a:extLst>
          </p:cNvPr>
          <p:cNvSpPr txBox="1"/>
          <p:nvPr/>
        </p:nvSpPr>
        <p:spPr>
          <a:xfrm>
            <a:off x="514020" y="1342435"/>
            <a:ext cx="11625978" cy="1200329"/>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Depression &amp; Worry Rise with Social Comparison Frequency</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pic>
        <p:nvPicPr>
          <p:cNvPr id="10" name="Picture 9">
            <a:extLst>
              <a:ext uri="{FF2B5EF4-FFF2-40B4-BE49-F238E27FC236}">
                <a16:creationId xmlns:a16="http://schemas.microsoft.com/office/drawing/2014/main" id="{A51001B4-4404-2097-257E-4C08667176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9866" y="2175933"/>
            <a:ext cx="8237934" cy="4030133"/>
          </a:xfrm>
          <a:prstGeom prst="rect">
            <a:avLst/>
          </a:prstGeom>
        </p:spPr>
      </p:pic>
      <p:sp>
        <p:nvSpPr>
          <p:cNvPr id="11" name="Arrow: Right 10">
            <a:extLst>
              <a:ext uri="{FF2B5EF4-FFF2-40B4-BE49-F238E27FC236}">
                <a16:creationId xmlns:a16="http://schemas.microsoft.com/office/drawing/2014/main" id="{31B51A9D-51FD-7BB0-D007-8E2BE543A520}"/>
              </a:ext>
            </a:extLst>
          </p:cNvPr>
          <p:cNvSpPr/>
          <p:nvPr/>
        </p:nvSpPr>
        <p:spPr>
          <a:xfrm>
            <a:off x="643467" y="2717800"/>
            <a:ext cx="2582333" cy="982133"/>
          </a:xfrm>
          <a:prstGeom prst="rightArrow">
            <a:avLst>
              <a:gd name="adj1" fmla="val 50000"/>
              <a:gd name="adj2" fmla="val 73256"/>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a:p>
            <a:pPr algn="ctr"/>
            <a:r>
              <a:rPr lang="en-IN" b="1" dirty="0"/>
              <a:t>Social Comparison</a:t>
            </a:r>
          </a:p>
          <a:p>
            <a:pPr algn="ctr"/>
            <a:endParaRPr lang="en-IN" dirty="0"/>
          </a:p>
        </p:txBody>
      </p:sp>
      <p:sp>
        <p:nvSpPr>
          <p:cNvPr id="19" name="Arrow: Right 18">
            <a:extLst>
              <a:ext uri="{FF2B5EF4-FFF2-40B4-BE49-F238E27FC236}">
                <a16:creationId xmlns:a16="http://schemas.microsoft.com/office/drawing/2014/main" id="{CB5DBD36-0F74-5EE8-834E-42E58B9B5F29}"/>
              </a:ext>
            </a:extLst>
          </p:cNvPr>
          <p:cNvSpPr/>
          <p:nvPr/>
        </p:nvSpPr>
        <p:spPr>
          <a:xfrm>
            <a:off x="643466" y="3970867"/>
            <a:ext cx="2582333" cy="982133"/>
          </a:xfrm>
          <a:prstGeom prst="rightArrow">
            <a:avLst>
              <a:gd name="adj1" fmla="val 50000"/>
              <a:gd name="adj2" fmla="val 73256"/>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t>Key Finding</a:t>
            </a:r>
          </a:p>
        </p:txBody>
      </p:sp>
      <p:sp>
        <p:nvSpPr>
          <p:cNvPr id="21" name="Arrow: Right 20">
            <a:extLst>
              <a:ext uri="{FF2B5EF4-FFF2-40B4-BE49-F238E27FC236}">
                <a16:creationId xmlns:a16="http://schemas.microsoft.com/office/drawing/2014/main" id="{779BB7C2-F5A7-5020-A676-79384BF7D091}"/>
              </a:ext>
            </a:extLst>
          </p:cNvPr>
          <p:cNvSpPr/>
          <p:nvPr/>
        </p:nvSpPr>
        <p:spPr>
          <a:xfrm>
            <a:off x="643466" y="5223934"/>
            <a:ext cx="2582333" cy="982133"/>
          </a:xfrm>
          <a:prstGeom prst="rightArrow">
            <a:avLst>
              <a:gd name="adj1" fmla="val 50000"/>
              <a:gd name="adj2" fmla="val 73256"/>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a:p>
            <a:pPr algn="ctr"/>
            <a:r>
              <a:rPr lang="en-IN" b="1" dirty="0"/>
              <a:t>Higher Worry</a:t>
            </a:r>
          </a:p>
          <a:p>
            <a:pPr algn="ctr"/>
            <a:endParaRPr lang="en-IN" dirty="0"/>
          </a:p>
        </p:txBody>
      </p:sp>
      <p:sp>
        <p:nvSpPr>
          <p:cNvPr id="23" name="Rectangle 22">
            <a:extLst>
              <a:ext uri="{FF2B5EF4-FFF2-40B4-BE49-F238E27FC236}">
                <a16:creationId xmlns:a16="http://schemas.microsoft.com/office/drawing/2014/main" id="{936484D0-53F0-5F56-7B5E-52050797937F}"/>
              </a:ext>
            </a:extLst>
          </p:cNvPr>
          <p:cNvSpPr/>
          <p:nvPr/>
        </p:nvSpPr>
        <p:spPr>
          <a:xfrm>
            <a:off x="-1" y="0"/>
            <a:ext cx="51931" cy="6917267"/>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C8C7CA5F-326C-CD1E-EC41-12AB960EE80A}"/>
              </a:ext>
            </a:extLst>
          </p:cNvPr>
          <p:cNvSpPr/>
          <p:nvPr/>
        </p:nvSpPr>
        <p:spPr>
          <a:xfrm>
            <a:off x="643466" y="6295612"/>
            <a:ext cx="10964334" cy="48453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1200" dirty="0">
                <a:solidFill>
                  <a:schemeClr val="bg2">
                    <a:lumMod val="25000"/>
                  </a:schemeClr>
                </a:solidFill>
              </a:rPr>
              <a:t>🟦 </a:t>
            </a:r>
            <a:r>
              <a:rPr lang="en-IN" sz="1200" b="1" dirty="0">
                <a:solidFill>
                  <a:schemeClr val="bg2">
                    <a:lumMod val="25000"/>
                  </a:schemeClr>
                </a:solidFill>
              </a:rPr>
              <a:t>Social Comparison: </a:t>
            </a:r>
            <a:r>
              <a:rPr lang="en-IN" sz="1200" dirty="0">
                <a:solidFill>
                  <a:schemeClr val="bg2">
                    <a:lumMod val="25000"/>
                  </a:schemeClr>
                </a:solidFill>
              </a:rPr>
              <a:t>Frequent comparison increases depression levels.🟦 </a:t>
            </a:r>
            <a:r>
              <a:rPr lang="en-IN" sz="1200" b="1" dirty="0">
                <a:solidFill>
                  <a:schemeClr val="bg2">
                    <a:lumMod val="25000"/>
                  </a:schemeClr>
                </a:solidFill>
              </a:rPr>
              <a:t>Worry:</a:t>
            </a:r>
            <a:r>
              <a:rPr lang="en-IN" sz="1200" dirty="0">
                <a:solidFill>
                  <a:schemeClr val="bg2">
                    <a:lumMod val="25000"/>
                  </a:schemeClr>
                </a:solidFill>
              </a:rPr>
              <a:t> scores rise as comparison frequency increases.</a:t>
            </a:r>
          </a:p>
          <a:p>
            <a:r>
              <a:rPr lang="en-IN" sz="1200" dirty="0">
                <a:solidFill>
                  <a:schemeClr val="bg2">
                    <a:lumMod val="25000"/>
                  </a:schemeClr>
                </a:solidFill>
              </a:rPr>
              <a:t>🟦 </a:t>
            </a:r>
            <a:r>
              <a:rPr lang="en-IN" sz="1200" b="1" dirty="0">
                <a:solidFill>
                  <a:schemeClr val="bg2">
                    <a:lumMod val="25000"/>
                  </a:schemeClr>
                </a:solidFill>
              </a:rPr>
              <a:t>Behaviour :</a:t>
            </a:r>
            <a:r>
              <a:rPr lang="en-IN" sz="1200" dirty="0">
                <a:solidFill>
                  <a:schemeClr val="bg2">
                    <a:lumMod val="25000"/>
                  </a:schemeClr>
                </a:solidFill>
              </a:rPr>
              <a:t>Comparing with others negatively affects mental health.🟦 </a:t>
            </a:r>
            <a:r>
              <a:rPr lang="en-IN" sz="1200" b="1" dirty="0">
                <a:solidFill>
                  <a:schemeClr val="bg2">
                    <a:lumMod val="25000"/>
                  </a:schemeClr>
                </a:solidFill>
              </a:rPr>
              <a:t>Overall Finding : </a:t>
            </a:r>
            <a:r>
              <a:rPr lang="en-IN" sz="1200" dirty="0">
                <a:solidFill>
                  <a:schemeClr val="bg2">
                    <a:lumMod val="25000"/>
                  </a:schemeClr>
                </a:solidFill>
              </a:rPr>
              <a:t>Social comparison is a major behavioural risk factor</a:t>
            </a:r>
            <a:r>
              <a:rPr lang="en-IN" sz="1600" dirty="0"/>
              <a:t>.</a:t>
            </a:r>
          </a:p>
        </p:txBody>
      </p:sp>
      <p:sp>
        <p:nvSpPr>
          <p:cNvPr id="7" name="Text 27">
            <a:extLst>
              <a:ext uri="{FF2B5EF4-FFF2-40B4-BE49-F238E27FC236}">
                <a16:creationId xmlns:a16="http://schemas.microsoft.com/office/drawing/2014/main" id="{62139670-4BAA-420A-F810-4D9134CD943D}"/>
              </a:ext>
            </a:extLst>
          </p:cNvPr>
          <p:cNvSpPr/>
          <p:nvPr/>
        </p:nvSpPr>
        <p:spPr>
          <a:xfrm>
            <a:off x="11467425" y="6670846"/>
            <a:ext cx="836414" cy="203200"/>
          </a:xfrm>
          <a:prstGeom prst="rect">
            <a:avLst/>
          </a:prstGeom>
          <a:noFill/>
          <a:ln/>
        </p:spPr>
        <p:txBody>
          <a:bodyPr wrap="square" lIns="25400" tIns="25400" rIns="25400" bIns="25400" rtlCol="0" anchor="t">
            <a:normAutofit fontScale="92500" lnSpcReduction="20000"/>
          </a:bodyPr>
          <a:lstStyle/>
          <a:p>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09</a:t>
            </a:r>
            <a:r>
              <a:rPr lang="en-IN" sz="1200" dirty="0"/>
              <a:t> </a:t>
            </a: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 14</a:t>
            </a:r>
            <a:endParaRPr lang="en-US" sz="1125" dirty="0">
              <a:ln>
                <a:solidFill>
                  <a:schemeClr val="bg1">
                    <a:lumMod val="65000"/>
                  </a:schemeClr>
                </a:solidFill>
              </a:ln>
            </a:endParaRPr>
          </a:p>
        </p:txBody>
      </p:sp>
    </p:spTree>
    <p:extLst>
      <p:ext uri="{BB962C8B-B14F-4D97-AF65-F5344CB8AC3E}">
        <p14:creationId xmlns:p14="http://schemas.microsoft.com/office/powerpoint/2010/main" val="3281310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68BD557-B2FD-F1E2-8D35-2D672A05FC18}"/>
              </a:ext>
            </a:extLst>
          </p:cNvPr>
          <p:cNvSpPr txBox="1"/>
          <p:nvPr/>
        </p:nvSpPr>
        <p:spPr>
          <a:xfrm>
            <a:off x="514020" y="939167"/>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KEY VISUALIZATION 4 </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6" name="TextBox 5">
            <a:extLst>
              <a:ext uri="{FF2B5EF4-FFF2-40B4-BE49-F238E27FC236}">
                <a16:creationId xmlns:a16="http://schemas.microsoft.com/office/drawing/2014/main" id="{E34F0B97-0220-311E-FEE8-BA872D44130F}"/>
              </a:ext>
            </a:extLst>
          </p:cNvPr>
          <p:cNvSpPr txBox="1"/>
          <p:nvPr/>
        </p:nvSpPr>
        <p:spPr>
          <a:xfrm>
            <a:off x="514020" y="1342435"/>
            <a:ext cx="11625978" cy="1200329"/>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Poor Sleep and Difficulty Concentrating Rise Together</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10" name="Rectangle 9">
            <a:extLst>
              <a:ext uri="{FF2B5EF4-FFF2-40B4-BE49-F238E27FC236}">
                <a16:creationId xmlns:a16="http://schemas.microsoft.com/office/drawing/2014/main" id="{265F2899-B5B3-8E4B-1B4E-A2D7FC14E669}"/>
              </a:ext>
            </a:extLst>
          </p:cNvPr>
          <p:cNvSpPr/>
          <p:nvPr/>
        </p:nvSpPr>
        <p:spPr>
          <a:xfrm>
            <a:off x="-1" y="0"/>
            <a:ext cx="51931" cy="6917267"/>
          </a:xfrm>
          <a:prstGeom prst="rect">
            <a:avLst/>
          </a:prstGeom>
          <a:solidFill>
            <a:srgbClr val="21528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6" name="Picture 15">
            <a:extLst>
              <a:ext uri="{FF2B5EF4-FFF2-40B4-BE49-F238E27FC236}">
                <a16:creationId xmlns:a16="http://schemas.microsoft.com/office/drawing/2014/main" id="{974FB58E-EC36-A452-2F61-2ED276C4E4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04960" y="2323453"/>
            <a:ext cx="6436638" cy="4243182"/>
          </a:xfrm>
          <a:prstGeom prst="rect">
            <a:avLst/>
          </a:prstGeom>
        </p:spPr>
      </p:pic>
      <p:graphicFrame>
        <p:nvGraphicFramePr>
          <p:cNvPr id="19" name="Diagram 18">
            <a:extLst>
              <a:ext uri="{FF2B5EF4-FFF2-40B4-BE49-F238E27FC236}">
                <a16:creationId xmlns:a16="http://schemas.microsoft.com/office/drawing/2014/main" id="{589A6B84-35FD-D422-7D8A-7E33D8378751}"/>
              </a:ext>
            </a:extLst>
          </p:cNvPr>
          <p:cNvGraphicFramePr/>
          <p:nvPr>
            <p:extLst>
              <p:ext uri="{D42A27DB-BD31-4B8C-83A1-F6EECF244321}">
                <p14:modId xmlns:p14="http://schemas.microsoft.com/office/powerpoint/2010/main" val="3081262049"/>
              </p:ext>
            </p:extLst>
          </p:nvPr>
        </p:nvGraphicFramePr>
        <p:xfrm>
          <a:off x="297463" y="2612411"/>
          <a:ext cx="3384406" cy="39283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3" name="Text 27">
            <a:extLst>
              <a:ext uri="{FF2B5EF4-FFF2-40B4-BE49-F238E27FC236}">
                <a16:creationId xmlns:a16="http://schemas.microsoft.com/office/drawing/2014/main" id="{2D83C714-5CCC-EE09-C862-AB2C1C586EB8}"/>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10 / 14</a:t>
            </a:r>
            <a:endParaRPr lang="en-US" sz="1125" dirty="0">
              <a:ln>
                <a:solidFill>
                  <a:schemeClr val="bg1">
                    <a:lumMod val="65000"/>
                  </a:schemeClr>
                </a:solidFill>
              </a:ln>
            </a:endParaRPr>
          </a:p>
        </p:txBody>
      </p:sp>
    </p:spTree>
    <p:extLst>
      <p:ext uri="{BB962C8B-B14F-4D97-AF65-F5344CB8AC3E}">
        <p14:creationId xmlns:p14="http://schemas.microsoft.com/office/powerpoint/2010/main" val="40059368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7561AE-CB37-65D5-4FFB-AC0D48CD0875}"/>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4" name="TextBox 3">
            <a:extLst>
              <a:ext uri="{FF2B5EF4-FFF2-40B4-BE49-F238E27FC236}">
                <a16:creationId xmlns:a16="http://schemas.microsoft.com/office/drawing/2014/main" id="{CB8DAC37-471F-7DC9-CAC2-68B798FE37C5}"/>
              </a:ext>
            </a:extLst>
          </p:cNvPr>
          <p:cNvSpPr txBox="1"/>
          <p:nvPr/>
        </p:nvSpPr>
        <p:spPr>
          <a:xfrm>
            <a:off x="514020" y="908788"/>
            <a:ext cx="6096000" cy="307777"/>
          </a:xfrm>
          <a:prstGeom prst="rect">
            <a:avLst/>
          </a:prstGeom>
          <a:noFill/>
        </p:spPr>
        <p:txBody>
          <a:bodyPr wrap="square">
            <a:spAutoFit/>
          </a:bodyPr>
          <a:lstStyle/>
          <a:p>
            <a:r>
              <a:rPr lang="en-US"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rPr>
              <a:t>KEY VISUALIZATION 5 </a:t>
            </a:r>
            <a:endParaRPr lang="en-IN" sz="1400" dirty="0">
              <a:solidFill>
                <a:srgbClr val="C0000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6" name="TextBox 5">
            <a:extLst>
              <a:ext uri="{FF2B5EF4-FFF2-40B4-BE49-F238E27FC236}">
                <a16:creationId xmlns:a16="http://schemas.microsoft.com/office/drawing/2014/main" id="{35309C09-36BA-9F86-B58C-13B67163734E}"/>
              </a:ext>
            </a:extLst>
          </p:cNvPr>
          <p:cNvSpPr txBox="1"/>
          <p:nvPr/>
        </p:nvSpPr>
        <p:spPr>
          <a:xfrm>
            <a:off x="514020" y="1176438"/>
            <a:ext cx="11625978"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Key Influencer Analysis &amp; Correlation Heatmap</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pic>
        <p:nvPicPr>
          <p:cNvPr id="14" name="Picture 13">
            <a:extLst>
              <a:ext uri="{FF2B5EF4-FFF2-40B4-BE49-F238E27FC236}">
                <a16:creationId xmlns:a16="http://schemas.microsoft.com/office/drawing/2014/main" id="{49FEF80A-D927-CB02-C4C0-6315ECAAC0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0083" y="2208869"/>
            <a:ext cx="10539373" cy="1966130"/>
          </a:xfrm>
          <a:prstGeom prst="rect">
            <a:avLst/>
          </a:prstGeom>
        </p:spPr>
      </p:pic>
      <p:pic>
        <p:nvPicPr>
          <p:cNvPr id="16" name="Picture 15">
            <a:extLst>
              <a:ext uri="{FF2B5EF4-FFF2-40B4-BE49-F238E27FC236}">
                <a16:creationId xmlns:a16="http://schemas.microsoft.com/office/drawing/2014/main" id="{6208D105-4170-1E51-6B0D-BD4289BA7C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0083" y="4174999"/>
            <a:ext cx="4648108" cy="2605148"/>
          </a:xfrm>
          <a:prstGeom prst="rect">
            <a:avLst/>
          </a:prstGeom>
        </p:spPr>
      </p:pic>
      <p:sp>
        <p:nvSpPr>
          <p:cNvPr id="18" name="TextBox 17">
            <a:extLst>
              <a:ext uri="{FF2B5EF4-FFF2-40B4-BE49-F238E27FC236}">
                <a16:creationId xmlns:a16="http://schemas.microsoft.com/office/drawing/2014/main" id="{BF96802C-FD67-335E-2C09-05F441DA7C1D}"/>
              </a:ext>
            </a:extLst>
          </p:cNvPr>
          <p:cNvSpPr txBox="1"/>
          <p:nvPr/>
        </p:nvSpPr>
        <p:spPr>
          <a:xfrm>
            <a:off x="514020" y="2039566"/>
            <a:ext cx="6540500" cy="307777"/>
          </a:xfrm>
          <a:prstGeom prst="rect">
            <a:avLst/>
          </a:prstGeom>
          <a:noFill/>
        </p:spPr>
        <p:txBody>
          <a:bodyPr wrap="square">
            <a:spAutoFit/>
          </a:bodyPr>
          <a:lstStyle/>
          <a:p>
            <a:r>
              <a:rPr lang="en-US" sz="1400" dirty="0"/>
              <a:t>Correlation</a:t>
            </a:r>
            <a:r>
              <a:rPr lang="en-US" sz="1400" spc="5" dirty="0"/>
              <a:t> </a:t>
            </a:r>
            <a:r>
              <a:rPr lang="en-US" sz="1400" dirty="0"/>
              <a:t>Heatmap</a:t>
            </a:r>
            <a:r>
              <a:rPr lang="en-US" sz="1400" spc="5" dirty="0"/>
              <a:t> </a:t>
            </a:r>
            <a:r>
              <a:rPr lang="en-US" sz="1400" dirty="0"/>
              <a:t>–</a:t>
            </a:r>
            <a:r>
              <a:rPr lang="en-US" sz="1400" spc="5" dirty="0"/>
              <a:t> </a:t>
            </a:r>
            <a:r>
              <a:rPr lang="en-US" sz="1400" dirty="0"/>
              <a:t>Social</a:t>
            </a:r>
            <a:r>
              <a:rPr lang="en-US" sz="1400" spc="5" dirty="0"/>
              <a:t> </a:t>
            </a:r>
            <a:r>
              <a:rPr lang="en-US" sz="1400" dirty="0"/>
              <a:t>Media</a:t>
            </a:r>
            <a:r>
              <a:rPr lang="en-US" sz="1400" spc="5" dirty="0"/>
              <a:t> </a:t>
            </a:r>
            <a:r>
              <a:rPr lang="en-US" sz="1400" dirty="0"/>
              <a:t>Use</a:t>
            </a:r>
            <a:r>
              <a:rPr lang="en-US" sz="1400" spc="5" dirty="0"/>
              <a:t> </a:t>
            </a:r>
            <a:r>
              <a:rPr lang="en-US" sz="1400" dirty="0"/>
              <a:t>&amp;</a:t>
            </a:r>
            <a:r>
              <a:rPr lang="en-US" sz="1400" spc="5" dirty="0"/>
              <a:t> </a:t>
            </a:r>
            <a:r>
              <a:rPr lang="en-US" sz="1400" dirty="0"/>
              <a:t>Mental</a:t>
            </a:r>
            <a:r>
              <a:rPr lang="en-US" sz="1400" spc="5" dirty="0"/>
              <a:t> </a:t>
            </a:r>
            <a:r>
              <a:rPr lang="en-US" sz="1400" dirty="0"/>
              <a:t>Health</a:t>
            </a:r>
            <a:r>
              <a:rPr lang="en-US" sz="1400" spc="5" dirty="0"/>
              <a:t> </a:t>
            </a:r>
            <a:r>
              <a:rPr lang="en-US" sz="1400" spc="-10" dirty="0"/>
              <a:t>Indicators</a:t>
            </a:r>
            <a:endParaRPr lang="en-IN" sz="1400" dirty="0"/>
          </a:p>
        </p:txBody>
      </p:sp>
      <p:graphicFrame>
        <p:nvGraphicFramePr>
          <p:cNvPr id="22" name="Diagram 21">
            <a:extLst>
              <a:ext uri="{FF2B5EF4-FFF2-40B4-BE49-F238E27FC236}">
                <a16:creationId xmlns:a16="http://schemas.microsoft.com/office/drawing/2014/main" id="{276810CD-6CBB-2EDF-426F-36EB63319603}"/>
              </a:ext>
            </a:extLst>
          </p:cNvPr>
          <p:cNvGraphicFramePr/>
          <p:nvPr>
            <p:extLst>
              <p:ext uri="{D42A27DB-BD31-4B8C-83A1-F6EECF244321}">
                <p14:modId xmlns:p14="http://schemas.microsoft.com/office/powerpoint/2010/main" val="697527175"/>
              </p:ext>
            </p:extLst>
          </p:nvPr>
        </p:nvGraphicFramePr>
        <p:xfrm>
          <a:off x="4632960" y="4398619"/>
          <a:ext cx="5146766" cy="22352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24" name="Text 27">
            <a:extLst>
              <a:ext uri="{FF2B5EF4-FFF2-40B4-BE49-F238E27FC236}">
                <a16:creationId xmlns:a16="http://schemas.microsoft.com/office/drawing/2014/main" id="{3BF37F9C-21FA-3F36-8A6B-AC251F734784}"/>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11 / 14</a:t>
            </a:r>
            <a:endParaRPr lang="en-US" sz="1125" dirty="0">
              <a:ln>
                <a:solidFill>
                  <a:schemeClr val="bg1">
                    <a:lumMod val="65000"/>
                  </a:schemeClr>
                </a:solidFill>
              </a:ln>
            </a:endParaRPr>
          </a:p>
        </p:txBody>
      </p:sp>
      <p:sp>
        <p:nvSpPr>
          <p:cNvPr id="5" name="TextBox 4">
            <a:extLst>
              <a:ext uri="{FF2B5EF4-FFF2-40B4-BE49-F238E27FC236}">
                <a16:creationId xmlns:a16="http://schemas.microsoft.com/office/drawing/2014/main" id="{DC93CF28-6528-4482-2C18-40C63143DBB4}"/>
              </a:ext>
            </a:extLst>
          </p:cNvPr>
          <p:cNvSpPr txBox="1"/>
          <p:nvPr/>
        </p:nvSpPr>
        <p:spPr>
          <a:xfrm>
            <a:off x="9165290" y="4398619"/>
            <a:ext cx="1975458" cy="1954381"/>
          </a:xfrm>
          <a:prstGeom prst="rect">
            <a:avLst/>
          </a:prstGeom>
          <a:noFill/>
        </p:spPr>
        <p:txBody>
          <a:bodyPr wrap="square">
            <a:spAutoFit/>
          </a:bodyPr>
          <a:lstStyle/>
          <a:p>
            <a:pPr algn="just"/>
            <a:r>
              <a:rPr lang="en-IN" sz="1100" b="1" dirty="0">
                <a:solidFill>
                  <a:schemeClr val="bg2">
                    <a:lumMod val="25000"/>
                  </a:schemeClr>
                </a:solidFill>
              </a:rPr>
              <a:t>The Key Influencer Analysis identifiedsocial comparison as the strongest factor contributing to higher depression levels. The correlation heatmap further highlights strong positive relationships among major mental health indicators, particularly depression and worry</a:t>
            </a:r>
          </a:p>
        </p:txBody>
      </p:sp>
    </p:spTree>
    <p:extLst>
      <p:ext uri="{BB962C8B-B14F-4D97-AF65-F5344CB8AC3E}">
        <p14:creationId xmlns:p14="http://schemas.microsoft.com/office/powerpoint/2010/main" val="1747994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5D33F-9D57-90B6-87F3-7F375B92018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15FA39-61A0-3406-F159-0F206ED788DB}"/>
              </a:ext>
            </a:extLst>
          </p:cNvPr>
          <p:cNvSpPr txBox="1"/>
          <p:nvPr/>
        </p:nvSpPr>
        <p:spPr>
          <a:xfrm>
            <a:off x="-892512" y="77853"/>
            <a:ext cx="6366933" cy="246221"/>
          </a:xfrm>
          <a:prstGeom prst="rect">
            <a:avLst/>
          </a:prstGeom>
          <a:noFill/>
        </p:spPr>
        <p:txBody>
          <a:bodyPr wrap="square">
            <a:spAutoFit/>
          </a:bodyPr>
          <a:lstStyle/>
          <a:p>
            <a:pPr algn="ctr"/>
            <a:r>
              <a:rPr lang="en-IN" sz="10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7" name="TextBox 6">
            <a:extLst>
              <a:ext uri="{FF2B5EF4-FFF2-40B4-BE49-F238E27FC236}">
                <a16:creationId xmlns:a16="http://schemas.microsoft.com/office/drawing/2014/main" id="{0AB705C0-4828-DE17-D09E-4095C71E00C3}"/>
              </a:ext>
            </a:extLst>
          </p:cNvPr>
          <p:cNvSpPr txBox="1"/>
          <p:nvPr/>
        </p:nvSpPr>
        <p:spPr>
          <a:xfrm>
            <a:off x="566022" y="914379"/>
            <a:ext cx="11625978" cy="646331"/>
          </a:xfrm>
          <a:prstGeom prst="rect">
            <a:avLst/>
          </a:prstGeom>
          <a:noFill/>
          <a:effectLst/>
        </p:spPr>
        <p:txBody>
          <a:bodyPr wrap="square">
            <a:spAutoFit/>
          </a:bodyPr>
          <a:lstStyle/>
          <a:p>
            <a:r>
              <a:rPr lang="en-US"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rPr>
              <a:t>Conclusion</a:t>
            </a:r>
            <a:endParaRPr lang="en-IN" sz="3600" dirty="0">
              <a:solidFill>
                <a:srgbClr val="002060"/>
              </a:solidFill>
              <a:latin typeface="Segoe UI Black" panose="020B0A02040204020203" pitchFamily="34" charset="0"/>
              <a:ea typeface="Segoe UI Black" panose="020B0A02040204020203" pitchFamily="34" charset="0"/>
              <a:cs typeface="Cascadia Mono SemiBold" panose="020B0609020000020004" pitchFamily="49" charset="0"/>
            </a:endParaRPr>
          </a:p>
        </p:txBody>
      </p:sp>
      <p:sp>
        <p:nvSpPr>
          <p:cNvPr id="10" name="Text 27">
            <a:extLst>
              <a:ext uri="{FF2B5EF4-FFF2-40B4-BE49-F238E27FC236}">
                <a16:creationId xmlns:a16="http://schemas.microsoft.com/office/drawing/2014/main" id="{080085BB-A776-6525-09D4-C78469FA45E7}"/>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13 / 14</a:t>
            </a:r>
            <a:endParaRPr lang="en-US" sz="1125" dirty="0">
              <a:ln>
                <a:solidFill>
                  <a:schemeClr val="bg1">
                    <a:lumMod val="65000"/>
                  </a:schemeClr>
                </a:solidFill>
              </a:ln>
            </a:endParaRPr>
          </a:p>
        </p:txBody>
      </p:sp>
      <p:pic>
        <p:nvPicPr>
          <p:cNvPr id="13" name="Picture 12" descr="nano_2073179177957687296_1.png">
            <a:extLst>
              <a:ext uri="{FF2B5EF4-FFF2-40B4-BE49-F238E27FC236}">
                <a16:creationId xmlns:a16="http://schemas.microsoft.com/office/drawing/2014/main" id="{63651489-EEA4-9B19-DB22-8E15C94563CD}"/>
              </a:ext>
            </a:extLst>
          </p:cNvPr>
          <p:cNvPicPr>
            <a:picLocks noChangeAspect="1"/>
          </p:cNvPicPr>
          <p:nvPr/>
        </p:nvPicPr>
        <p:blipFill>
          <a:blip r:embed="rId2"/>
          <a:stretch>
            <a:fillRect/>
          </a:stretch>
        </p:blipFill>
        <p:spPr>
          <a:xfrm>
            <a:off x="1" y="8563"/>
            <a:ext cx="12191999" cy="6849437"/>
          </a:xfrm>
          <a:prstGeom prst="rect">
            <a:avLst/>
          </a:prstGeom>
        </p:spPr>
      </p:pic>
      <p:sp>
        <p:nvSpPr>
          <p:cNvPr id="17" name="Text 27">
            <a:extLst>
              <a:ext uri="{FF2B5EF4-FFF2-40B4-BE49-F238E27FC236}">
                <a16:creationId xmlns:a16="http://schemas.microsoft.com/office/drawing/2014/main" id="{DC079DB8-A917-9D51-DBA7-46019D642304}"/>
              </a:ext>
            </a:extLst>
          </p:cNvPr>
          <p:cNvSpPr/>
          <p:nvPr/>
        </p:nvSpPr>
        <p:spPr>
          <a:xfrm>
            <a:off x="11355586" y="6563691"/>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12 / 14</a:t>
            </a:r>
            <a:endParaRPr lang="en-US" sz="1125" dirty="0">
              <a:ln>
                <a:solidFill>
                  <a:schemeClr val="bg1">
                    <a:lumMod val="65000"/>
                  </a:schemeClr>
                </a:solidFill>
              </a:ln>
            </a:endParaRPr>
          </a:p>
        </p:txBody>
      </p:sp>
    </p:spTree>
    <p:extLst>
      <p:ext uri="{BB962C8B-B14F-4D97-AF65-F5344CB8AC3E}">
        <p14:creationId xmlns:p14="http://schemas.microsoft.com/office/powerpoint/2010/main" val="2876496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32659"/>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E2EFFC8-2FEC-B2C1-FAD7-CD87B1700CFB}"/>
              </a:ext>
            </a:extLst>
          </p:cNvPr>
          <p:cNvSpPr txBox="1"/>
          <p:nvPr/>
        </p:nvSpPr>
        <p:spPr>
          <a:xfrm>
            <a:off x="3205354" y="6438104"/>
            <a:ext cx="6366933" cy="307777"/>
          </a:xfrm>
          <a:prstGeom prst="rect">
            <a:avLst/>
          </a:prstGeom>
          <a:noFill/>
        </p:spPr>
        <p:txBody>
          <a:bodyPr wrap="square">
            <a:spAutoFit/>
          </a:bodyPr>
          <a:lstStyle/>
          <a:p>
            <a:pPr algn="ctr"/>
            <a:r>
              <a:rPr lang="en-IN" sz="1400" dirty="0">
                <a:solidFill>
                  <a:schemeClr val="bg1">
                    <a:lumMod val="65000"/>
                  </a:schemeClr>
                </a:solidFill>
                <a:latin typeface="Segoe UI Light" panose="020B0502040204020203" pitchFamily="34" charset="0"/>
                <a:cs typeface="Segoe UI Light" panose="020B0502040204020203" pitchFamily="34" charset="0"/>
              </a:rPr>
              <a:t>Analysing the impact of social media usage on mental health using data analytics</a:t>
            </a:r>
          </a:p>
        </p:txBody>
      </p:sp>
      <p:sp>
        <p:nvSpPr>
          <p:cNvPr id="2" name="Text 1">
            <a:extLst>
              <a:ext uri="{FF2B5EF4-FFF2-40B4-BE49-F238E27FC236}">
                <a16:creationId xmlns:a16="http://schemas.microsoft.com/office/drawing/2014/main" id="{0AE03E8A-0D75-C888-AA2C-2E51F5CB2FBD}"/>
              </a:ext>
            </a:extLst>
          </p:cNvPr>
          <p:cNvSpPr/>
          <p:nvPr/>
        </p:nvSpPr>
        <p:spPr>
          <a:xfrm>
            <a:off x="902421" y="2055223"/>
            <a:ext cx="9144000" cy="10058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6600" b="1" dirty="0">
                <a:solidFill>
                  <a:srgbClr val="FFFFFF"/>
                </a:solidFill>
                <a:latin typeface="Arial" panose="020B0604020202020204" pitchFamily="34" charset="0"/>
                <a:ea typeface="Arial" pitchFamily="34" charset="-122"/>
                <a:cs typeface="Arial" panose="020B0604020202020204" pitchFamily="34" charset="0"/>
              </a:rPr>
              <a:t>THANK</a:t>
            </a:r>
            <a:r>
              <a:rPr lang="en-US" sz="6600" b="1" dirty="0">
                <a:solidFill>
                  <a:srgbClr val="FFFFFF"/>
                </a:solidFill>
                <a:latin typeface="Arial Black" panose="020B0A04020102020204" pitchFamily="34" charset="0"/>
                <a:ea typeface="Arial" pitchFamily="34" charset="-122"/>
                <a:cs typeface="Arial" pitchFamily="34" charset="-120"/>
              </a:rPr>
              <a:t> YOU</a:t>
            </a:r>
            <a:endParaRPr lang="en-US" sz="6600" dirty="0">
              <a:latin typeface="Arial Black" panose="020B0A04020102020204" pitchFamily="34" charset="0"/>
            </a:endParaRPr>
          </a:p>
        </p:txBody>
      </p:sp>
      <p:sp>
        <p:nvSpPr>
          <p:cNvPr id="4" name="Text 2">
            <a:extLst>
              <a:ext uri="{FF2B5EF4-FFF2-40B4-BE49-F238E27FC236}">
                <a16:creationId xmlns:a16="http://schemas.microsoft.com/office/drawing/2014/main" id="{C2575C7F-C451-40FF-78E8-61C74B476E24}"/>
              </a:ext>
            </a:extLst>
          </p:cNvPr>
          <p:cNvSpPr/>
          <p:nvPr/>
        </p:nvSpPr>
        <p:spPr>
          <a:xfrm>
            <a:off x="902421" y="3154680"/>
            <a:ext cx="731520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i="1" dirty="0">
                <a:solidFill>
                  <a:srgbClr val="BFE1E6"/>
                </a:solidFill>
                <a:latin typeface="Calibri" pitchFamily="34" charset="0"/>
                <a:ea typeface="Calibri" pitchFamily="34" charset="-122"/>
                <a:cs typeface="Calibri" pitchFamily="34" charset="-120"/>
              </a:rPr>
              <a:t>Any Questions?</a:t>
            </a:r>
            <a:endParaRPr lang="en-US" sz="2400" dirty="0"/>
          </a:p>
        </p:txBody>
      </p:sp>
      <p:sp>
        <p:nvSpPr>
          <p:cNvPr id="6" name="Shape 3">
            <a:extLst>
              <a:ext uri="{FF2B5EF4-FFF2-40B4-BE49-F238E27FC236}">
                <a16:creationId xmlns:a16="http://schemas.microsoft.com/office/drawing/2014/main" id="{A2DD1311-3D13-E16A-1693-24895F0B1F07}"/>
              </a:ext>
            </a:extLst>
          </p:cNvPr>
          <p:cNvSpPr/>
          <p:nvPr/>
        </p:nvSpPr>
        <p:spPr>
          <a:xfrm>
            <a:off x="902421" y="4425696"/>
            <a:ext cx="5486400" cy="18288"/>
          </a:xfrm>
          <a:prstGeom prst="rect">
            <a:avLst/>
          </a:prstGeom>
          <a:solidFill>
            <a:schemeClr val="bg1">
              <a:lumMod val="95000"/>
            </a:schemeClr>
          </a:solidFill>
          <a:ln/>
        </p:spPr>
        <p:txBody>
          <a:bodyPr/>
          <a:lstStyle/>
          <a:p>
            <a:endParaRPr lang="en-IN"/>
          </a:p>
        </p:txBody>
      </p:sp>
      <p:sp>
        <p:nvSpPr>
          <p:cNvPr id="8" name="Text 4">
            <a:extLst>
              <a:ext uri="{FF2B5EF4-FFF2-40B4-BE49-F238E27FC236}">
                <a16:creationId xmlns:a16="http://schemas.microsoft.com/office/drawing/2014/main" id="{73939329-52B6-6B94-98A4-2BD3CBB5E5FE}"/>
              </a:ext>
            </a:extLst>
          </p:cNvPr>
          <p:cNvSpPr/>
          <p:nvPr/>
        </p:nvSpPr>
        <p:spPr>
          <a:xfrm>
            <a:off x="902421" y="4553712"/>
            <a:ext cx="5486400" cy="274320"/>
          </a:xfrm>
          <a:prstGeom prst="rect">
            <a:avLst/>
          </a:prstGeom>
          <a:noFill/>
          <a:ln/>
        </p:spPr>
        <p:txBody>
          <a:bodyPr wrap="square" lIns="0" tIns="0" rIns="0" bIns="0" rtlCol="0" anchor="ctr"/>
          <a:lstStyle/>
          <a:p>
            <a:pPr marL="0" indent="0">
              <a:buNone/>
            </a:pPr>
            <a:r>
              <a:rPr lang="en-US" sz="1400" b="1" kern="0" spc="150" dirty="0">
                <a:solidFill>
                  <a:schemeClr val="bg1">
                    <a:lumMod val="65000"/>
                  </a:schemeClr>
                </a:solidFill>
                <a:latin typeface="Calibri" pitchFamily="34" charset="0"/>
                <a:ea typeface="Calibri" pitchFamily="34" charset="-122"/>
                <a:cs typeface="Calibri" pitchFamily="34" charset="-120"/>
              </a:rPr>
              <a:t>GROUP MEMBERS</a:t>
            </a:r>
            <a:endParaRPr lang="en-US" sz="1400" dirty="0">
              <a:solidFill>
                <a:schemeClr val="bg1">
                  <a:lumMod val="65000"/>
                </a:schemeClr>
              </a:solidFill>
            </a:endParaRPr>
          </a:p>
        </p:txBody>
      </p:sp>
      <p:sp>
        <p:nvSpPr>
          <p:cNvPr id="14" name="Text 5">
            <a:extLst>
              <a:ext uri="{FF2B5EF4-FFF2-40B4-BE49-F238E27FC236}">
                <a16:creationId xmlns:a16="http://schemas.microsoft.com/office/drawing/2014/main" id="{E992B210-8B2C-14CB-D752-3B804D51B66F}"/>
              </a:ext>
            </a:extLst>
          </p:cNvPr>
          <p:cNvSpPr/>
          <p:nvPr/>
        </p:nvSpPr>
        <p:spPr>
          <a:xfrm>
            <a:off x="902421" y="4887832"/>
            <a:ext cx="9601200" cy="36576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Deepika Mudireddy   |   Ganesh Acharya   |   Vrinda Suni</a:t>
            </a:r>
            <a:endParaRPr lang="en-US" sz="1600" dirty="0"/>
          </a:p>
        </p:txBody>
      </p:sp>
      <p:sp>
        <p:nvSpPr>
          <p:cNvPr id="16" name="Flowchart: Connector 15">
            <a:extLst>
              <a:ext uri="{FF2B5EF4-FFF2-40B4-BE49-F238E27FC236}">
                <a16:creationId xmlns:a16="http://schemas.microsoft.com/office/drawing/2014/main" id="{43FE31C4-8411-4FE9-3991-854087357853}"/>
              </a:ext>
            </a:extLst>
          </p:cNvPr>
          <p:cNvSpPr/>
          <p:nvPr/>
        </p:nvSpPr>
        <p:spPr>
          <a:xfrm>
            <a:off x="9521037" y="-523261"/>
            <a:ext cx="3293534" cy="3046148"/>
          </a:xfrm>
          <a:prstGeom prst="flowChartConnector">
            <a:avLst/>
          </a:prstGeom>
          <a:solidFill>
            <a:schemeClr val="bg2">
              <a:lumMod val="50000"/>
              <a:alpha val="14000"/>
            </a:schemeClr>
          </a:solidFill>
          <a:ln>
            <a:solidFill>
              <a:schemeClr val="accent4">
                <a:lumMod val="40000"/>
                <a:lumOff val="60000"/>
                <a:alpha val="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Flowchart: Connector 17">
            <a:extLst>
              <a:ext uri="{FF2B5EF4-FFF2-40B4-BE49-F238E27FC236}">
                <a16:creationId xmlns:a16="http://schemas.microsoft.com/office/drawing/2014/main" id="{6C46AA11-EC40-5202-4FDB-C1E3CAA81993}"/>
              </a:ext>
            </a:extLst>
          </p:cNvPr>
          <p:cNvSpPr/>
          <p:nvPr/>
        </p:nvSpPr>
        <p:spPr>
          <a:xfrm>
            <a:off x="0" y="1157624"/>
            <a:ext cx="3293534" cy="3046148"/>
          </a:xfrm>
          <a:prstGeom prst="flowChartConnector">
            <a:avLst/>
          </a:prstGeom>
          <a:solidFill>
            <a:schemeClr val="bg2">
              <a:lumMod val="50000"/>
              <a:alpha val="18000"/>
            </a:schemeClr>
          </a:solidFill>
          <a:ln>
            <a:solidFill>
              <a:schemeClr val="accent4">
                <a:lumMod val="40000"/>
                <a:lumOff val="60000"/>
                <a:alpha val="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 27">
            <a:extLst>
              <a:ext uri="{FF2B5EF4-FFF2-40B4-BE49-F238E27FC236}">
                <a16:creationId xmlns:a16="http://schemas.microsoft.com/office/drawing/2014/main" id="{D41F91FE-93AD-15E8-6B8A-EFD722CED008}"/>
              </a:ext>
            </a:extLst>
          </p:cNvPr>
          <p:cNvSpPr/>
          <p:nvPr/>
        </p:nvSpPr>
        <p:spPr>
          <a:xfrm>
            <a:off x="11355586" y="6633819"/>
            <a:ext cx="836414" cy="203200"/>
          </a:xfrm>
          <a:prstGeom prst="rect">
            <a:avLst/>
          </a:prstGeom>
          <a:noFill/>
          <a:ln/>
        </p:spPr>
        <p:txBody>
          <a:bodyPr wrap="square" lIns="25400" tIns="25400" rIns="25400" bIns="25400" rtlCol="0" anchor="t">
            <a:normAutofit fontScale="92500"/>
          </a:bodyPr>
          <a:lstStyle/>
          <a:p>
            <a:pPr marL="0" indent="0" algn="l">
              <a:buNone/>
            </a:pPr>
            <a:r>
              <a:rPr lang="en-US" sz="1125" kern="0" spc="180" dirty="0">
                <a:ln>
                  <a:solidFill>
                    <a:schemeClr val="bg1">
                      <a:lumMod val="65000"/>
                    </a:schemeClr>
                  </a:solidFill>
                </a:ln>
                <a:solidFill>
                  <a:srgbClr val="8A8479"/>
                </a:solidFill>
                <a:latin typeface="Courier New" pitchFamily="34" charset="0"/>
                <a:ea typeface="Courier New" pitchFamily="34" charset="-122"/>
                <a:cs typeface="Courier New" pitchFamily="34" charset="-120"/>
              </a:rPr>
              <a:t>14 / 14</a:t>
            </a:r>
            <a:endParaRPr lang="en-US" sz="1125" dirty="0">
              <a:ln>
                <a:solidFill>
                  <a:schemeClr val="bg1">
                    <a:lumMod val="65000"/>
                  </a:schemeClr>
                </a:solidFill>
              </a:ln>
            </a:endParaRPr>
          </a:p>
        </p:txBody>
      </p:sp>
    </p:spTree>
    <p:extLst>
      <p:ext uri="{BB962C8B-B14F-4D97-AF65-F5344CB8AC3E}">
        <p14:creationId xmlns:p14="http://schemas.microsoft.com/office/powerpoint/2010/main" val="37877036"/>
      </p:ext>
    </p:extLst>
  </p:cSld>
  <p:clrMapOvr>
    <a:masterClrMapping/>
  </p:clrMapOvr>
</p:sld>
</file>

<file path=ppt/theme/theme1.xml><?xml version="1.0" encoding="utf-8"?>
<a:theme xmlns:a="http://schemas.openxmlformats.org/drawingml/2006/main" name="Office Theme">
  <a:themeElements>
    <a:clrScheme name="Custom 5">
      <a:dk1>
        <a:srgbClr val="2A3641"/>
      </a:dk1>
      <a:lt1>
        <a:srgbClr val="FFFFFF"/>
      </a:lt1>
      <a:dk2>
        <a:srgbClr val="46464A"/>
      </a:dk2>
      <a:lt2>
        <a:srgbClr val="D1D9E1"/>
      </a:lt2>
      <a:accent1>
        <a:srgbClr val="D8D8D8"/>
      </a:accent1>
      <a:accent2>
        <a:srgbClr val="BFBFBF"/>
      </a:accent2>
      <a:accent3>
        <a:srgbClr val="A5A5A5"/>
      </a:accent3>
      <a:accent4>
        <a:srgbClr val="92A9B9"/>
      </a:accent4>
      <a:accent5>
        <a:srgbClr val="9C8265"/>
      </a:accent5>
      <a:accent6>
        <a:srgbClr val="7F7F7F"/>
      </a:accent6>
      <a:hlink>
        <a:srgbClr val="D8D8D8"/>
      </a:hlink>
      <a:folHlink>
        <a:srgbClr val="B1B5AB"/>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577</TotalTime>
  <Words>1172</Words>
  <Application>Microsoft Office PowerPoint</Application>
  <PresentationFormat>Widescreen</PresentationFormat>
  <Paragraphs>187</Paragraphs>
  <Slides>13</Slides>
  <Notes>0</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13</vt:i4>
      </vt:variant>
    </vt:vector>
  </HeadingPairs>
  <TitlesOfParts>
    <vt:vector size="26" baseType="lpstr">
      <vt:lpstr>Aptos</vt:lpstr>
      <vt:lpstr>Aptos Display</vt:lpstr>
      <vt:lpstr>Aptos Narrow</vt:lpstr>
      <vt:lpstr>Arial</vt:lpstr>
      <vt:lpstr>Arial Black</vt:lpstr>
      <vt:lpstr>Arial MT</vt:lpstr>
      <vt:lpstr>Calibri</vt:lpstr>
      <vt:lpstr>Corbel Light</vt:lpstr>
      <vt:lpstr>Courier New</vt:lpstr>
      <vt:lpstr>Segoe UI Black</vt:lpstr>
      <vt:lpstr>Segoe UI Light</vt:lpstr>
      <vt:lpstr>Segoe UI Semilight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Vrinda Suni</dc:creator>
  <cp:lastModifiedBy>Vrinda Suni</cp:lastModifiedBy>
  <cp:revision>7</cp:revision>
  <dcterms:created xsi:type="dcterms:W3CDTF">2026-07-02T22:08:05Z</dcterms:created>
  <dcterms:modified xsi:type="dcterms:W3CDTF">2026-07-04T06:47:45Z</dcterms:modified>
</cp:coreProperties>
</file>