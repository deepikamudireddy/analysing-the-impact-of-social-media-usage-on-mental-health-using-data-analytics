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1" r:id="rId6"/>
    <p:sldId id="262" r:id="rId7"/>
    <p:sldId id="263" r:id="rId8"/>
    <p:sldId id="265"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595613AC-6E9F-4A55-BDF1-179A7CB63D21}">
          <p14:sldIdLst>
            <p14:sldId id="256"/>
            <p14:sldId id="257"/>
            <p14:sldId id="258"/>
            <p14:sldId id="259"/>
            <p14:sldId id="261"/>
            <p14:sldId id="262"/>
            <p14:sldId id="263"/>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493B-40A1-A83C-053A25BB9ACD}"/>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493B-40A1-A83C-053A25BB9ACD}"/>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493B-40A1-A83C-053A25BB9ACD}"/>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493B-40A1-A83C-053A25BB9ACD}"/>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Sheet1!$A$2:$A$5</c:f>
              <c:strCache>
                <c:ptCount val="4"/>
                <c:pt idx="0">
                  <c:v>instagram</c:v>
                </c:pt>
                <c:pt idx="1">
                  <c:v>facebook</c:v>
                </c:pt>
                <c:pt idx="2">
                  <c:v>YouTube</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5EF1-4A65-8946-C57770B54AE9}"/>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0.77288932249020692"/>
          <c:y val="0.42738641095277458"/>
          <c:w val="0.2172889116258902"/>
          <c:h val="0.25842382961798283"/>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57D7DE-61AE-4BC6-A87E-9454F8FD646E}" type="datetimeFigureOut">
              <a:rPr lang="en-US" dirty="0"/>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AAA0FC-AF95-454C-A4E6-937690C7EEE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6/13/2026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lumMod val="9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lumMod val="9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6/13/2026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6/13/2026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7" name="Date Placeholder 6"/>
          <p:cNvSpPr>
            <a:spLocks noGrp="1"/>
          </p:cNvSpPr>
          <p:nvPr>
            <p:ph type="dt" sz="half" idx="10"/>
          </p:nvPr>
        </p:nvSpPr>
        <p:spPr/>
        <p:txBody>
          <a:bodyPr/>
          <a:lstStyle/>
          <a:p>
            <a:fld id="{96DFF08F-DC6B-4601-B491-B0F83F6DD2DA}" type="datetimeFigureOut">
              <a:rPr lang="en-US" dirty="0"/>
              <a:pPr/>
              <a:t>6/13/2026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4050791"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6DFF08F-DC6B-4601-B491-B0F83F6DD2DA}" type="datetimeFigureOut">
              <a:rPr lang="en-US" dirty="0"/>
              <a:pPr/>
              <a:t>6/13/2026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1">
              <a:lumMod val="50000"/>
              <a:lumOff val="5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96DFF08F-DC6B-4601-B491-B0F83F6DD2DA}" type="datetimeFigureOut">
              <a:rPr lang="en-US" dirty="0"/>
              <a:pPr/>
              <a:t>6/13/2026</a:t>
            </a:fld>
            <a:endParaRPr lang="en-US" dirty="0"/>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6DFF08F-DC6B-4601-B491-B0F83F6DD2DA}" type="datetimeFigureOut">
              <a:rPr lang="en-US" dirty="0"/>
              <a:pPr/>
              <a:t>6/13/2026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dk1" tx1="lt1" bg2="dk2" tx2="lt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3"/>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3"/>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5.jpeg"/><Relationship Id="rId7" Type="http://schemas.openxmlformats.org/officeDocument/2006/relationships/image" Target="../media/image3.sv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svg"/><Relationship Id="rId10" Type="http://schemas.openxmlformats.org/officeDocument/2006/relationships/image" Target="../media/image20.svg"/><Relationship Id="rId4" Type="http://schemas.openxmlformats.org/officeDocument/2006/relationships/image" Target="../media/image16.png"/><Relationship Id="rId9" Type="http://schemas.openxmlformats.org/officeDocument/2006/relationships/image" Target="../media/image19.svg"/></Relationships>
</file>

<file path=ppt/slides/_rels/slide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62087-D310-E9F5-E244-C9BD67116856}"/>
              </a:ext>
            </a:extLst>
          </p:cNvPr>
          <p:cNvSpPr>
            <a:spLocks noGrp="1"/>
          </p:cNvSpPr>
          <p:nvPr>
            <p:ph type="ctrTitle"/>
          </p:nvPr>
        </p:nvSpPr>
        <p:spPr>
          <a:xfrm>
            <a:off x="948267" y="83118"/>
            <a:ext cx="10511368" cy="3993580"/>
          </a:xfrm>
        </p:spPr>
        <p:txBody>
          <a:bodyPr>
            <a:normAutofit fontScale="90000"/>
          </a:bodyPr>
          <a:lstStyle/>
          <a:p>
            <a:r>
              <a:rPr lang="en-IN" sz="6700" b="1" dirty="0">
                <a:latin typeface="Segoe UI Semibold" panose="020B0702040204020203" pitchFamily="34" charset="0"/>
                <a:cs typeface="Segoe UI Semibold" panose="020B0702040204020203" pitchFamily="34" charset="0"/>
              </a:rPr>
              <a:t>Impact of Social Media usage on Mental Health</a:t>
            </a:r>
            <a:br>
              <a:rPr lang="en-IN" dirty="0"/>
            </a:br>
            <a:r>
              <a:rPr lang="en-IN" sz="2000" i="1" dirty="0">
                <a:latin typeface="Segoe UI" panose="020B0502040204020203" pitchFamily="34" charset="0"/>
                <a:cs typeface="Segoe UI" panose="020B0502040204020203" pitchFamily="34" charset="0"/>
              </a:rPr>
              <a:t>A Data-Driven Analysis of Social Media Usage and Psychological Well-being</a:t>
            </a:r>
            <a:br>
              <a:rPr lang="en-IN" sz="7300" dirty="0">
                <a:latin typeface="Segoe UI" panose="020B0502040204020203" pitchFamily="34" charset="0"/>
                <a:cs typeface="Segoe UI" panose="020B0502040204020203" pitchFamily="34" charset="0"/>
              </a:rPr>
            </a:br>
            <a:br>
              <a:rPr lang="en-IN" dirty="0">
                <a:latin typeface="Segoe UI" panose="020B0502040204020203" pitchFamily="34" charset="0"/>
                <a:cs typeface="Segoe UI" panose="020B0502040204020203" pitchFamily="34" charset="0"/>
              </a:rPr>
            </a:br>
            <a:r>
              <a:rPr lang="en-IN" sz="1600" dirty="0">
                <a:latin typeface="Segoe UI" panose="020B0502040204020203" pitchFamily="34" charset="0"/>
                <a:cs typeface="Segoe UI" panose="020B0502040204020203" pitchFamily="34" charset="0"/>
              </a:rPr>
              <a:t>M.Sc. Data Science(60 ECTS)</a:t>
            </a:r>
            <a:br>
              <a:rPr lang="en-IN" sz="1600" dirty="0">
                <a:latin typeface="Segoe UI" panose="020B0502040204020203" pitchFamily="34" charset="0"/>
                <a:cs typeface="Segoe UI" panose="020B0502040204020203" pitchFamily="34" charset="0"/>
              </a:rPr>
            </a:br>
            <a:r>
              <a:rPr lang="en-IN" sz="1600" dirty="0">
                <a:latin typeface="Segoe UI" panose="020B0502040204020203" pitchFamily="34" charset="0"/>
                <a:cs typeface="Segoe UI" panose="020B0502040204020203" pitchFamily="34" charset="0"/>
              </a:rPr>
              <a:t>Department of Data Science</a:t>
            </a:r>
            <a:br>
              <a:rPr lang="en-IN" sz="1600" dirty="0">
                <a:latin typeface="Segoe UI" panose="020B0502040204020203" pitchFamily="34" charset="0"/>
                <a:cs typeface="Segoe UI" panose="020B0502040204020203" pitchFamily="34" charset="0"/>
              </a:rPr>
            </a:br>
            <a:br>
              <a:rPr lang="en-IN" sz="1600" dirty="0">
                <a:latin typeface="Segoe UI" panose="020B0502040204020203" pitchFamily="34" charset="0"/>
                <a:cs typeface="Segoe UI" panose="020B0502040204020203" pitchFamily="34" charset="0"/>
              </a:rPr>
            </a:br>
            <a:r>
              <a:rPr lang="en-IN" sz="1600" dirty="0">
                <a:latin typeface="Segoe UI" panose="020B0502040204020203" pitchFamily="34" charset="0"/>
                <a:cs typeface="Segoe UI" panose="020B0502040204020203" pitchFamily="34" charset="0"/>
              </a:rPr>
              <a:t>Guided By:</a:t>
            </a:r>
            <a:br>
              <a:rPr lang="en-IN" sz="1600" dirty="0">
                <a:latin typeface="Segoe UI" panose="020B0502040204020203" pitchFamily="34" charset="0"/>
                <a:cs typeface="Segoe UI" panose="020B0502040204020203" pitchFamily="34" charset="0"/>
              </a:rPr>
            </a:br>
            <a:r>
              <a:rPr lang="en-IN" sz="1600" dirty="0">
                <a:latin typeface="Segoe UI" panose="020B0502040204020203" pitchFamily="34" charset="0"/>
                <a:cs typeface="Segoe UI" panose="020B0502040204020203" pitchFamily="34" charset="0"/>
              </a:rPr>
              <a:t>Prof.Farhan Khan</a:t>
            </a:r>
          </a:p>
        </p:txBody>
      </p:sp>
      <p:sp>
        <p:nvSpPr>
          <p:cNvPr id="3" name="Subtitle 2">
            <a:extLst>
              <a:ext uri="{FF2B5EF4-FFF2-40B4-BE49-F238E27FC236}">
                <a16:creationId xmlns:a16="http://schemas.microsoft.com/office/drawing/2014/main" id="{E68AF58B-8915-14F0-308F-AAF97AF0AFDD}"/>
              </a:ext>
            </a:extLst>
          </p:cNvPr>
          <p:cNvSpPr>
            <a:spLocks noGrp="1"/>
          </p:cNvSpPr>
          <p:nvPr>
            <p:ph type="subTitle" idx="1"/>
          </p:nvPr>
        </p:nvSpPr>
        <p:spPr>
          <a:xfrm>
            <a:off x="948267" y="4461933"/>
            <a:ext cx="10210184" cy="651934"/>
          </a:xfrm>
        </p:spPr>
        <p:txBody>
          <a:bodyPr>
            <a:normAutofit/>
          </a:bodyPr>
          <a:lstStyle/>
          <a:p>
            <a:pPr lvl="0"/>
            <a:r>
              <a:rPr lang="en-IN" dirty="0">
                <a:latin typeface="Segoe UI" panose="020B0502040204020203" pitchFamily="34" charset="0"/>
                <a:cs typeface="Segoe UI" panose="020B0502040204020203" pitchFamily="34" charset="0"/>
              </a:rPr>
              <a:t>Team Members </a:t>
            </a:r>
          </a:p>
          <a:p>
            <a:pPr lvl="0"/>
            <a:endParaRPr lang="en-IN" dirty="0">
              <a:latin typeface="Segoe UI" panose="020B0502040204020203" pitchFamily="34" charset="0"/>
              <a:cs typeface="Segoe UI" panose="020B0502040204020203" pitchFamily="34" charset="0"/>
            </a:endParaRPr>
          </a:p>
          <a:p>
            <a:endParaRPr lang="en-IN" sz="1600" dirty="0">
              <a:latin typeface="Segoe UI" panose="020B0502040204020203" pitchFamily="34" charset="0"/>
              <a:cs typeface="Segoe UI" panose="020B0502040204020203" pitchFamily="34" charset="0"/>
            </a:endParaRPr>
          </a:p>
        </p:txBody>
      </p:sp>
      <p:sp>
        <p:nvSpPr>
          <p:cNvPr id="4" name="Rectangle 3">
            <a:extLst>
              <a:ext uri="{FF2B5EF4-FFF2-40B4-BE49-F238E27FC236}">
                <a16:creationId xmlns:a16="http://schemas.microsoft.com/office/drawing/2014/main" id="{2AA0F521-028A-4657-FDC0-A6716BA19D2E}"/>
              </a:ext>
            </a:extLst>
          </p:cNvPr>
          <p:cNvSpPr/>
          <p:nvPr/>
        </p:nvSpPr>
        <p:spPr>
          <a:xfrm>
            <a:off x="1033549" y="4914899"/>
            <a:ext cx="1896533" cy="1295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latin typeface="Segoe UI" panose="020B0502040204020203" pitchFamily="34" charset="0"/>
              <a:cs typeface="Segoe UI" panose="020B0502040204020203" pitchFamily="34" charset="0"/>
            </a:endParaRPr>
          </a:p>
          <a:p>
            <a:pPr algn="ctr"/>
            <a:r>
              <a:rPr lang="en-US" sz="1400" dirty="0">
                <a:latin typeface="Segoe UI" panose="020B0502040204020203" pitchFamily="34" charset="0"/>
                <a:cs typeface="Segoe UI" panose="020B0502040204020203" pitchFamily="34" charset="0"/>
              </a:rPr>
              <a:t>DEEPIKA</a:t>
            </a:r>
          </a:p>
          <a:p>
            <a:pPr algn="ctr"/>
            <a:r>
              <a:rPr lang="en-US" sz="1400" dirty="0">
                <a:latin typeface="Segoe UI" panose="020B0502040204020203" pitchFamily="34" charset="0"/>
                <a:cs typeface="Segoe UI" panose="020B0502040204020203" pitchFamily="34" charset="0"/>
              </a:rPr>
              <a:t>Team Lead &amp; Documentation </a:t>
            </a:r>
            <a:endParaRPr lang="en-IN" sz="1400" dirty="0">
              <a:latin typeface="Segoe UI" panose="020B0502040204020203" pitchFamily="34" charset="0"/>
              <a:cs typeface="Segoe UI" panose="020B0502040204020203" pitchFamily="34" charset="0"/>
            </a:endParaRPr>
          </a:p>
        </p:txBody>
      </p:sp>
      <p:sp>
        <p:nvSpPr>
          <p:cNvPr id="6" name="Rectangle 5">
            <a:extLst>
              <a:ext uri="{FF2B5EF4-FFF2-40B4-BE49-F238E27FC236}">
                <a16:creationId xmlns:a16="http://schemas.microsoft.com/office/drawing/2014/main" id="{45B19898-ED92-73DF-1E0E-335F03555136}"/>
              </a:ext>
            </a:extLst>
          </p:cNvPr>
          <p:cNvSpPr/>
          <p:nvPr/>
        </p:nvSpPr>
        <p:spPr>
          <a:xfrm>
            <a:off x="3219604" y="4914899"/>
            <a:ext cx="1896533" cy="1295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latin typeface="Segoe UI" panose="020B0502040204020203" pitchFamily="34" charset="0"/>
              <a:cs typeface="Segoe UI" panose="020B0502040204020203" pitchFamily="34" charset="0"/>
            </a:endParaRPr>
          </a:p>
          <a:p>
            <a:pPr algn="ctr"/>
            <a:r>
              <a:rPr lang="en-US" sz="1400" dirty="0">
                <a:latin typeface="Segoe UI" panose="020B0502040204020203" pitchFamily="34" charset="0"/>
                <a:cs typeface="Segoe UI" panose="020B0502040204020203" pitchFamily="34" charset="0"/>
              </a:rPr>
              <a:t>SRIVIDHYA</a:t>
            </a:r>
          </a:p>
          <a:p>
            <a:pPr algn="ctr"/>
            <a:r>
              <a:rPr lang="en-US" sz="1400" dirty="0">
                <a:latin typeface="Segoe UI" panose="020B0502040204020203" pitchFamily="34" charset="0"/>
                <a:cs typeface="Segoe UI" panose="020B0502040204020203" pitchFamily="34" charset="0"/>
              </a:rPr>
              <a:t>Data Collection &amp; Dataset Handling</a:t>
            </a:r>
            <a:endParaRPr lang="en-IN" sz="1400" dirty="0">
              <a:latin typeface="Segoe UI" panose="020B0502040204020203" pitchFamily="34" charset="0"/>
              <a:cs typeface="Segoe UI" panose="020B0502040204020203" pitchFamily="34" charset="0"/>
            </a:endParaRPr>
          </a:p>
        </p:txBody>
      </p:sp>
      <p:sp>
        <p:nvSpPr>
          <p:cNvPr id="8" name="Rectangle 7">
            <a:extLst>
              <a:ext uri="{FF2B5EF4-FFF2-40B4-BE49-F238E27FC236}">
                <a16:creationId xmlns:a16="http://schemas.microsoft.com/office/drawing/2014/main" id="{D8053A64-209C-E1AB-EF43-F8D52A66881A}"/>
              </a:ext>
            </a:extLst>
          </p:cNvPr>
          <p:cNvSpPr/>
          <p:nvPr/>
        </p:nvSpPr>
        <p:spPr>
          <a:xfrm>
            <a:off x="5405660" y="4914899"/>
            <a:ext cx="1896533" cy="1295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latin typeface="Segoe UI" panose="020B0502040204020203" pitchFamily="34" charset="0"/>
              <a:cs typeface="Segoe UI" panose="020B0502040204020203" pitchFamily="34" charset="0"/>
            </a:endParaRPr>
          </a:p>
          <a:p>
            <a:pPr algn="ctr"/>
            <a:r>
              <a:rPr lang="en-US" sz="1400" dirty="0">
                <a:latin typeface="Segoe UI" panose="020B0502040204020203" pitchFamily="34" charset="0"/>
                <a:cs typeface="Segoe UI" panose="020B0502040204020203" pitchFamily="34" charset="0"/>
              </a:rPr>
              <a:t>GANESH</a:t>
            </a:r>
          </a:p>
          <a:p>
            <a:pPr algn="ctr"/>
            <a:r>
              <a:rPr lang="en-US" sz="1400" dirty="0">
                <a:latin typeface="Segoe UI" panose="020B0502040204020203" pitchFamily="34" charset="0"/>
                <a:cs typeface="Segoe UI" panose="020B0502040204020203" pitchFamily="34" charset="0"/>
              </a:rPr>
              <a:t>Data Cleaning &amp; Preprocessing</a:t>
            </a:r>
            <a:endParaRPr lang="en-IN" sz="1400" dirty="0">
              <a:latin typeface="Segoe UI" panose="020B0502040204020203" pitchFamily="34" charset="0"/>
              <a:cs typeface="Segoe UI" panose="020B0502040204020203" pitchFamily="34" charset="0"/>
            </a:endParaRPr>
          </a:p>
        </p:txBody>
      </p:sp>
      <p:sp>
        <p:nvSpPr>
          <p:cNvPr id="10" name="Rectangle 9">
            <a:extLst>
              <a:ext uri="{FF2B5EF4-FFF2-40B4-BE49-F238E27FC236}">
                <a16:creationId xmlns:a16="http://schemas.microsoft.com/office/drawing/2014/main" id="{E0B23E10-7741-DBDA-5633-B27AE9085D7C}"/>
              </a:ext>
            </a:extLst>
          </p:cNvPr>
          <p:cNvSpPr/>
          <p:nvPr/>
        </p:nvSpPr>
        <p:spPr>
          <a:xfrm>
            <a:off x="7524597" y="4914899"/>
            <a:ext cx="1896533" cy="1295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latin typeface="Segoe UI" panose="020B0502040204020203" pitchFamily="34" charset="0"/>
              <a:cs typeface="Segoe UI" panose="020B0502040204020203" pitchFamily="34" charset="0"/>
            </a:endParaRPr>
          </a:p>
          <a:p>
            <a:pPr algn="ctr"/>
            <a:r>
              <a:rPr lang="en-US" sz="1400" dirty="0">
                <a:latin typeface="Segoe UI" panose="020B0502040204020203" pitchFamily="34" charset="0"/>
                <a:cs typeface="Segoe UI" panose="020B0502040204020203" pitchFamily="34" charset="0"/>
              </a:rPr>
              <a:t>BHUWAN</a:t>
            </a:r>
          </a:p>
          <a:p>
            <a:pPr algn="ctr"/>
            <a:r>
              <a:rPr lang="en-US" sz="1400" dirty="0">
                <a:latin typeface="Segoe UI" panose="020B0502040204020203" pitchFamily="34" charset="0"/>
                <a:cs typeface="Segoe UI" panose="020B0502040204020203" pitchFamily="34" charset="0"/>
              </a:rPr>
              <a:t>Data Analysis &amp; Visualization</a:t>
            </a:r>
            <a:endParaRPr lang="en-IN" sz="1400" dirty="0">
              <a:latin typeface="Segoe UI" panose="020B0502040204020203" pitchFamily="34" charset="0"/>
              <a:cs typeface="Segoe UI" panose="020B0502040204020203" pitchFamily="34" charset="0"/>
            </a:endParaRPr>
          </a:p>
        </p:txBody>
      </p:sp>
      <p:sp>
        <p:nvSpPr>
          <p:cNvPr id="12" name="Rectangle 11">
            <a:extLst>
              <a:ext uri="{FF2B5EF4-FFF2-40B4-BE49-F238E27FC236}">
                <a16:creationId xmlns:a16="http://schemas.microsoft.com/office/drawing/2014/main" id="{1D14D5C3-C1F0-5B9D-FAC3-BAAD3758E2E6}"/>
              </a:ext>
            </a:extLst>
          </p:cNvPr>
          <p:cNvSpPr/>
          <p:nvPr/>
        </p:nvSpPr>
        <p:spPr>
          <a:xfrm>
            <a:off x="9643534" y="4914899"/>
            <a:ext cx="1896533" cy="1295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latin typeface="Segoe UI" panose="020B0502040204020203" pitchFamily="34" charset="0"/>
              <a:cs typeface="Segoe UI" panose="020B0502040204020203" pitchFamily="34" charset="0"/>
            </a:endParaRPr>
          </a:p>
          <a:p>
            <a:pPr algn="ctr"/>
            <a:r>
              <a:rPr lang="en-US" sz="1400" dirty="0">
                <a:latin typeface="Segoe UI" panose="020B0502040204020203" pitchFamily="34" charset="0"/>
                <a:cs typeface="Segoe UI" panose="020B0502040204020203" pitchFamily="34" charset="0"/>
              </a:rPr>
              <a:t>VRINDA SUNI</a:t>
            </a:r>
          </a:p>
          <a:p>
            <a:pPr algn="ctr"/>
            <a:r>
              <a:rPr lang="en-US" sz="1400" dirty="0">
                <a:latin typeface="Segoe UI" panose="020B0502040204020203" pitchFamily="34" charset="0"/>
                <a:cs typeface="Segoe UI" panose="020B0502040204020203" pitchFamily="34" charset="0"/>
              </a:rPr>
              <a:t>PPT Design GitHub Presentation </a:t>
            </a:r>
            <a:endParaRPr lang="en-IN" sz="1400" dirty="0">
              <a:latin typeface="Segoe UI" panose="020B0502040204020203" pitchFamily="34" charset="0"/>
              <a:cs typeface="Segoe UI" panose="020B0502040204020203" pitchFamily="34" charset="0"/>
            </a:endParaRPr>
          </a:p>
        </p:txBody>
      </p:sp>
      <p:pic>
        <p:nvPicPr>
          <p:cNvPr id="1032" name="Picture 8" descr="The Impact of Social Media on Mental Health: Navigating the Digital World |  by Avni Mishra | Medium">
            <a:extLst>
              <a:ext uri="{FF2B5EF4-FFF2-40B4-BE49-F238E27FC236}">
                <a16:creationId xmlns:a16="http://schemas.microsoft.com/office/drawing/2014/main" id="{95E5DD9E-8FBB-AC6B-E40B-80CC40B6B7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27533" y="1219200"/>
            <a:ext cx="2438400" cy="3043766"/>
          </a:xfrm>
          <a:prstGeom prst="rect">
            <a:avLst/>
          </a:prstGeom>
          <a:noFill/>
          <a:extLst>
            <a:ext uri="{909E8E84-426E-40DD-AFC4-6F175D3DCCD1}">
              <a14:hiddenFill xmlns:a14="http://schemas.microsoft.com/office/drawing/2010/main">
                <a:solidFill>
                  <a:srgbClr val="FFFFFF"/>
                </a:solidFill>
              </a14:hiddenFill>
            </a:ext>
          </a:extLst>
        </p:spPr>
      </p:pic>
      <p:pic>
        <p:nvPicPr>
          <p:cNvPr id="14" name="Graphic 13" descr="Books with solid fill">
            <a:extLst>
              <a:ext uri="{FF2B5EF4-FFF2-40B4-BE49-F238E27FC236}">
                <a16:creationId xmlns:a16="http://schemas.microsoft.com/office/drawing/2014/main" id="{01EA8A34-5BCF-67F8-5402-6794C9442C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2848" y="4974168"/>
            <a:ext cx="397933" cy="397933"/>
          </a:xfrm>
          <a:prstGeom prst="rect">
            <a:avLst/>
          </a:prstGeom>
        </p:spPr>
      </p:pic>
      <p:pic>
        <p:nvPicPr>
          <p:cNvPr id="16" name="Graphic 15" descr="Head with gears with solid fill">
            <a:extLst>
              <a:ext uri="{FF2B5EF4-FFF2-40B4-BE49-F238E27FC236}">
                <a16:creationId xmlns:a16="http://schemas.microsoft.com/office/drawing/2014/main" id="{9275BA81-222C-B51E-CD13-A055A0B6631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44263" y="4944534"/>
            <a:ext cx="457200" cy="457200"/>
          </a:xfrm>
          <a:prstGeom prst="rect">
            <a:avLst/>
          </a:prstGeom>
        </p:spPr>
      </p:pic>
      <p:pic>
        <p:nvPicPr>
          <p:cNvPr id="30" name="Graphic 29" descr="Cloud Computing with solid fill">
            <a:extLst>
              <a:ext uri="{FF2B5EF4-FFF2-40B4-BE49-F238E27FC236}">
                <a16:creationId xmlns:a16="http://schemas.microsoft.com/office/drawing/2014/main" id="{89B11425-2995-24EB-A9B0-ECF05F42D6B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16803" y="4914899"/>
            <a:ext cx="457200" cy="457200"/>
          </a:xfrm>
          <a:prstGeom prst="rect">
            <a:avLst/>
          </a:prstGeom>
        </p:spPr>
      </p:pic>
      <p:pic>
        <p:nvPicPr>
          <p:cNvPr id="32" name="Graphic 31" descr="Computer with solid fill">
            <a:extLst>
              <a:ext uri="{FF2B5EF4-FFF2-40B4-BE49-F238E27FC236}">
                <a16:creationId xmlns:a16="http://schemas.microsoft.com/office/drawing/2014/main" id="{2F22DFB9-B38B-FFCE-A9DF-271A2A9429D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39270" y="4944534"/>
            <a:ext cx="457200" cy="457200"/>
          </a:xfrm>
          <a:prstGeom prst="rect">
            <a:avLst/>
          </a:prstGeom>
        </p:spPr>
      </p:pic>
      <p:pic>
        <p:nvPicPr>
          <p:cNvPr id="34" name="Graphic 33" descr="Internet with solid fill">
            <a:extLst>
              <a:ext uri="{FF2B5EF4-FFF2-40B4-BE49-F238E27FC236}">
                <a16:creationId xmlns:a16="http://schemas.microsoft.com/office/drawing/2014/main" id="{61BC1391-9340-174A-82BD-37D29592C39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302798" y="4854497"/>
            <a:ext cx="578003" cy="578003"/>
          </a:xfrm>
          <a:prstGeom prst="rect">
            <a:avLst/>
          </a:prstGeom>
        </p:spPr>
      </p:pic>
    </p:spTree>
    <p:extLst>
      <p:ext uri="{BB962C8B-B14F-4D97-AF65-F5344CB8AC3E}">
        <p14:creationId xmlns:p14="http://schemas.microsoft.com/office/powerpoint/2010/main" val="1846604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63457-B6B9-94B4-4519-78E12F699A2F}"/>
              </a:ext>
            </a:extLst>
          </p:cNvPr>
          <p:cNvSpPr>
            <a:spLocks noGrp="1"/>
          </p:cNvSpPr>
          <p:nvPr>
            <p:ph type="title"/>
          </p:nvPr>
        </p:nvSpPr>
        <p:spPr/>
        <p:txBody>
          <a:bodyPr>
            <a:normAutofit/>
          </a:bodyPr>
          <a:lstStyle/>
          <a:p>
            <a:r>
              <a:rPr lang="en-IN" sz="6000" b="1" dirty="0">
                <a:latin typeface="Segoe UI Semibold" panose="020B0702040204020203" pitchFamily="34" charset="0"/>
                <a:cs typeface="Segoe UI Semibold" panose="020B0702040204020203" pitchFamily="34" charset="0"/>
              </a:rPr>
              <a:t>Problem Statement</a:t>
            </a:r>
            <a:endParaRPr lang="en-IN" sz="6000" dirty="0">
              <a:latin typeface="Segoe UI Semibold" panose="020B0702040204020203" pitchFamily="34" charset="0"/>
              <a:cs typeface="Segoe UI Semibold" panose="020B0702040204020203" pitchFamily="34" charset="0"/>
            </a:endParaRPr>
          </a:p>
        </p:txBody>
      </p:sp>
      <p:sp>
        <p:nvSpPr>
          <p:cNvPr id="3" name="Content Placeholder 2">
            <a:extLst>
              <a:ext uri="{FF2B5EF4-FFF2-40B4-BE49-F238E27FC236}">
                <a16:creationId xmlns:a16="http://schemas.microsoft.com/office/drawing/2014/main" id="{EE4790C5-4E3C-05D2-5AAA-20FD16EE7D26}"/>
              </a:ext>
            </a:extLst>
          </p:cNvPr>
          <p:cNvSpPr>
            <a:spLocks noGrp="1"/>
          </p:cNvSpPr>
          <p:nvPr>
            <p:ph idx="1"/>
          </p:nvPr>
        </p:nvSpPr>
        <p:spPr/>
        <p:txBody>
          <a:bodyPr/>
          <a:lstStyle/>
          <a:p>
            <a:pPr algn="just"/>
            <a:r>
              <a:rPr lang="en-IN" b="1" dirty="0">
                <a:latin typeface="Segoe UI" panose="020B0502040204020203" pitchFamily="34" charset="0"/>
                <a:cs typeface="Segoe UI" panose="020B0502040204020203" pitchFamily="34" charset="0"/>
              </a:rPr>
              <a:t>Why this project?</a:t>
            </a:r>
            <a:endParaRPr lang="en-IN" dirty="0">
              <a:latin typeface="Segoe UI" panose="020B0502040204020203" pitchFamily="34" charset="0"/>
              <a:cs typeface="Segoe UI" panose="020B0502040204020203" pitchFamily="34" charset="0"/>
            </a:endParaRPr>
          </a:p>
          <a:p>
            <a:pPr algn="just"/>
            <a:r>
              <a:rPr lang="en-IN" sz="1600" dirty="0">
                <a:latin typeface="Segoe UI" panose="020B0502040204020203" pitchFamily="34" charset="0"/>
                <a:cs typeface="Segoe UI" panose="020B0502040204020203" pitchFamily="34" charset="0"/>
              </a:rPr>
              <a:t>Social media platforms have become an integral part of daily life. While they improve communication and connectivity, excessive usage may contribute to mental health issues such as anxiety, depression, stress, sleep disturbances, and reduced self-esteem.</a:t>
            </a:r>
          </a:p>
          <a:p>
            <a:pPr algn="just"/>
            <a:endParaRPr lang="en-IN" dirty="0">
              <a:latin typeface="Segoe UI" panose="020B0502040204020203" pitchFamily="34" charset="0"/>
              <a:cs typeface="Segoe UI" panose="020B0502040204020203" pitchFamily="34" charset="0"/>
            </a:endParaRPr>
          </a:p>
        </p:txBody>
      </p:sp>
      <p:sp>
        <p:nvSpPr>
          <p:cNvPr id="4" name="Rectangle 3">
            <a:extLst>
              <a:ext uri="{FF2B5EF4-FFF2-40B4-BE49-F238E27FC236}">
                <a16:creationId xmlns:a16="http://schemas.microsoft.com/office/drawing/2014/main" id="{BF53D827-6C4D-2BA9-3B64-DCB9B6E26C8F}"/>
              </a:ext>
            </a:extLst>
          </p:cNvPr>
          <p:cNvSpPr/>
          <p:nvPr/>
        </p:nvSpPr>
        <p:spPr>
          <a:xfrm>
            <a:off x="1295400" y="4326468"/>
            <a:ext cx="1693333" cy="431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a:p>
            <a:pPr algn="ctr"/>
            <a:r>
              <a:rPr lang="en-IN"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Key Problems</a:t>
            </a:r>
          </a:p>
          <a:p>
            <a:pPr algn="ctr"/>
            <a:endParaRPr lang="en-IN"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p:txBody>
      </p:sp>
      <p:sp>
        <p:nvSpPr>
          <p:cNvPr id="5" name="Rectangle 4">
            <a:extLst>
              <a:ext uri="{FF2B5EF4-FFF2-40B4-BE49-F238E27FC236}">
                <a16:creationId xmlns:a16="http://schemas.microsoft.com/office/drawing/2014/main" id="{B2E52C08-A2EF-EC98-171C-70F619B5A15E}"/>
              </a:ext>
            </a:extLst>
          </p:cNvPr>
          <p:cNvSpPr/>
          <p:nvPr/>
        </p:nvSpPr>
        <p:spPr>
          <a:xfrm>
            <a:off x="3818467" y="3201670"/>
            <a:ext cx="3937000" cy="5503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a:p>
            <a:r>
              <a:rPr lang="en-IN"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Increased screen time among youth </a:t>
            </a:r>
          </a:p>
          <a:p>
            <a:pPr algn="ctr"/>
            <a:endParaRPr lang="en-IN"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p:txBody>
      </p:sp>
      <p:sp>
        <p:nvSpPr>
          <p:cNvPr id="11" name="Rectangle 10">
            <a:extLst>
              <a:ext uri="{FF2B5EF4-FFF2-40B4-BE49-F238E27FC236}">
                <a16:creationId xmlns:a16="http://schemas.microsoft.com/office/drawing/2014/main" id="{B0F94AA1-7339-B52B-0B74-54CA5144D14B}"/>
              </a:ext>
            </a:extLst>
          </p:cNvPr>
          <p:cNvSpPr/>
          <p:nvPr/>
        </p:nvSpPr>
        <p:spPr>
          <a:xfrm>
            <a:off x="3818467" y="3952452"/>
            <a:ext cx="3937000" cy="5503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a:p>
            <a:r>
              <a:rPr lang="en-IN"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Rising mental health concerns </a:t>
            </a:r>
          </a:p>
          <a:p>
            <a:pPr algn="ctr"/>
            <a:endParaRPr lang="en-IN"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p:txBody>
      </p:sp>
      <p:sp>
        <p:nvSpPr>
          <p:cNvPr id="13" name="Rectangle 12">
            <a:extLst>
              <a:ext uri="{FF2B5EF4-FFF2-40B4-BE49-F238E27FC236}">
                <a16:creationId xmlns:a16="http://schemas.microsoft.com/office/drawing/2014/main" id="{15749625-E208-3516-C932-E3822155F388}"/>
              </a:ext>
            </a:extLst>
          </p:cNvPr>
          <p:cNvSpPr/>
          <p:nvPr/>
        </p:nvSpPr>
        <p:spPr>
          <a:xfrm>
            <a:off x="3818467" y="4703234"/>
            <a:ext cx="3937000" cy="5503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Segoe UI" panose="020B0502040204020203" pitchFamily="34" charset="0"/>
              <a:cs typeface="Segoe UI" panose="020B0502040204020203" pitchFamily="34" charset="0"/>
            </a:endParaRPr>
          </a:p>
          <a:p>
            <a:pPr algn="ctr"/>
            <a:r>
              <a:rPr lang="en-IN"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Lack of awareness about usage patterns </a:t>
            </a:r>
          </a:p>
          <a:p>
            <a:endParaRPr lang="en-IN" dirty="0">
              <a:latin typeface="Segoe UI" panose="020B0502040204020203" pitchFamily="34" charset="0"/>
              <a:cs typeface="Segoe UI" panose="020B0502040204020203" pitchFamily="34" charset="0"/>
            </a:endParaRPr>
          </a:p>
        </p:txBody>
      </p:sp>
      <p:sp>
        <p:nvSpPr>
          <p:cNvPr id="15" name="Rectangle 14">
            <a:extLst>
              <a:ext uri="{FF2B5EF4-FFF2-40B4-BE49-F238E27FC236}">
                <a16:creationId xmlns:a16="http://schemas.microsoft.com/office/drawing/2014/main" id="{B0B5C8A8-40AB-C15B-F950-CD6F74B6472A}"/>
              </a:ext>
            </a:extLst>
          </p:cNvPr>
          <p:cNvSpPr/>
          <p:nvPr/>
        </p:nvSpPr>
        <p:spPr>
          <a:xfrm>
            <a:off x="3818467" y="5486613"/>
            <a:ext cx="3937000" cy="5503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a:p>
            <a:r>
              <a:rPr lang="en-IN"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Need for data-driven insights </a:t>
            </a:r>
          </a:p>
          <a:p>
            <a:endParaRPr lang="en-IN"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p:txBody>
      </p:sp>
      <p:cxnSp>
        <p:nvCxnSpPr>
          <p:cNvPr id="19" name="Straight Connector 18">
            <a:extLst>
              <a:ext uri="{FF2B5EF4-FFF2-40B4-BE49-F238E27FC236}">
                <a16:creationId xmlns:a16="http://schemas.microsoft.com/office/drawing/2014/main" id="{3962CBC3-241A-7A8B-D3AA-C6A9BEBAD185}"/>
              </a:ext>
            </a:extLst>
          </p:cNvPr>
          <p:cNvCxnSpPr/>
          <p:nvPr/>
        </p:nvCxnSpPr>
        <p:spPr>
          <a:xfrm>
            <a:off x="8729133" y="3090333"/>
            <a:ext cx="0" cy="2946613"/>
          </a:xfrm>
          <a:prstGeom prst="line">
            <a:avLst/>
          </a:prstGeom>
        </p:spPr>
        <p:style>
          <a:lnRef idx="3">
            <a:schemeClr val="accent1"/>
          </a:lnRef>
          <a:fillRef idx="0">
            <a:schemeClr val="accent1"/>
          </a:fillRef>
          <a:effectRef idx="2">
            <a:schemeClr val="accent1"/>
          </a:effectRef>
          <a:fontRef idx="minor">
            <a:schemeClr val="tx1"/>
          </a:fontRef>
        </p:style>
      </p:cxnSp>
      <p:cxnSp>
        <p:nvCxnSpPr>
          <p:cNvPr id="21" name="Connector: Elbow 20">
            <a:extLst>
              <a:ext uri="{FF2B5EF4-FFF2-40B4-BE49-F238E27FC236}">
                <a16:creationId xmlns:a16="http://schemas.microsoft.com/office/drawing/2014/main" id="{D8F2C031-EF2E-D8F9-1C91-8E0C5BF5F482}"/>
              </a:ext>
            </a:extLst>
          </p:cNvPr>
          <p:cNvCxnSpPr>
            <a:cxnSpLocks/>
            <a:stCxn id="4" idx="3"/>
            <a:endCxn id="15" idx="1"/>
          </p:cNvCxnSpPr>
          <p:nvPr/>
        </p:nvCxnSpPr>
        <p:spPr>
          <a:xfrm>
            <a:off x="2988733" y="4542368"/>
            <a:ext cx="829734" cy="1219412"/>
          </a:xfrm>
          <a:prstGeom prst="bentConnector3">
            <a:avLst>
              <a:gd name="adj1" fmla="val 50000"/>
            </a:avLst>
          </a:prstGeom>
        </p:spPr>
        <p:style>
          <a:lnRef idx="3">
            <a:schemeClr val="accent1"/>
          </a:lnRef>
          <a:fillRef idx="0">
            <a:schemeClr val="accent1"/>
          </a:fillRef>
          <a:effectRef idx="2">
            <a:schemeClr val="accent1"/>
          </a:effectRef>
          <a:fontRef idx="minor">
            <a:schemeClr val="tx1"/>
          </a:fontRef>
        </p:style>
      </p:cxnSp>
      <p:cxnSp>
        <p:nvCxnSpPr>
          <p:cNvPr id="25" name="Connector: Elbow 24">
            <a:extLst>
              <a:ext uri="{FF2B5EF4-FFF2-40B4-BE49-F238E27FC236}">
                <a16:creationId xmlns:a16="http://schemas.microsoft.com/office/drawing/2014/main" id="{F78EA5AC-B931-BFC6-CF0A-68B509FCE58C}"/>
              </a:ext>
            </a:extLst>
          </p:cNvPr>
          <p:cNvCxnSpPr>
            <a:cxnSpLocks/>
            <a:stCxn id="4" idx="3"/>
            <a:endCxn id="5" idx="1"/>
          </p:cNvCxnSpPr>
          <p:nvPr/>
        </p:nvCxnSpPr>
        <p:spPr>
          <a:xfrm flipV="1">
            <a:off x="2988733" y="3476837"/>
            <a:ext cx="829734" cy="1065531"/>
          </a:xfrm>
          <a:prstGeom prst="bentConnector3">
            <a:avLst/>
          </a:prstGeom>
        </p:spPr>
        <p:style>
          <a:lnRef idx="3">
            <a:schemeClr val="accent1"/>
          </a:lnRef>
          <a:fillRef idx="0">
            <a:schemeClr val="accent1"/>
          </a:fillRef>
          <a:effectRef idx="2">
            <a:schemeClr val="accent1"/>
          </a:effectRef>
          <a:fontRef idx="minor">
            <a:schemeClr val="tx1"/>
          </a:fontRef>
        </p:style>
      </p:cxnSp>
      <p:cxnSp>
        <p:nvCxnSpPr>
          <p:cNvPr id="29" name="Connector: Elbow 28">
            <a:extLst>
              <a:ext uri="{FF2B5EF4-FFF2-40B4-BE49-F238E27FC236}">
                <a16:creationId xmlns:a16="http://schemas.microsoft.com/office/drawing/2014/main" id="{9BE1A0AD-0741-B154-58EE-906860949D17}"/>
              </a:ext>
            </a:extLst>
          </p:cNvPr>
          <p:cNvCxnSpPr>
            <a:cxnSpLocks/>
            <a:stCxn id="4" idx="3"/>
            <a:endCxn id="11" idx="1"/>
          </p:cNvCxnSpPr>
          <p:nvPr/>
        </p:nvCxnSpPr>
        <p:spPr>
          <a:xfrm flipV="1">
            <a:off x="2988733" y="4227619"/>
            <a:ext cx="829734" cy="314749"/>
          </a:xfrm>
          <a:prstGeom prst="bentConnector3">
            <a:avLst/>
          </a:prstGeom>
        </p:spPr>
        <p:style>
          <a:lnRef idx="3">
            <a:schemeClr val="accent1"/>
          </a:lnRef>
          <a:fillRef idx="0">
            <a:schemeClr val="accent1"/>
          </a:fillRef>
          <a:effectRef idx="2">
            <a:schemeClr val="accent1"/>
          </a:effectRef>
          <a:fontRef idx="minor">
            <a:schemeClr val="tx1"/>
          </a:fontRef>
        </p:style>
      </p:cxnSp>
      <p:cxnSp>
        <p:nvCxnSpPr>
          <p:cNvPr id="31" name="Connector: Elbow 30">
            <a:extLst>
              <a:ext uri="{FF2B5EF4-FFF2-40B4-BE49-F238E27FC236}">
                <a16:creationId xmlns:a16="http://schemas.microsoft.com/office/drawing/2014/main" id="{68107D7E-A1A5-8456-CB49-3A70A6A52658}"/>
              </a:ext>
            </a:extLst>
          </p:cNvPr>
          <p:cNvCxnSpPr>
            <a:cxnSpLocks/>
            <a:stCxn id="4" idx="3"/>
            <a:endCxn id="13" idx="1"/>
          </p:cNvCxnSpPr>
          <p:nvPr/>
        </p:nvCxnSpPr>
        <p:spPr>
          <a:xfrm>
            <a:off x="2988733" y="4542368"/>
            <a:ext cx="829734" cy="436033"/>
          </a:xfrm>
          <a:prstGeom prst="bentConnector3">
            <a:avLst/>
          </a:prstGeom>
        </p:spPr>
        <p:style>
          <a:lnRef idx="3">
            <a:schemeClr val="accent1"/>
          </a:lnRef>
          <a:fillRef idx="0">
            <a:schemeClr val="accent1"/>
          </a:fillRef>
          <a:effectRef idx="2">
            <a:schemeClr val="accent1"/>
          </a:effectRef>
          <a:fontRef idx="minor">
            <a:schemeClr val="tx1"/>
          </a:fontRef>
        </p:style>
      </p:cxnSp>
      <p:pic>
        <p:nvPicPr>
          <p:cNvPr id="2052" name="Picture 4" descr="What Is Social Media 2.0? Simple Explanation And Examples | Bernard Marr">
            <a:extLst>
              <a:ext uri="{FF2B5EF4-FFF2-40B4-BE49-F238E27FC236}">
                <a16:creationId xmlns:a16="http://schemas.microsoft.com/office/drawing/2014/main" id="{595A2FB6-1C87-E855-2465-0304445E85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59450" y="3619482"/>
            <a:ext cx="860102" cy="573844"/>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6753032B-CD03-821E-DB59-AE3448BD4288}"/>
              </a:ext>
            </a:extLst>
          </p:cNvPr>
          <p:cNvSpPr txBox="1"/>
          <p:nvPr/>
        </p:nvSpPr>
        <p:spPr>
          <a:xfrm>
            <a:off x="9919552" y="3619482"/>
            <a:ext cx="1532466" cy="523220"/>
          </a:xfrm>
          <a:prstGeom prst="rect">
            <a:avLst/>
          </a:prstGeom>
          <a:noFill/>
        </p:spPr>
        <p:txBody>
          <a:bodyPr wrap="square" rtlCol="0">
            <a:spAutoFit/>
          </a:bodyPr>
          <a:lstStyle/>
          <a:p>
            <a:r>
              <a:rPr lang="en-IN" sz="1400" dirty="0">
                <a:latin typeface="Segoe UI" panose="020B0502040204020203" pitchFamily="34" charset="0"/>
                <a:cs typeface="Segoe UI" panose="020B0502040204020203" pitchFamily="34" charset="0"/>
              </a:rPr>
              <a:t>Social Media Usage</a:t>
            </a:r>
          </a:p>
        </p:txBody>
      </p:sp>
      <p:pic>
        <p:nvPicPr>
          <p:cNvPr id="2054" name="Picture 6" descr="Behavioral Change - Mind Help">
            <a:extLst>
              <a:ext uri="{FF2B5EF4-FFF2-40B4-BE49-F238E27FC236}">
                <a16:creationId xmlns:a16="http://schemas.microsoft.com/office/drawing/2014/main" id="{AB602F9C-8166-6977-344F-D5D5036AC4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9450" y="4504225"/>
            <a:ext cx="930169" cy="523220"/>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a:extLst>
              <a:ext uri="{FF2B5EF4-FFF2-40B4-BE49-F238E27FC236}">
                <a16:creationId xmlns:a16="http://schemas.microsoft.com/office/drawing/2014/main" id="{A17D8ECC-79A7-6026-1683-6F319E364321}"/>
              </a:ext>
            </a:extLst>
          </p:cNvPr>
          <p:cNvSpPr txBox="1"/>
          <p:nvPr/>
        </p:nvSpPr>
        <p:spPr>
          <a:xfrm>
            <a:off x="9989619" y="4410394"/>
            <a:ext cx="1532466" cy="523220"/>
          </a:xfrm>
          <a:prstGeom prst="rect">
            <a:avLst/>
          </a:prstGeom>
          <a:noFill/>
        </p:spPr>
        <p:txBody>
          <a:bodyPr wrap="square" rtlCol="0">
            <a:spAutoFit/>
          </a:bodyPr>
          <a:lstStyle/>
          <a:p>
            <a:r>
              <a:rPr lang="en-IN" sz="1400" dirty="0">
                <a:latin typeface="Segoe UI" panose="020B0502040204020203" pitchFamily="34" charset="0"/>
                <a:cs typeface="Segoe UI" panose="020B0502040204020203" pitchFamily="34" charset="0"/>
              </a:rPr>
              <a:t>Behavioural Changes</a:t>
            </a:r>
            <a:endParaRPr lang="en-IN" sz="1100" dirty="0">
              <a:latin typeface="Segoe UI" panose="020B0502040204020203" pitchFamily="34" charset="0"/>
              <a:cs typeface="Segoe UI" panose="020B0502040204020203" pitchFamily="34" charset="0"/>
            </a:endParaRPr>
          </a:p>
        </p:txBody>
      </p:sp>
      <p:pic>
        <p:nvPicPr>
          <p:cNvPr id="2058" name="Picture 10" descr="The Impacts of Mental Health: Why World Mental Health Day Matters -  Serenity Malibu">
            <a:extLst>
              <a:ext uri="{FF2B5EF4-FFF2-40B4-BE49-F238E27FC236}">
                <a16:creationId xmlns:a16="http://schemas.microsoft.com/office/drawing/2014/main" id="{246EF404-EEA6-EAD2-2041-67EB59C47F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59450" y="5343242"/>
            <a:ext cx="930169" cy="618985"/>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62398A08-2591-3C33-F6E4-644549E194A5}"/>
              </a:ext>
            </a:extLst>
          </p:cNvPr>
          <p:cNvSpPr txBox="1"/>
          <p:nvPr/>
        </p:nvSpPr>
        <p:spPr>
          <a:xfrm>
            <a:off x="10070254" y="5345874"/>
            <a:ext cx="1532466" cy="523220"/>
          </a:xfrm>
          <a:prstGeom prst="rect">
            <a:avLst/>
          </a:prstGeom>
          <a:noFill/>
        </p:spPr>
        <p:txBody>
          <a:bodyPr wrap="square" rtlCol="0">
            <a:spAutoFit/>
          </a:bodyPr>
          <a:lstStyle/>
          <a:p>
            <a:r>
              <a:rPr lang="en-IN" sz="1400" dirty="0">
                <a:latin typeface="Segoe UI" panose="020B0502040204020203" pitchFamily="34" charset="0"/>
                <a:cs typeface="Segoe UI" panose="020B0502040204020203" pitchFamily="34" charset="0"/>
              </a:rPr>
              <a:t>Mental Health Impact</a:t>
            </a:r>
            <a:endParaRPr lang="en-IN" sz="1000" dirty="0">
              <a:latin typeface="Segoe UI" panose="020B0502040204020203" pitchFamily="34" charset="0"/>
              <a:cs typeface="Segoe UI" panose="020B0502040204020203" pitchFamily="34" charset="0"/>
            </a:endParaRPr>
          </a:p>
        </p:txBody>
      </p:sp>
      <p:sp>
        <p:nvSpPr>
          <p:cNvPr id="41" name="TextBox 40">
            <a:extLst>
              <a:ext uri="{FF2B5EF4-FFF2-40B4-BE49-F238E27FC236}">
                <a16:creationId xmlns:a16="http://schemas.microsoft.com/office/drawing/2014/main" id="{981F0095-9612-90D7-8FF8-41CA01755928}"/>
              </a:ext>
            </a:extLst>
          </p:cNvPr>
          <p:cNvSpPr txBox="1"/>
          <p:nvPr/>
        </p:nvSpPr>
        <p:spPr>
          <a:xfrm>
            <a:off x="9452190" y="3047781"/>
            <a:ext cx="2150530" cy="338554"/>
          </a:xfrm>
          <a:prstGeom prst="rect">
            <a:avLst/>
          </a:prstGeom>
          <a:noFill/>
        </p:spPr>
        <p:txBody>
          <a:bodyPr wrap="square" rtlCol="0">
            <a:spAutoFit/>
          </a:bodyPr>
          <a:lstStyle/>
          <a:p>
            <a:r>
              <a:rPr lang="en-IN" sz="1600" u="sng" dirty="0">
                <a:latin typeface="Segoe UI" panose="020B0502040204020203" pitchFamily="34" charset="0"/>
                <a:cs typeface="Segoe UI" panose="020B0502040204020203" pitchFamily="34" charset="0"/>
              </a:rPr>
              <a:t>The Impact Path</a:t>
            </a:r>
          </a:p>
        </p:txBody>
      </p:sp>
      <p:sp>
        <p:nvSpPr>
          <p:cNvPr id="44" name="Arrow: Down 43">
            <a:extLst>
              <a:ext uri="{FF2B5EF4-FFF2-40B4-BE49-F238E27FC236}">
                <a16:creationId xmlns:a16="http://schemas.microsoft.com/office/drawing/2014/main" id="{9F330947-BC2B-E339-2DD2-14CC6F84AE6D}"/>
              </a:ext>
            </a:extLst>
          </p:cNvPr>
          <p:cNvSpPr/>
          <p:nvPr/>
        </p:nvSpPr>
        <p:spPr>
          <a:xfrm>
            <a:off x="10218423" y="4193326"/>
            <a:ext cx="220974" cy="21706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cs typeface="Segoe UI" panose="020B0502040204020203" pitchFamily="34" charset="0"/>
            </a:endParaRPr>
          </a:p>
        </p:txBody>
      </p:sp>
      <p:sp>
        <p:nvSpPr>
          <p:cNvPr id="46" name="Arrow: Down 45">
            <a:extLst>
              <a:ext uri="{FF2B5EF4-FFF2-40B4-BE49-F238E27FC236}">
                <a16:creationId xmlns:a16="http://schemas.microsoft.com/office/drawing/2014/main" id="{3D2B2B0E-0477-8DE1-C892-2A54B51B6ABC}"/>
              </a:ext>
            </a:extLst>
          </p:cNvPr>
          <p:cNvSpPr/>
          <p:nvPr/>
        </p:nvSpPr>
        <p:spPr>
          <a:xfrm>
            <a:off x="10218423" y="5092772"/>
            <a:ext cx="220974" cy="21706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cs typeface="Segoe UI" panose="020B0502040204020203" pitchFamily="34" charset="0"/>
            </a:endParaRPr>
          </a:p>
        </p:txBody>
      </p:sp>
      <p:pic>
        <p:nvPicPr>
          <p:cNvPr id="2060" name="Picture 12" descr="6,000+ Problem Statement Stock Photos, Pictures &amp; Royalty-Free Images -  iStock | Problem statement icon">
            <a:extLst>
              <a:ext uri="{FF2B5EF4-FFF2-40B4-BE49-F238E27FC236}">
                <a16:creationId xmlns:a16="http://schemas.microsoft.com/office/drawing/2014/main" id="{DC080318-6328-823D-85F9-412632FB54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88120" y="543879"/>
            <a:ext cx="2006600" cy="11210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4068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7786E-CC67-7D59-9702-C8D04C9BAF1B}"/>
              </a:ext>
            </a:extLst>
          </p:cNvPr>
          <p:cNvSpPr>
            <a:spLocks noGrp="1"/>
          </p:cNvSpPr>
          <p:nvPr>
            <p:ph type="title"/>
          </p:nvPr>
        </p:nvSpPr>
        <p:spPr/>
        <p:txBody>
          <a:bodyPr>
            <a:normAutofit/>
          </a:bodyPr>
          <a:lstStyle/>
          <a:p>
            <a:r>
              <a:rPr lang="en-IN" sz="6000" b="1" dirty="0">
                <a:latin typeface="Segoe UI Semibold" panose="020B0702040204020203" pitchFamily="34" charset="0"/>
                <a:cs typeface="Segoe UI Semibold" panose="020B0702040204020203" pitchFamily="34" charset="0"/>
              </a:rPr>
              <a:t>Project Objective</a:t>
            </a:r>
            <a:endParaRPr lang="en-IN" sz="6000" dirty="0">
              <a:latin typeface="Segoe UI Semibold" panose="020B0702040204020203" pitchFamily="34" charset="0"/>
              <a:cs typeface="Segoe UI Semibold" panose="020B0702040204020203" pitchFamily="34" charset="0"/>
            </a:endParaRPr>
          </a:p>
        </p:txBody>
      </p:sp>
      <p:sp>
        <p:nvSpPr>
          <p:cNvPr id="3" name="Content Placeholder 2">
            <a:extLst>
              <a:ext uri="{FF2B5EF4-FFF2-40B4-BE49-F238E27FC236}">
                <a16:creationId xmlns:a16="http://schemas.microsoft.com/office/drawing/2014/main" id="{67F3430B-9CE2-BDBC-AC9A-C0863C37F661}"/>
              </a:ext>
            </a:extLst>
          </p:cNvPr>
          <p:cNvSpPr>
            <a:spLocks noGrp="1"/>
          </p:cNvSpPr>
          <p:nvPr>
            <p:ph idx="1"/>
          </p:nvPr>
        </p:nvSpPr>
        <p:spPr/>
        <p:txBody>
          <a:bodyPr/>
          <a:lstStyle/>
          <a:p>
            <a:r>
              <a:rPr lang="en-IN" b="1" u="sng" dirty="0">
                <a:latin typeface="Segoe UI" panose="020B0502040204020203" pitchFamily="34" charset="0"/>
                <a:cs typeface="Segoe UI" panose="020B0502040204020203" pitchFamily="34" charset="0"/>
              </a:rPr>
              <a:t>Main Objective</a:t>
            </a:r>
            <a:endParaRPr lang="en-IN" u="sng" dirty="0">
              <a:latin typeface="Segoe UI" panose="020B0502040204020203" pitchFamily="34" charset="0"/>
              <a:cs typeface="Segoe UI" panose="020B0502040204020203" pitchFamily="34" charset="0"/>
            </a:endParaRPr>
          </a:p>
          <a:p>
            <a:r>
              <a:rPr lang="en-IN" dirty="0">
                <a:latin typeface="Segoe UI" panose="020B0502040204020203" pitchFamily="34" charset="0"/>
                <a:cs typeface="Segoe UI" panose="020B0502040204020203" pitchFamily="34" charset="0"/>
              </a:rPr>
              <a:t>To analyse how social media usage influences mental health and identify patterns that may indicate psychological well-being or distress.</a:t>
            </a:r>
          </a:p>
          <a:p>
            <a:r>
              <a:rPr lang="en-IN" b="1" u="sng" dirty="0">
                <a:latin typeface="Segoe UI" panose="020B0502040204020203" pitchFamily="34" charset="0"/>
                <a:cs typeface="Segoe UI" panose="020B0502040204020203" pitchFamily="34" charset="0"/>
              </a:rPr>
              <a:t>Specific Objectives</a:t>
            </a:r>
            <a:endParaRPr lang="en-IN" u="sng" dirty="0">
              <a:latin typeface="Segoe UI" panose="020B0502040204020203" pitchFamily="34" charset="0"/>
              <a:cs typeface="Segoe UI" panose="020B0502040204020203" pitchFamily="34" charset="0"/>
            </a:endParaRPr>
          </a:p>
          <a:p>
            <a:endParaRPr lang="en-IN" dirty="0">
              <a:latin typeface="Segoe UI" panose="020B0502040204020203" pitchFamily="34" charset="0"/>
              <a:cs typeface="Segoe UI" panose="020B0502040204020203" pitchFamily="34" charset="0"/>
            </a:endParaRPr>
          </a:p>
        </p:txBody>
      </p:sp>
      <p:pic>
        <p:nvPicPr>
          <p:cNvPr id="3078" name="Picture 6" descr="Project objectives Vector Icons free download in SVG, PNG Format">
            <a:extLst>
              <a:ext uri="{FF2B5EF4-FFF2-40B4-BE49-F238E27FC236}">
                <a16:creationId xmlns:a16="http://schemas.microsoft.com/office/drawing/2014/main" id="{6B70E758-82C6-C4E0-F8A5-09F446CFBA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435973">
            <a:off x="530437" y="3070012"/>
            <a:ext cx="3283570" cy="328357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Folded Corner 5">
            <a:extLst>
              <a:ext uri="{FF2B5EF4-FFF2-40B4-BE49-F238E27FC236}">
                <a16:creationId xmlns:a16="http://schemas.microsoft.com/office/drawing/2014/main" id="{A7DC9AA1-DCC3-64BE-8F6A-49241CB41250}"/>
              </a:ext>
            </a:extLst>
          </p:cNvPr>
          <p:cNvSpPr/>
          <p:nvPr/>
        </p:nvSpPr>
        <p:spPr>
          <a:xfrm>
            <a:off x="4969933" y="3235959"/>
            <a:ext cx="6646334" cy="2768600"/>
          </a:xfrm>
          <a:prstGeom prst="foldedCorne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Segoe UI" panose="020B0502040204020203" pitchFamily="34" charset="0"/>
              <a:cs typeface="Segoe UI" panose="020B0502040204020203" pitchFamily="34" charset="0"/>
            </a:endParaRPr>
          </a:p>
        </p:txBody>
      </p:sp>
      <p:sp>
        <p:nvSpPr>
          <p:cNvPr id="7" name="Rectangle 6">
            <a:extLst>
              <a:ext uri="{FF2B5EF4-FFF2-40B4-BE49-F238E27FC236}">
                <a16:creationId xmlns:a16="http://schemas.microsoft.com/office/drawing/2014/main" id="{838C6427-E8E7-93DC-F8E3-BBA74DBDD214}"/>
              </a:ext>
            </a:extLst>
          </p:cNvPr>
          <p:cNvSpPr/>
          <p:nvPr/>
        </p:nvSpPr>
        <p:spPr>
          <a:xfrm>
            <a:off x="5266267" y="3371426"/>
            <a:ext cx="2937936"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Analyze user behavior</a:t>
            </a:r>
          </a:p>
        </p:txBody>
      </p:sp>
      <p:sp>
        <p:nvSpPr>
          <p:cNvPr id="16" name="Flowchart: Connector 15">
            <a:extLst>
              <a:ext uri="{FF2B5EF4-FFF2-40B4-BE49-F238E27FC236}">
                <a16:creationId xmlns:a16="http://schemas.microsoft.com/office/drawing/2014/main" id="{AE1D2810-4661-DA06-644A-09B75351AAD2}"/>
              </a:ext>
            </a:extLst>
          </p:cNvPr>
          <p:cNvSpPr/>
          <p:nvPr/>
        </p:nvSpPr>
        <p:spPr>
          <a:xfrm>
            <a:off x="5054600" y="3581400"/>
            <a:ext cx="440267" cy="448733"/>
          </a:xfrm>
          <a:prstGeom prst="flowChartConnector">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1</a:t>
            </a:r>
            <a:endParaRPr lang="en-IN"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p:txBody>
      </p:sp>
      <p:sp>
        <p:nvSpPr>
          <p:cNvPr id="20" name="Rectangle 19">
            <a:extLst>
              <a:ext uri="{FF2B5EF4-FFF2-40B4-BE49-F238E27FC236}">
                <a16:creationId xmlns:a16="http://schemas.microsoft.com/office/drawing/2014/main" id="{3DAE3FF3-48D3-484A-7649-521245F81760}"/>
              </a:ext>
            </a:extLst>
          </p:cNvPr>
          <p:cNvSpPr/>
          <p:nvPr/>
        </p:nvSpPr>
        <p:spPr>
          <a:xfrm>
            <a:off x="5266267" y="4260428"/>
            <a:ext cx="2937936"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Study screen time patterns</a:t>
            </a:r>
          </a:p>
        </p:txBody>
      </p:sp>
      <p:sp>
        <p:nvSpPr>
          <p:cNvPr id="22" name="Rectangle 21">
            <a:extLst>
              <a:ext uri="{FF2B5EF4-FFF2-40B4-BE49-F238E27FC236}">
                <a16:creationId xmlns:a16="http://schemas.microsoft.com/office/drawing/2014/main" id="{D51264D6-6D66-07DD-5210-2582F7D12770}"/>
              </a:ext>
            </a:extLst>
          </p:cNvPr>
          <p:cNvSpPr/>
          <p:nvPr/>
        </p:nvSpPr>
        <p:spPr>
          <a:xfrm>
            <a:off x="5266267" y="5142651"/>
            <a:ext cx="2937936"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Examine emotional and psychological indicators</a:t>
            </a:r>
          </a:p>
        </p:txBody>
      </p:sp>
      <p:sp>
        <p:nvSpPr>
          <p:cNvPr id="24" name="Rectangle 23">
            <a:extLst>
              <a:ext uri="{FF2B5EF4-FFF2-40B4-BE49-F238E27FC236}">
                <a16:creationId xmlns:a16="http://schemas.microsoft.com/office/drawing/2014/main" id="{E14E5AF2-8EAA-2FCF-08EA-5C6D9F9BF584}"/>
              </a:ext>
            </a:extLst>
          </p:cNvPr>
          <p:cNvSpPr/>
          <p:nvPr/>
        </p:nvSpPr>
        <p:spPr>
          <a:xfrm>
            <a:off x="8448038" y="3371426"/>
            <a:ext cx="2937936"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Identify correlations between</a:t>
            </a:r>
          </a:p>
          <a:p>
            <a:pPr algn="ctr"/>
            <a:r>
              <a:rPr lang="en-IN" sz="1600"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   social media activity and mental health</a:t>
            </a:r>
          </a:p>
        </p:txBody>
      </p:sp>
      <p:sp>
        <p:nvSpPr>
          <p:cNvPr id="26" name="Rectangle 25">
            <a:extLst>
              <a:ext uri="{FF2B5EF4-FFF2-40B4-BE49-F238E27FC236}">
                <a16:creationId xmlns:a16="http://schemas.microsoft.com/office/drawing/2014/main" id="{97788D1A-0AA0-EE87-750A-384F1023D319}"/>
              </a:ext>
            </a:extLst>
          </p:cNvPr>
          <p:cNvSpPr/>
          <p:nvPr/>
        </p:nvSpPr>
        <p:spPr>
          <a:xfrm>
            <a:off x="8514078" y="4268893"/>
            <a:ext cx="2937936"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Generate meaningful insights through data analysis</a:t>
            </a:r>
          </a:p>
        </p:txBody>
      </p:sp>
      <p:sp>
        <p:nvSpPr>
          <p:cNvPr id="30" name="Flowchart: Connector 29">
            <a:extLst>
              <a:ext uri="{FF2B5EF4-FFF2-40B4-BE49-F238E27FC236}">
                <a16:creationId xmlns:a16="http://schemas.microsoft.com/office/drawing/2014/main" id="{E966A623-D74D-D7C3-100A-96A56C8361D6}"/>
              </a:ext>
            </a:extLst>
          </p:cNvPr>
          <p:cNvSpPr/>
          <p:nvPr/>
        </p:nvSpPr>
        <p:spPr>
          <a:xfrm>
            <a:off x="5054600" y="4399283"/>
            <a:ext cx="440267" cy="448733"/>
          </a:xfrm>
          <a:prstGeom prst="flowChartConnector">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2</a:t>
            </a:r>
            <a:endParaRPr lang="en-IN"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p:txBody>
      </p:sp>
      <p:sp>
        <p:nvSpPr>
          <p:cNvPr id="32" name="Flowchart: Connector 31">
            <a:extLst>
              <a:ext uri="{FF2B5EF4-FFF2-40B4-BE49-F238E27FC236}">
                <a16:creationId xmlns:a16="http://schemas.microsoft.com/office/drawing/2014/main" id="{6C4A10CB-2864-360C-794C-EE30B581B575}"/>
              </a:ext>
            </a:extLst>
          </p:cNvPr>
          <p:cNvSpPr/>
          <p:nvPr/>
        </p:nvSpPr>
        <p:spPr>
          <a:xfrm>
            <a:off x="5054600" y="5281506"/>
            <a:ext cx="440267" cy="448733"/>
          </a:xfrm>
          <a:prstGeom prst="flowChartConnector">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3</a:t>
            </a:r>
            <a:endParaRPr lang="en-IN"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p:txBody>
      </p:sp>
      <p:sp>
        <p:nvSpPr>
          <p:cNvPr id="34" name="Flowchart: Connector 33">
            <a:extLst>
              <a:ext uri="{FF2B5EF4-FFF2-40B4-BE49-F238E27FC236}">
                <a16:creationId xmlns:a16="http://schemas.microsoft.com/office/drawing/2014/main" id="{F1914428-DB5B-5A24-3B2D-B7D38201CB86}"/>
              </a:ext>
            </a:extLst>
          </p:cNvPr>
          <p:cNvSpPr/>
          <p:nvPr/>
        </p:nvSpPr>
        <p:spPr>
          <a:xfrm>
            <a:off x="8238068" y="3528059"/>
            <a:ext cx="440267" cy="448733"/>
          </a:xfrm>
          <a:prstGeom prst="flowChartConnector">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4</a:t>
            </a:r>
            <a:endParaRPr lang="en-IN"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p:txBody>
      </p:sp>
      <p:sp>
        <p:nvSpPr>
          <p:cNvPr id="36" name="Flowchart: Connector 35">
            <a:extLst>
              <a:ext uri="{FF2B5EF4-FFF2-40B4-BE49-F238E27FC236}">
                <a16:creationId xmlns:a16="http://schemas.microsoft.com/office/drawing/2014/main" id="{90EF32CA-96CF-AC3E-4F12-B4BEDDF4513A}"/>
              </a:ext>
            </a:extLst>
          </p:cNvPr>
          <p:cNvSpPr/>
          <p:nvPr/>
        </p:nvSpPr>
        <p:spPr>
          <a:xfrm>
            <a:off x="8293944" y="4399283"/>
            <a:ext cx="440267" cy="448733"/>
          </a:xfrm>
          <a:prstGeom prst="flowChartConnector">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5</a:t>
            </a:r>
            <a:endParaRPr lang="en-IN"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p:txBody>
      </p:sp>
      <p:cxnSp>
        <p:nvCxnSpPr>
          <p:cNvPr id="38" name="Connector: Elbow 37">
            <a:extLst>
              <a:ext uri="{FF2B5EF4-FFF2-40B4-BE49-F238E27FC236}">
                <a16:creationId xmlns:a16="http://schemas.microsoft.com/office/drawing/2014/main" id="{C3C2F915-BE99-F0A8-F913-F58E581A319B}"/>
              </a:ext>
            </a:extLst>
          </p:cNvPr>
          <p:cNvCxnSpPr>
            <a:cxnSpLocks/>
          </p:cNvCxnSpPr>
          <p:nvPr/>
        </p:nvCxnSpPr>
        <p:spPr>
          <a:xfrm>
            <a:off x="3542030" y="4784930"/>
            <a:ext cx="1360169" cy="914400"/>
          </a:xfrm>
          <a:prstGeom prst="bentConnector3">
            <a:avLst/>
          </a:prstGeom>
        </p:spPr>
        <p:style>
          <a:lnRef idx="3">
            <a:schemeClr val="accent1"/>
          </a:lnRef>
          <a:fillRef idx="0">
            <a:schemeClr val="accent1"/>
          </a:fillRef>
          <a:effectRef idx="2">
            <a:schemeClr val="accent1"/>
          </a:effectRef>
          <a:fontRef idx="minor">
            <a:schemeClr val="tx1"/>
          </a:fontRef>
        </p:style>
      </p:cxnSp>
      <p:cxnSp>
        <p:nvCxnSpPr>
          <p:cNvPr id="43" name="Connector: Elbow 42">
            <a:extLst>
              <a:ext uri="{FF2B5EF4-FFF2-40B4-BE49-F238E27FC236}">
                <a16:creationId xmlns:a16="http://schemas.microsoft.com/office/drawing/2014/main" id="{91B6271F-F5E8-982C-BE4D-14EB1797BFCD}"/>
              </a:ext>
            </a:extLst>
          </p:cNvPr>
          <p:cNvCxnSpPr>
            <a:cxnSpLocks/>
          </p:cNvCxnSpPr>
          <p:nvPr/>
        </p:nvCxnSpPr>
        <p:spPr>
          <a:xfrm flipV="1">
            <a:off x="3481914" y="3752427"/>
            <a:ext cx="1465158" cy="1032503"/>
          </a:xfrm>
          <a:prstGeom prst="bentConnector3">
            <a:avLst/>
          </a:prstGeom>
        </p:spPr>
        <p:style>
          <a:lnRef idx="3">
            <a:schemeClr val="accent1"/>
          </a:lnRef>
          <a:fillRef idx="0">
            <a:schemeClr val="accent1"/>
          </a:fillRef>
          <a:effectRef idx="2">
            <a:schemeClr val="accent1"/>
          </a:effectRef>
          <a:fontRef idx="minor">
            <a:schemeClr val="tx1"/>
          </a:fontRef>
        </p:style>
      </p:cxnSp>
      <p:pic>
        <p:nvPicPr>
          <p:cNvPr id="3080" name="Picture 8" descr="Objective Free Png Image - Project Objective Objective Icon - Free  Transparent PNG Download - PNGkey">
            <a:extLst>
              <a:ext uri="{FF2B5EF4-FFF2-40B4-BE49-F238E27FC236}">
                <a16:creationId xmlns:a16="http://schemas.microsoft.com/office/drawing/2014/main" id="{E9E4B81D-AF3B-5D4D-6D02-70C1A13D28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76336" y="355600"/>
            <a:ext cx="1879344" cy="1312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3704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8501E-4C52-365B-31C7-6B71BE40D2A8}"/>
              </a:ext>
            </a:extLst>
          </p:cNvPr>
          <p:cNvSpPr>
            <a:spLocks noGrp="1"/>
          </p:cNvSpPr>
          <p:nvPr>
            <p:ph type="title"/>
          </p:nvPr>
        </p:nvSpPr>
        <p:spPr>
          <a:xfrm>
            <a:off x="1066799" y="392480"/>
            <a:ext cx="10058400" cy="1450757"/>
          </a:xfrm>
        </p:spPr>
        <p:txBody>
          <a:bodyPr>
            <a:normAutofit/>
          </a:bodyPr>
          <a:lstStyle/>
          <a:p>
            <a:r>
              <a:rPr lang="en-IN" sz="5400" b="1" dirty="0">
                <a:latin typeface="Segoe UI Semibold" panose="020B0702040204020203" pitchFamily="34" charset="0"/>
                <a:cs typeface="Segoe UI Semibold" panose="020B0702040204020203" pitchFamily="34" charset="0"/>
              </a:rPr>
              <a:t>Data</a:t>
            </a:r>
            <a:r>
              <a:rPr lang="en-IN" sz="6000" b="1" dirty="0"/>
              <a:t> Representation</a:t>
            </a:r>
            <a:endParaRPr lang="en-IN" sz="6000" dirty="0"/>
          </a:p>
        </p:txBody>
      </p:sp>
      <p:graphicFrame>
        <p:nvGraphicFramePr>
          <p:cNvPr id="9" name="Table 8">
            <a:extLst>
              <a:ext uri="{FF2B5EF4-FFF2-40B4-BE49-F238E27FC236}">
                <a16:creationId xmlns:a16="http://schemas.microsoft.com/office/drawing/2014/main" id="{D6FEE889-B633-623A-5CF8-174F8E3E6E5E}"/>
              </a:ext>
            </a:extLst>
          </p:cNvPr>
          <p:cNvGraphicFramePr>
            <a:graphicFrameLocks noGrp="1"/>
          </p:cNvGraphicFramePr>
          <p:nvPr>
            <p:extLst>
              <p:ext uri="{D42A27DB-BD31-4B8C-83A1-F6EECF244321}">
                <p14:modId xmlns:p14="http://schemas.microsoft.com/office/powerpoint/2010/main" val="1101535774"/>
              </p:ext>
            </p:extLst>
          </p:nvPr>
        </p:nvGraphicFramePr>
        <p:xfrm>
          <a:off x="1097281" y="4280836"/>
          <a:ext cx="10058399" cy="1478280"/>
        </p:xfrm>
        <a:graphic>
          <a:graphicData uri="http://schemas.openxmlformats.org/drawingml/2006/table">
            <a:tbl>
              <a:tblPr firstRow="1" bandRow="1">
                <a:tableStyleId>{5C22544A-7EE6-4342-B048-85BDC9FD1C3A}</a:tableStyleId>
              </a:tblPr>
              <a:tblGrid>
                <a:gridCol w="1482720">
                  <a:extLst>
                    <a:ext uri="{9D8B030D-6E8A-4147-A177-3AD203B41FA5}">
                      <a16:colId xmlns:a16="http://schemas.microsoft.com/office/drawing/2014/main" val="1344421901"/>
                    </a:ext>
                  </a:extLst>
                </a:gridCol>
                <a:gridCol w="1482720">
                  <a:extLst>
                    <a:ext uri="{9D8B030D-6E8A-4147-A177-3AD203B41FA5}">
                      <a16:colId xmlns:a16="http://schemas.microsoft.com/office/drawing/2014/main" val="3916833129"/>
                    </a:ext>
                  </a:extLst>
                </a:gridCol>
                <a:gridCol w="1482720">
                  <a:extLst>
                    <a:ext uri="{9D8B030D-6E8A-4147-A177-3AD203B41FA5}">
                      <a16:colId xmlns:a16="http://schemas.microsoft.com/office/drawing/2014/main" val="2359869988"/>
                    </a:ext>
                  </a:extLst>
                </a:gridCol>
                <a:gridCol w="1621724">
                  <a:extLst>
                    <a:ext uri="{9D8B030D-6E8A-4147-A177-3AD203B41FA5}">
                      <a16:colId xmlns:a16="http://schemas.microsoft.com/office/drawing/2014/main" val="2930676138"/>
                    </a:ext>
                  </a:extLst>
                </a:gridCol>
                <a:gridCol w="1695860">
                  <a:extLst>
                    <a:ext uri="{9D8B030D-6E8A-4147-A177-3AD203B41FA5}">
                      <a16:colId xmlns:a16="http://schemas.microsoft.com/office/drawing/2014/main" val="3795796286"/>
                    </a:ext>
                  </a:extLst>
                </a:gridCol>
                <a:gridCol w="2292655">
                  <a:extLst>
                    <a:ext uri="{9D8B030D-6E8A-4147-A177-3AD203B41FA5}">
                      <a16:colId xmlns:a16="http://schemas.microsoft.com/office/drawing/2014/main" val="3088739466"/>
                    </a:ext>
                  </a:extLst>
                </a:gridCol>
              </a:tblGrid>
              <a:tr h="323427">
                <a:tc>
                  <a:txBody>
                    <a:bodyPr/>
                    <a:lstStyle/>
                    <a:p>
                      <a:r>
                        <a:rPr lang="en-US" dirty="0"/>
                        <a:t>User id</a:t>
                      </a:r>
                      <a:endParaRPr lang="en-IN" dirty="0"/>
                    </a:p>
                  </a:txBody>
                  <a:tcPr/>
                </a:tc>
                <a:tc>
                  <a:txBody>
                    <a:bodyPr/>
                    <a:lstStyle/>
                    <a:p>
                      <a:r>
                        <a:rPr lang="en-US" dirty="0"/>
                        <a:t>Age</a:t>
                      </a:r>
                      <a:endParaRPr lang="en-IN" dirty="0"/>
                    </a:p>
                  </a:txBody>
                  <a:tcPr/>
                </a:tc>
                <a:tc>
                  <a:txBody>
                    <a:bodyPr/>
                    <a:lstStyle/>
                    <a:p>
                      <a:r>
                        <a:rPr lang="en-US" dirty="0"/>
                        <a:t>Platform</a:t>
                      </a:r>
                      <a:endParaRPr lang="en-IN" dirty="0"/>
                    </a:p>
                  </a:txBody>
                  <a:tcPr/>
                </a:tc>
                <a:tc>
                  <a:txBody>
                    <a:bodyPr/>
                    <a:lstStyle/>
                    <a:p>
                      <a:r>
                        <a:rPr lang="en-US" dirty="0"/>
                        <a:t>Usage Hours</a:t>
                      </a:r>
                      <a:endParaRPr lang="en-IN" dirty="0"/>
                    </a:p>
                  </a:txBody>
                  <a:tcPr/>
                </a:tc>
                <a:tc>
                  <a:txBody>
                    <a:bodyPr/>
                    <a:lstStyle/>
                    <a:p>
                      <a:r>
                        <a:rPr lang="en-US" dirty="0"/>
                        <a:t>Sleep Hours</a:t>
                      </a:r>
                      <a:endParaRPr lang="en-IN" dirty="0"/>
                    </a:p>
                  </a:txBody>
                  <a:tcPr/>
                </a:tc>
                <a:tc>
                  <a:txBody>
                    <a:bodyPr/>
                    <a:lstStyle/>
                    <a:p>
                      <a:r>
                        <a:rPr lang="en-US" dirty="0"/>
                        <a:t>Stress Level</a:t>
                      </a:r>
                      <a:endParaRPr lang="en-IN" dirty="0"/>
                    </a:p>
                  </a:txBody>
                  <a:tcPr/>
                </a:tc>
                <a:extLst>
                  <a:ext uri="{0D108BD9-81ED-4DB2-BD59-A6C34878D82A}">
                    <a16:rowId xmlns:a16="http://schemas.microsoft.com/office/drawing/2014/main" val="3058293062"/>
                  </a:ext>
                </a:extLst>
              </a:tr>
              <a:tr h="370840">
                <a:tc>
                  <a:txBody>
                    <a:bodyPr/>
                    <a:lstStyle/>
                    <a:p>
                      <a:r>
                        <a:rPr lang="en-US" dirty="0"/>
                        <a:t>001</a:t>
                      </a:r>
                      <a:endParaRPr lang="en-IN" dirty="0"/>
                    </a:p>
                  </a:txBody>
                  <a:tcPr/>
                </a:tc>
                <a:tc>
                  <a:txBody>
                    <a:bodyPr/>
                    <a:lstStyle/>
                    <a:p>
                      <a:r>
                        <a:rPr lang="en-US" dirty="0"/>
                        <a:t>21</a:t>
                      </a:r>
                      <a:endParaRPr lang="en-IN" dirty="0"/>
                    </a:p>
                  </a:txBody>
                  <a:tcPr/>
                </a:tc>
                <a:tc>
                  <a:txBody>
                    <a:bodyPr/>
                    <a:lstStyle/>
                    <a:p>
                      <a:r>
                        <a:rPr lang="en-US" dirty="0"/>
                        <a:t>Instagram</a:t>
                      </a:r>
                      <a:endParaRPr lang="en-IN" dirty="0"/>
                    </a:p>
                  </a:txBody>
                  <a:tcPr/>
                </a:tc>
                <a:tc>
                  <a:txBody>
                    <a:bodyPr/>
                    <a:lstStyle/>
                    <a:p>
                      <a:r>
                        <a:rPr lang="en-US" dirty="0"/>
                        <a:t>4.5</a:t>
                      </a:r>
                      <a:endParaRPr lang="en-IN" dirty="0"/>
                    </a:p>
                  </a:txBody>
                  <a:tcPr/>
                </a:tc>
                <a:tc>
                  <a:txBody>
                    <a:bodyPr/>
                    <a:lstStyle/>
                    <a:p>
                      <a:r>
                        <a:rPr lang="en-US" dirty="0"/>
                        <a:t>6.0</a:t>
                      </a:r>
                      <a:endParaRPr lang="en-IN" dirty="0"/>
                    </a:p>
                  </a:txBody>
                  <a:tcPr/>
                </a:tc>
                <a:tc>
                  <a:txBody>
                    <a:bodyPr/>
                    <a:lstStyle/>
                    <a:p>
                      <a:r>
                        <a:rPr lang="en-US" dirty="0"/>
                        <a:t>High</a:t>
                      </a:r>
                      <a:endParaRPr lang="en-IN" dirty="0"/>
                    </a:p>
                  </a:txBody>
                  <a:tcPr/>
                </a:tc>
                <a:extLst>
                  <a:ext uri="{0D108BD9-81ED-4DB2-BD59-A6C34878D82A}">
                    <a16:rowId xmlns:a16="http://schemas.microsoft.com/office/drawing/2014/main" val="1643763129"/>
                  </a:ext>
                </a:extLst>
              </a:tr>
              <a:tr h="370840">
                <a:tc>
                  <a:txBody>
                    <a:bodyPr/>
                    <a:lstStyle/>
                    <a:p>
                      <a:r>
                        <a:rPr lang="en-US" dirty="0"/>
                        <a:t>002</a:t>
                      </a:r>
                      <a:endParaRPr lang="en-IN" dirty="0"/>
                    </a:p>
                  </a:txBody>
                  <a:tcPr/>
                </a:tc>
                <a:tc>
                  <a:txBody>
                    <a:bodyPr/>
                    <a:lstStyle/>
                    <a:p>
                      <a:r>
                        <a:rPr lang="en-US" dirty="0"/>
                        <a:t>24</a:t>
                      </a:r>
                      <a:endParaRPr lang="en-IN" dirty="0"/>
                    </a:p>
                  </a:txBody>
                  <a:tcPr/>
                </a:tc>
                <a:tc>
                  <a:txBody>
                    <a:bodyPr/>
                    <a:lstStyle/>
                    <a:p>
                      <a:r>
                        <a:rPr lang="en-US" dirty="0"/>
                        <a:t>Facebook</a:t>
                      </a:r>
                      <a:endParaRPr lang="en-IN" dirty="0"/>
                    </a:p>
                  </a:txBody>
                  <a:tcPr/>
                </a:tc>
                <a:tc>
                  <a:txBody>
                    <a:bodyPr/>
                    <a:lstStyle/>
                    <a:p>
                      <a:r>
                        <a:rPr lang="en-US" dirty="0"/>
                        <a:t>2.0</a:t>
                      </a:r>
                      <a:endParaRPr lang="en-IN" dirty="0"/>
                    </a:p>
                  </a:txBody>
                  <a:tcPr/>
                </a:tc>
                <a:tc>
                  <a:txBody>
                    <a:bodyPr/>
                    <a:lstStyle/>
                    <a:p>
                      <a:r>
                        <a:rPr lang="en-US" dirty="0"/>
                        <a:t>7.5</a:t>
                      </a:r>
                      <a:endParaRPr lang="en-IN" dirty="0"/>
                    </a:p>
                  </a:txBody>
                  <a:tcPr/>
                </a:tc>
                <a:tc>
                  <a:txBody>
                    <a:bodyPr/>
                    <a:lstStyle/>
                    <a:p>
                      <a:r>
                        <a:rPr lang="en-US" dirty="0"/>
                        <a:t>Low</a:t>
                      </a:r>
                      <a:endParaRPr lang="en-IN" dirty="0"/>
                    </a:p>
                  </a:txBody>
                  <a:tcPr/>
                </a:tc>
                <a:extLst>
                  <a:ext uri="{0D108BD9-81ED-4DB2-BD59-A6C34878D82A}">
                    <a16:rowId xmlns:a16="http://schemas.microsoft.com/office/drawing/2014/main" val="2349184176"/>
                  </a:ext>
                </a:extLst>
              </a:tr>
              <a:tr h="370840">
                <a:tc>
                  <a:txBody>
                    <a:bodyPr/>
                    <a:lstStyle/>
                    <a:p>
                      <a:r>
                        <a:rPr lang="en-US" dirty="0"/>
                        <a:t>003</a:t>
                      </a:r>
                      <a:endParaRPr lang="en-IN" dirty="0"/>
                    </a:p>
                  </a:txBody>
                  <a:tcPr/>
                </a:tc>
                <a:tc>
                  <a:txBody>
                    <a:bodyPr/>
                    <a:lstStyle/>
                    <a:p>
                      <a:r>
                        <a:rPr lang="en-US" dirty="0"/>
                        <a:t>22</a:t>
                      </a:r>
                      <a:endParaRPr lang="en-IN" dirty="0"/>
                    </a:p>
                  </a:txBody>
                  <a:tcPr/>
                </a:tc>
                <a:tc>
                  <a:txBody>
                    <a:bodyPr/>
                    <a:lstStyle/>
                    <a:p>
                      <a:r>
                        <a:rPr lang="en-US" dirty="0"/>
                        <a:t>TikTok</a:t>
                      </a:r>
                      <a:endParaRPr lang="en-IN" dirty="0"/>
                    </a:p>
                  </a:txBody>
                  <a:tcPr/>
                </a:tc>
                <a:tc>
                  <a:txBody>
                    <a:bodyPr/>
                    <a:lstStyle/>
                    <a:p>
                      <a:r>
                        <a:rPr lang="en-US" dirty="0"/>
                        <a:t>5.0</a:t>
                      </a:r>
                      <a:endParaRPr lang="en-IN" dirty="0"/>
                    </a:p>
                  </a:txBody>
                  <a:tcPr/>
                </a:tc>
                <a:tc>
                  <a:txBody>
                    <a:bodyPr/>
                    <a:lstStyle/>
                    <a:p>
                      <a:r>
                        <a:rPr lang="en-US" dirty="0"/>
                        <a:t>5.5</a:t>
                      </a:r>
                      <a:endParaRPr lang="en-IN" dirty="0"/>
                    </a:p>
                  </a:txBody>
                  <a:tcPr/>
                </a:tc>
                <a:tc>
                  <a:txBody>
                    <a:bodyPr/>
                    <a:lstStyle/>
                    <a:p>
                      <a:r>
                        <a:rPr lang="en-US" dirty="0"/>
                        <a:t>high</a:t>
                      </a:r>
                      <a:endParaRPr lang="en-IN" dirty="0"/>
                    </a:p>
                  </a:txBody>
                  <a:tcPr/>
                </a:tc>
                <a:extLst>
                  <a:ext uri="{0D108BD9-81ED-4DB2-BD59-A6C34878D82A}">
                    <a16:rowId xmlns:a16="http://schemas.microsoft.com/office/drawing/2014/main" val="528047886"/>
                  </a:ext>
                </a:extLst>
              </a:tr>
            </a:tbl>
          </a:graphicData>
        </a:graphic>
      </p:graphicFrame>
      <p:sp>
        <p:nvSpPr>
          <p:cNvPr id="28" name="Rectangle 27">
            <a:extLst>
              <a:ext uri="{FF2B5EF4-FFF2-40B4-BE49-F238E27FC236}">
                <a16:creationId xmlns:a16="http://schemas.microsoft.com/office/drawing/2014/main" id="{94E3AA0A-076E-A0FE-BCE4-769CEE86D0B8}"/>
              </a:ext>
            </a:extLst>
          </p:cNvPr>
          <p:cNvSpPr/>
          <p:nvPr/>
        </p:nvSpPr>
        <p:spPr>
          <a:xfrm>
            <a:off x="1097280" y="1949116"/>
            <a:ext cx="4998719" cy="20854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000"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a:p>
            <a:endParaRPr lang="en-IN" sz="1000"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a:p>
            <a:endParaRPr lang="en-IN" sz="1000"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a:p>
            <a:endParaRPr lang="en-IN" sz="1000" b="1"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a:p>
            <a:r>
              <a:rPr lang="en-IN" sz="1000" b="1"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Dataset Overview</a:t>
            </a:r>
          </a:p>
          <a:p>
            <a:r>
              <a:rPr lang="en-IN" sz="1000" b="1"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 Source: Kaggle – Social Media and Mental Health Dataset</a:t>
            </a:r>
          </a:p>
          <a:p>
            <a:r>
              <a:rPr lang="en-IN" sz="1000" b="1"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 Records: 1000+ Users</a:t>
            </a:r>
          </a:p>
          <a:p>
            <a:r>
              <a:rPr lang="en-IN" sz="1000" b="1"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 Features: 15–20 Attributes</a:t>
            </a:r>
          </a:p>
          <a:p>
            <a:r>
              <a:rPr lang="en-IN" sz="1000" b="1"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 Purpose: Analyse the relationship between social media usage and           </a:t>
            </a:r>
          </a:p>
          <a:p>
            <a:r>
              <a:rPr lang="en-IN" sz="1000" b="1"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       mental well-being</a:t>
            </a:r>
          </a:p>
          <a:p>
            <a:r>
              <a:rPr lang="en-IN" sz="1000" b="1"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Key Variables</a:t>
            </a:r>
          </a:p>
          <a:p>
            <a:r>
              <a:rPr lang="en-IN" sz="1000" b="1"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 Age, Gender</a:t>
            </a:r>
          </a:p>
          <a:p>
            <a:r>
              <a:rPr lang="en-IN" sz="1000" b="1"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 Platform Used</a:t>
            </a:r>
          </a:p>
          <a:p>
            <a:r>
              <a:rPr lang="en-IN" sz="1000" b="1"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 Daily Usage Hours</a:t>
            </a:r>
          </a:p>
          <a:p>
            <a:r>
              <a:rPr lang="en-IN" sz="1000" b="1"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 Sleep Duration</a:t>
            </a:r>
          </a:p>
          <a:p>
            <a:r>
              <a:rPr lang="en-IN" sz="1000" b="1"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 Stress &amp; Anxiety Levels</a:t>
            </a:r>
          </a:p>
          <a:p>
            <a:r>
              <a:rPr lang="en-IN" sz="1000" b="1"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rPr>
              <a:t>😊 Well-being Score</a:t>
            </a:r>
          </a:p>
          <a:p>
            <a:endParaRPr lang="en-IN"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a:p>
            <a:pPr algn="ctr"/>
            <a:endParaRPr lang="en-IN" dirty="0">
              <a:ln w="0"/>
              <a:solidFill>
                <a:schemeClr val="tx1"/>
              </a:solidFill>
              <a:effectLst>
                <a:outerShdw blurRad="38100" dist="19050" dir="2700000" algn="tl" rotWithShape="0">
                  <a:schemeClr val="dk1">
                    <a:alpha val="40000"/>
                  </a:schemeClr>
                </a:outerShdw>
              </a:effectLst>
              <a:latin typeface="Segoe UI" panose="020B0502040204020203" pitchFamily="34" charset="0"/>
              <a:cs typeface="Segoe UI" panose="020B0502040204020203" pitchFamily="34" charset="0"/>
            </a:endParaRPr>
          </a:p>
        </p:txBody>
      </p:sp>
      <p:graphicFrame>
        <p:nvGraphicFramePr>
          <p:cNvPr id="33" name="Content Placeholder 32">
            <a:extLst>
              <a:ext uri="{FF2B5EF4-FFF2-40B4-BE49-F238E27FC236}">
                <a16:creationId xmlns:a16="http://schemas.microsoft.com/office/drawing/2014/main" id="{D12378C7-B2F3-9751-D0B5-1333880131E5}"/>
              </a:ext>
            </a:extLst>
          </p:cNvPr>
          <p:cNvGraphicFramePr>
            <a:graphicFrameLocks noGrp="1"/>
          </p:cNvGraphicFramePr>
          <p:nvPr>
            <p:ph idx="1"/>
            <p:extLst>
              <p:ext uri="{D42A27DB-BD31-4B8C-83A1-F6EECF244321}">
                <p14:modId xmlns:p14="http://schemas.microsoft.com/office/powerpoint/2010/main" val="1159066222"/>
              </p:ext>
            </p:extLst>
          </p:nvPr>
        </p:nvGraphicFramePr>
        <p:xfrm>
          <a:off x="6497052" y="1966361"/>
          <a:ext cx="4794986" cy="2085473"/>
        </p:xfrm>
        <a:graphic>
          <a:graphicData uri="http://schemas.openxmlformats.org/drawingml/2006/chart">
            <c:chart xmlns:c="http://schemas.openxmlformats.org/drawingml/2006/chart" xmlns:r="http://schemas.openxmlformats.org/officeDocument/2006/relationships" r:id="rId2"/>
          </a:graphicData>
        </a:graphic>
      </p:graphicFrame>
      <p:sp>
        <p:nvSpPr>
          <p:cNvPr id="35" name="Rectangle 34">
            <a:extLst>
              <a:ext uri="{FF2B5EF4-FFF2-40B4-BE49-F238E27FC236}">
                <a16:creationId xmlns:a16="http://schemas.microsoft.com/office/drawing/2014/main" id="{D1B9675B-1339-8AD9-6255-166B2ECB2460}"/>
              </a:ext>
            </a:extLst>
          </p:cNvPr>
          <p:cNvSpPr/>
          <p:nvPr/>
        </p:nvSpPr>
        <p:spPr>
          <a:xfrm>
            <a:off x="1097280" y="5903495"/>
            <a:ext cx="10058399"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Segoe UI" panose="020B0502040204020203" pitchFamily="34" charset="0"/>
                <a:cs typeface="Segoe UI" panose="020B0502040204020203" pitchFamily="34" charset="0"/>
              </a:rPr>
              <a:t>data Flow :  Raw Data → Cleaning → EDA → Visualization → Insights</a:t>
            </a:r>
          </a:p>
        </p:txBody>
      </p:sp>
      <p:pic>
        <p:nvPicPr>
          <p:cNvPr id="2050" name="Picture 2" descr="Teenager boy in depression Mental stress from messages on social networks  The concept of online bullying in Laptop. isometric vector illustration.&quot;n  vector – Mental health Image on Unsplash">
            <a:extLst>
              <a:ext uri="{FF2B5EF4-FFF2-40B4-BE49-F238E27FC236}">
                <a16:creationId xmlns:a16="http://schemas.microsoft.com/office/drawing/2014/main" id="{81642DDE-F391-75C4-93D9-A01834AF55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14646" y="114700"/>
            <a:ext cx="2341033" cy="1560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714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6C29-4C45-2C16-665D-4B0ACA6C1152}"/>
              </a:ext>
            </a:extLst>
          </p:cNvPr>
          <p:cNvSpPr>
            <a:spLocks noGrp="1"/>
          </p:cNvSpPr>
          <p:nvPr>
            <p:ph type="title"/>
          </p:nvPr>
        </p:nvSpPr>
        <p:spPr>
          <a:xfrm>
            <a:off x="1066800" y="174309"/>
            <a:ext cx="10058400" cy="1450757"/>
          </a:xfrm>
        </p:spPr>
        <p:txBody>
          <a:bodyPr>
            <a:noAutofit/>
          </a:bodyPr>
          <a:lstStyle/>
          <a:p>
            <a:br>
              <a:rPr lang="en-IN" sz="4400" b="1" dirty="0"/>
            </a:br>
            <a:br>
              <a:rPr lang="en-IN" sz="4400" b="1" dirty="0"/>
            </a:br>
            <a:br>
              <a:rPr lang="en-IN" sz="4400" b="1" dirty="0"/>
            </a:br>
            <a:br>
              <a:rPr lang="en-IN" sz="4400" b="1" dirty="0"/>
            </a:br>
            <a:r>
              <a:rPr lang="en-IN" sz="4400" b="1" dirty="0"/>
              <a:t> </a:t>
            </a:r>
            <a:br>
              <a:rPr lang="en-IN" sz="4400" b="1" dirty="0"/>
            </a:br>
            <a:br>
              <a:rPr lang="en-IN" sz="4400" b="1" dirty="0"/>
            </a:br>
            <a:br>
              <a:rPr lang="en-IN" sz="4400" b="1" dirty="0"/>
            </a:br>
            <a:br>
              <a:rPr lang="en-IN" sz="4400" b="1" dirty="0"/>
            </a:br>
            <a:br>
              <a:rPr lang="en-IN" sz="4400" b="1" dirty="0"/>
            </a:br>
            <a:br>
              <a:rPr lang="en-IN" sz="4400" b="1" dirty="0"/>
            </a:br>
            <a:br>
              <a:rPr lang="en-IN" sz="4400" b="1" dirty="0"/>
            </a:br>
            <a:br>
              <a:rPr lang="en-IN" sz="4400" b="1" dirty="0"/>
            </a:br>
            <a:r>
              <a:rPr lang="en-IN" sz="4400" b="1" dirty="0">
                <a:latin typeface="Segoe UI Semibold" panose="020B0702040204020203" pitchFamily="34" charset="0"/>
                <a:cs typeface="Segoe UI Semibold" panose="020B0702040204020203" pitchFamily="34" charset="0"/>
              </a:rPr>
              <a:t>Methodology / How We Are Working</a:t>
            </a:r>
            <a:endParaRPr lang="en-IN" sz="4400" dirty="0">
              <a:latin typeface="Segoe UI Semibold" panose="020B0702040204020203" pitchFamily="34" charset="0"/>
              <a:cs typeface="Segoe UI Semibold" panose="020B0702040204020203" pitchFamily="34" charset="0"/>
            </a:endParaRPr>
          </a:p>
        </p:txBody>
      </p:sp>
      <p:cxnSp>
        <p:nvCxnSpPr>
          <p:cNvPr id="5" name="Straight Connector 4">
            <a:extLst>
              <a:ext uri="{FF2B5EF4-FFF2-40B4-BE49-F238E27FC236}">
                <a16:creationId xmlns:a16="http://schemas.microsoft.com/office/drawing/2014/main" id="{FFFD13AE-A4B3-A39F-D640-855493C18CEA}"/>
              </a:ext>
            </a:extLst>
          </p:cNvPr>
          <p:cNvCxnSpPr>
            <a:cxnSpLocks/>
          </p:cNvCxnSpPr>
          <p:nvPr/>
        </p:nvCxnSpPr>
        <p:spPr>
          <a:xfrm>
            <a:off x="6126480" y="1965158"/>
            <a:ext cx="0" cy="3903936"/>
          </a:xfrm>
          <a:prstGeom prst="line">
            <a:avLst/>
          </a:prstGeom>
        </p:spPr>
        <p:style>
          <a:lnRef idx="3">
            <a:schemeClr val="accent1"/>
          </a:lnRef>
          <a:fillRef idx="0">
            <a:schemeClr val="accent1"/>
          </a:fillRef>
          <a:effectRef idx="2">
            <a:schemeClr val="accent1"/>
          </a:effectRef>
          <a:fontRef idx="minor">
            <a:schemeClr val="tx1"/>
          </a:fontRef>
        </p:style>
      </p:cxnSp>
      <p:cxnSp>
        <p:nvCxnSpPr>
          <p:cNvPr id="6" name="Straight Connector 5">
            <a:extLst>
              <a:ext uri="{FF2B5EF4-FFF2-40B4-BE49-F238E27FC236}">
                <a16:creationId xmlns:a16="http://schemas.microsoft.com/office/drawing/2014/main" id="{F66E3682-8E5F-76D7-C1A5-C78DAE2A9682}"/>
              </a:ext>
            </a:extLst>
          </p:cNvPr>
          <p:cNvCxnSpPr>
            <a:cxnSpLocks/>
          </p:cNvCxnSpPr>
          <p:nvPr/>
        </p:nvCxnSpPr>
        <p:spPr>
          <a:xfrm>
            <a:off x="6184232" y="2109537"/>
            <a:ext cx="0" cy="3882189"/>
          </a:xfrm>
          <a:prstGeom prst="line">
            <a:avLst/>
          </a:prstGeom>
        </p:spPr>
        <p:style>
          <a:lnRef idx="3">
            <a:schemeClr val="accent1"/>
          </a:lnRef>
          <a:fillRef idx="0">
            <a:schemeClr val="accent1"/>
          </a:fillRef>
          <a:effectRef idx="2">
            <a:schemeClr val="accent1"/>
          </a:effectRef>
          <a:fontRef idx="minor">
            <a:schemeClr val="tx1"/>
          </a:fontRef>
        </p:style>
      </p:cxnSp>
      <p:sp>
        <p:nvSpPr>
          <p:cNvPr id="9" name="TextBox 8">
            <a:extLst>
              <a:ext uri="{FF2B5EF4-FFF2-40B4-BE49-F238E27FC236}">
                <a16:creationId xmlns:a16="http://schemas.microsoft.com/office/drawing/2014/main" id="{D5BA11AA-9568-1369-3D46-4CC41D5C216B}"/>
              </a:ext>
            </a:extLst>
          </p:cNvPr>
          <p:cNvSpPr txBox="1"/>
          <p:nvPr/>
        </p:nvSpPr>
        <p:spPr>
          <a:xfrm>
            <a:off x="1066800" y="1965157"/>
            <a:ext cx="2446419" cy="646331"/>
          </a:xfrm>
          <a:prstGeom prst="rect">
            <a:avLst/>
          </a:prstGeom>
          <a:noFill/>
        </p:spPr>
        <p:txBody>
          <a:bodyPr wrap="square" rtlCol="0">
            <a:spAutoFit/>
          </a:bodyPr>
          <a:lstStyle/>
          <a:p>
            <a:r>
              <a:rPr lang="en-IN" b="1" u="sng" dirty="0">
                <a:latin typeface="Segoe UI" panose="020B0502040204020203" pitchFamily="34" charset="0"/>
                <a:cs typeface="Segoe UI" panose="020B0502040204020203" pitchFamily="34" charset="0"/>
              </a:rPr>
              <a:t>Workflow</a:t>
            </a:r>
            <a:endParaRPr lang="en-IN" u="sng" dirty="0">
              <a:latin typeface="Segoe UI" panose="020B0502040204020203" pitchFamily="34" charset="0"/>
              <a:cs typeface="Segoe UI" panose="020B0502040204020203" pitchFamily="34" charset="0"/>
            </a:endParaRPr>
          </a:p>
          <a:p>
            <a:endParaRPr lang="en-IN" dirty="0">
              <a:latin typeface="Segoe UI" panose="020B0502040204020203" pitchFamily="34" charset="0"/>
              <a:cs typeface="Segoe UI" panose="020B0502040204020203" pitchFamily="34" charset="0"/>
            </a:endParaRPr>
          </a:p>
        </p:txBody>
      </p:sp>
      <p:sp>
        <p:nvSpPr>
          <p:cNvPr id="11" name="TextBox 10">
            <a:extLst>
              <a:ext uri="{FF2B5EF4-FFF2-40B4-BE49-F238E27FC236}">
                <a16:creationId xmlns:a16="http://schemas.microsoft.com/office/drawing/2014/main" id="{56E979A0-4B9D-2F67-A2D0-93DF42F54177}"/>
              </a:ext>
            </a:extLst>
          </p:cNvPr>
          <p:cNvSpPr txBox="1"/>
          <p:nvPr/>
        </p:nvSpPr>
        <p:spPr>
          <a:xfrm>
            <a:off x="6416842" y="1965156"/>
            <a:ext cx="2446419" cy="646331"/>
          </a:xfrm>
          <a:prstGeom prst="rect">
            <a:avLst/>
          </a:prstGeom>
          <a:noFill/>
        </p:spPr>
        <p:txBody>
          <a:bodyPr wrap="square" rtlCol="0">
            <a:spAutoFit/>
          </a:bodyPr>
          <a:lstStyle/>
          <a:p>
            <a:r>
              <a:rPr lang="en-IN" b="1" u="sng" dirty="0">
                <a:latin typeface="Segoe UI" panose="020B0502040204020203" pitchFamily="34" charset="0"/>
                <a:cs typeface="Segoe UI" panose="020B0502040204020203" pitchFamily="34" charset="0"/>
              </a:rPr>
              <a:t>Tools</a:t>
            </a:r>
            <a:r>
              <a:rPr lang="en-IN" b="1" dirty="0">
                <a:latin typeface="Segoe UI" panose="020B0502040204020203" pitchFamily="34" charset="0"/>
                <a:cs typeface="Segoe UI" panose="020B0502040204020203" pitchFamily="34" charset="0"/>
              </a:rPr>
              <a:t> Used</a:t>
            </a:r>
            <a:endParaRPr lang="en-IN" dirty="0">
              <a:latin typeface="Segoe UI" panose="020B0502040204020203" pitchFamily="34" charset="0"/>
              <a:cs typeface="Segoe UI" panose="020B0502040204020203" pitchFamily="34" charset="0"/>
            </a:endParaRPr>
          </a:p>
          <a:p>
            <a:endParaRPr lang="en-IN" dirty="0">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59625D07-80F2-7B7F-51A7-CD88D98462F4}"/>
              </a:ext>
            </a:extLst>
          </p:cNvPr>
          <p:cNvSpPr txBox="1"/>
          <p:nvPr/>
        </p:nvSpPr>
        <p:spPr>
          <a:xfrm>
            <a:off x="1066000" y="2611487"/>
            <a:ext cx="3753850" cy="2373342"/>
          </a:xfrm>
          <a:prstGeom prst="rect">
            <a:avLst/>
          </a:prstGeom>
          <a:noFill/>
        </p:spPr>
        <p:txBody>
          <a:bodyPr wrap="square">
            <a:spAutoFit/>
          </a:bodyPr>
          <a:lstStyle/>
          <a:p>
            <a:pPr marL="342900" lvl="0" indent="-342900">
              <a:lnSpc>
                <a:spcPct val="107000"/>
              </a:lnSpc>
              <a:spcAft>
                <a:spcPts val="800"/>
              </a:spcAft>
              <a:buFont typeface="+mj-lt"/>
              <a:buAutoNum type="arabicPeriod"/>
              <a:tabLst>
                <a:tab pos="457200" algn="l"/>
              </a:tabLst>
            </a:pPr>
            <a:r>
              <a:rPr lang="en-IN" sz="1800" kern="100" dirty="0">
                <a:effectLst/>
                <a:latin typeface="Segoe UI" panose="020B0502040204020203" pitchFamily="34" charset="0"/>
                <a:ea typeface="Aptos" panose="020B0004020202020204" pitchFamily="34" charset="0"/>
                <a:cs typeface="Segoe UI" panose="020B0502040204020203" pitchFamily="34" charset="0"/>
              </a:rPr>
              <a:t>Data Collection </a:t>
            </a:r>
          </a:p>
          <a:p>
            <a:pPr marL="342900" lvl="0" indent="-342900">
              <a:lnSpc>
                <a:spcPct val="107000"/>
              </a:lnSpc>
              <a:spcAft>
                <a:spcPts val="800"/>
              </a:spcAft>
              <a:buFont typeface="+mj-lt"/>
              <a:buAutoNum type="arabicPeriod"/>
              <a:tabLst>
                <a:tab pos="457200" algn="l"/>
              </a:tabLst>
            </a:pPr>
            <a:r>
              <a:rPr lang="en-IN" sz="1800" kern="100" dirty="0">
                <a:effectLst/>
                <a:latin typeface="Segoe UI" panose="020B0502040204020203" pitchFamily="34" charset="0"/>
                <a:ea typeface="Aptos" panose="020B0004020202020204" pitchFamily="34" charset="0"/>
                <a:cs typeface="Segoe UI" panose="020B0502040204020203" pitchFamily="34" charset="0"/>
              </a:rPr>
              <a:t>Data Preprocessing </a:t>
            </a:r>
          </a:p>
          <a:p>
            <a:pPr marL="342900" lvl="0" indent="-342900">
              <a:lnSpc>
                <a:spcPct val="107000"/>
              </a:lnSpc>
              <a:spcAft>
                <a:spcPts val="800"/>
              </a:spcAft>
              <a:buFont typeface="+mj-lt"/>
              <a:buAutoNum type="arabicPeriod"/>
              <a:tabLst>
                <a:tab pos="457200" algn="l"/>
              </a:tabLst>
            </a:pPr>
            <a:r>
              <a:rPr lang="en-IN" sz="1800" kern="100" dirty="0">
                <a:effectLst/>
                <a:latin typeface="Segoe UI" panose="020B0502040204020203" pitchFamily="34" charset="0"/>
                <a:ea typeface="Aptos" panose="020B0004020202020204" pitchFamily="34" charset="0"/>
                <a:cs typeface="Segoe UI" panose="020B0502040204020203" pitchFamily="34" charset="0"/>
              </a:rPr>
              <a:t>Exploratory Data Analysis (EDA) </a:t>
            </a:r>
          </a:p>
          <a:p>
            <a:pPr marL="342900" lvl="0" indent="-342900">
              <a:lnSpc>
                <a:spcPct val="107000"/>
              </a:lnSpc>
              <a:spcAft>
                <a:spcPts val="800"/>
              </a:spcAft>
              <a:buFont typeface="+mj-lt"/>
              <a:buAutoNum type="arabicPeriod"/>
              <a:tabLst>
                <a:tab pos="457200" algn="l"/>
              </a:tabLst>
            </a:pPr>
            <a:r>
              <a:rPr lang="en-IN" sz="1800" kern="100" dirty="0">
                <a:effectLst/>
                <a:latin typeface="Segoe UI" panose="020B0502040204020203" pitchFamily="34" charset="0"/>
                <a:ea typeface="Aptos" panose="020B0004020202020204" pitchFamily="34" charset="0"/>
                <a:cs typeface="Segoe UI" panose="020B0502040204020203" pitchFamily="34" charset="0"/>
              </a:rPr>
              <a:t>Statistical Analysis </a:t>
            </a:r>
          </a:p>
          <a:p>
            <a:pPr marL="342900" lvl="0" indent="-342900">
              <a:lnSpc>
                <a:spcPct val="107000"/>
              </a:lnSpc>
              <a:spcAft>
                <a:spcPts val="800"/>
              </a:spcAft>
              <a:buFont typeface="+mj-lt"/>
              <a:buAutoNum type="arabicPeriod"/>
              <a:tabLst>
                <a:tab pos="457200" algn="l"/>
              </a:tabLst>
            </a:pPr>
            <a:r>
              <a:rPr lang="en-IN" sz="1800" kern="100" dirty="0">
                <a:effectLst/>
                <a:latin typeface="Segoe UI" panose="020B0502040204020203" pitchFamily="34" charset="0"/>
                <a:ea typeface="Aptos" panose="020B0004020202020204" pitchFamily="34" charset="0"/>
                <a:cs typeface="Segoe UI" panose="020B0502040204020203" pitchFamily="34" charset="0"/>
              </a:rPr>
              <a:t>Visualization &amp; Interpretation </a:t>
            </a:r>
          </a:p>
          <a:p>
            <a:pPr marL="342900" lvl="0" indent="-342900">
              <a:lnSpc>
                <a:spcPct val="107000"/>
              </a:lnSpc>
              <a:spcAft>
                <a:spcPts val="800"/>
              </a:spcAft>
              <a:buFont typeface="+mj-lt"/>
              <a:buAutoNum type="arabicPeriod"/>
              <a:tabLst>
                <a:tab pos="457200" algn="l"/>
              </a:tabLst>
            </a:pPr>
            <a:r>
              <a:rPr lang="en-IN" sz="1800" kern="100" dirty="0">
                <a:effectLst/>
                <a:latin typeface="Segoe UI" panose="020B0502040204020203" pitchFamily="34" charset="0"/>
                <a:ea typeface="Aptos" panose="020B0004020202020204" pitchFamily="34" charset="0"/>
                <a:cs typeface="Segoe UI" panose="020B0502040204020203" pitchFamily="34" charset="0"/>
              </a:rPr>
              <a:t>Result Generation </a:t>
            </a:r>
          </a:p>
        </p:txBody>
      </p:sp>
      <p:pic>
        <p:nvPicPr>
          <p:cNvPr id="6146" name="Picture 2">
            <a:extLst>
              <a:ext uri="{FF2B5EF4-FFF2-40B4-BE49-F238E27FC236}">
                <a16:creationId xmlns:a16="http://schemas.microsoft.com/office/drawing/2014/main" id="{734EED79-500F-82BE-C1FD-74E3CCD0BF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7940" y="2360021"/>
            <a:ext cx="410046" cy="399222"/>
          </a:xfrm>
          <a:prstGeom prst="rect">
            <a:avLst/>
          </a:prstGeom>
          <a:noFill/>
          <a:extLst>
            <a:ext uri="{909E8E84-426E-40DD-AFC4-6F175D3DCCD1}">
              <a14:hiddenFill xmlns:a14="http://schemas.microsoft.com/office/drawing/2010/main">
                <a:solidFill>
                  <a:srgbClr val="FFFFFF"/>
                </a:solidFill>
              </a14:hiddenFill>
            </a:ext>
          </a:extLst>
        </p:spPr>
      </p:pic>
      <p:sp>
        <p:nvSpPr>
          <p:cNvPr id="16" name="AutoShape 6" descr="NumPy Logo PNG Vector (SVG) Free Download">
            <a:extLst>
              <a:ext uri="{FF2B5EF4-FFF2-40B4-BE49-F238E27FC236}">
                <a16:creationId xmlns:a16="http://schemas.microsoft.com/office/drawing/2014/main" id="{582B2206-8DA7-3A6A-13F7-0B5F783902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latin typeface="Segoe UI" panose="020B0502040204020203" pitchFamily="34" charset="0"/>
              <a:cs typeface="Segoe UI" panose="020B0502040204020203" pitchFamily="34" charset="0"/>
            </a:endParaRPr>
          </a:p>
        </p:txBody>
      </p:sp>
      <p:pic>
        <p:nvPicPr>
          <p:cNvPr id="6154" name="Picture 10" descr="Numpy color icon in PNG, SVG">
            <a:extLst>
              <a:ext uri="{FF2B5EF4-FFF2-40B4-BE49-F238E27FC236}">
                <a16:creationId xmlns:a16="http://schemas.microsoft.com/office/drawing/2014/main" id="{A1413454-7B92-7A6E-49B7-AC1AD6786B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93058" y="2351253"/>
            <a:ext cx="441566" cy="462387"/>
          </a:xfrm>
          <a:prstGeom prst="rect">
            <a:avLst/>
          </a:prstGeom>
          <a:noFill/>
          <a:extLst>
            <a:ext uri="{909E8E84-426E-40DD-AFC4-6F175D3DCCD1}">
              <a14:hiddenFill xmlns:a14="http://schemas.microsoft.com/office/drawing/2010/main">
                <a:solidFill>
                  <a:srgbClr val="FFFFFF"/>
                </a:solidFill>
              </a14:hiddenFill>
            </a:ext>
          </a:extLst>
        </p:spPr>
      </p:pic>
      <p:sp>
        <p:nvSpPr>
          <p:cNvPr id="18" name="Flowchart: Alternate Process 17">
            <a:extLst>
              <a:ext uri="{FF2B5EF4-FFF2-40B4-BE49-F238E27FC236}">
                <a16:creationId xmlns:a16="http://schemas.microsoft.com/office/drawing/2014/main" id="{439E5C7E-F944-43AF-0F39-775BEDEDF59F}"/>
              </a:ext>
            </a:extLst>
          </p:cNvPr>
          <p:cNvSpPr/>
          <p:nvPr/>
        </p:nvSpPr>
        <p:spPr>
          <a:xfrm>
            <a:off x="6327809" y="2405651"/>
            <a:ext cx="984793" cy="353592"/>
          </a:xfrm>
          <a:prstGeom prst="flowChartAlternateProcess">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Segoe UI" panose="020B0502040204020203" pitchFamily="34" charset="0"/>
                <a:cs typeface="Segoe UI" panose="020B0502040204020203" pitchFamily="34" charset="0"/>
              </a:rPr>
              <a:t>Python</a:t>
            </a:r>
            <a:endParaRPr lang="en-IN" dirty="0">
              <a:latin typeface="Segoe UI" panose="020B0502040204020203" pitchFamily="34" charset="0"/>
              <a:cs typeface="Segoe UI" panose="020B0502040204020203" pitchFamily="34" charset="0"/>
            </a:endParaRPr>
          </a:p>
        </p:txBody>
      </p:sp>
      <p:sp>
        <p:nvSpPr>
          <p:cNvPr id="20" name="Flowchart: Alternate Process 19">
            <a:extLst>
              <a:ext uri="{FF2B5EF4-FFF2-40B4-BE49-F238E27FC236}">
                <a16:creationId xmlns:a16="http://schemas.microsoft.com/office/drawing/2014/main" id="{497981FE-3E02-09B6-2BBC-EBA93EDA6E5D}"/>
              </a:ext>
            </a:extLst>
          </p:cNvPr>
          <p:cNvSpPr/>
          <p:nvPr/>
        </p:nvSpPr>
        <p:spPr>
          <a:xfrm>
            <a:off x="7893324" y="2356669"/>
            <a:ext cx="930440" cy="405926"/>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Segoe UI" panose="020B0502040204020203" pitchFamily="34" charset="0"/>
                <a:cs typeface="Segoe UI" panose="020B0502040204020203" pitchFamily="34" charset="0"/>
              </a:rPr>
              <a:t>Pandas</a:t>
            </a:r>
            <a:endParaRPr lang="en-IN" sz="1600" dirty="0">
              <a:latin typeface="Segoe UI" panose="020B0502040204020203" pitchFamily="34" charset="0"/>
              <a:cs typeface="Segoe UI" panose="020B0502040204020203" pitchFamily="34" charset="0"/>
            </a:endParaRPr>
          </a:p>
        </p:txBody>
      </p:sp>
      <p:sp>
        <p:nvSpPr>
          <p:cNvPr id="26" name="Flowchart: Alternate Process 25">
            <a:extLst>
              <a:ext uri="{FF2B5EF4-FFF2-40B4-BE49-F238E27FC236}">
                <a16:creationId xmlns:a16="http://schemas.microsoft.com/office/drawing/2014/main" id="{48EB9061-F3FA-88EB-14B5-D2AE2979B870}"/>
              </a:ext>
            </a:extLst>
          </p:cNvPr>
          <p:cNvSpPr/>
          <p:nvPr/>
        </p:nvSpPr>
        <p:spPr>
          <a:xfrm>
            <a:off x="9404486" y="2372711"/>
            <a:ext cx="994607" cy="368485"/>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Segoe UI" panose="020B0502040204020203" pitchFamily="34" charset="0"/>
                <a:cs typeface="Segoe UI" panose="020B0502040204020203" pitchFamily="34" charset="0"/>
              </a:rPr>
              <a:t>NumPy</a:t>
            </a:r>
            <a:endParaRPr lang="en-IN" dirty="0">
              <a:latin typeface="Segoe UI" panose="020B0502040204020203" pitchFamily="34" charset="0"/>
              <a:cs typeface="Segoe UI" panose="020B0502040204020203" pitchFamily="34" charset="0"/>
            </a:endParaRPr>
          </a:p>
        </p:txBody>
      </p:sp>
      <p:sp>
        <p:nvSpPr>
          <p:cNvPr id="30" name="Flowchart: Alternate Process 29">
            <a:extLst>
              <a:ext uri="{FF2B5EF4-FFF2-40B4-BE49-F238E27FC236}">
                <a16:creationId xmlns:a16="http://schemas.microsoft.com/office/drawing/2014/main" id="{3B8D585B-6504-FAB1-6289-74BB8D694ABC}"/>
              </a:ext>
            </a:extLst>
          </p:cNvPr>
          <p:cNvSpPr/>
          <p:nvPr/>
        </p:nvSpPr>
        <p:spPr>
          <a:xfrm>
            <a:off x="10960921" y="2335391"/>
            <a:ext cx="994607" cy="408770"/>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Segoe UI" panose="020B0502040204020203" pitchFamily="34" charset="0"/>
                <a:cs typeface="Segoe UI" panose="020B0502040204020203" pitchFamily="34" charset="0"/>
              </a:rPr>
              <a:t>Seaborn</a:t>
            </a:r>
            <a:endParaRPr lang="en-IN" sz="1600" dirty="0">
              <a:latin typeface="Segoe UI" panose="020B0502040204020203" pitchFamily="34" charset="0"/>
              <a:cs typeface="Segoe UI" panose="020B0502040204020203" pitchFamily="34" charset="0"/>
            </a:endParaRPr>
          </a:p>
        </p:txBody>
      </p:sp>
      <p:pic>
        <p:nvPicPr>
          <p:cNvPr id="6156" name="Picture 12" descr="Hire a dedicated Seaborn consultant">
            <a:extLst>
              <a:ext uri="{FF2B5EF4-FFF2-40B4-BE49-F238E27FC236}">
                <a16:creationId xmlns:a16="http://schemas.microsoft.com/office/drawing/2014/main" id="{4B76EF17-2181-8104-A21C-4A82A0EA19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19696" y="2330398"/>
            <a:ext cx="462387" cy="462387"/>
          </a:xfrm>
          <a:prstGeom prst="rect">
            <a:avLst/>
          </a:prstGeom>
          <a:noFill/>
          <a:extLst>
            <a:ext uri="{909E8E84-426E-40DD-AFC4-6F175D3DCCD1}">
              <a14:hiddenFill xmlns:a14="http://schemas.microsoft.com/office/drawing/2010/main">
                <a:solidFill>
                  <a:srgbClr val="FFFFFF"/>
                </a:solidFill>
              </a14:hiddenFill>
            </a:ext>
          </a:extLst>
        </p:spPr>
      </p:pic>
      <p:pic>
        <p:nvPicPr>
          <p:cNvPr id="34" name="Graphic 33" descr="Database with solid fill">
            <a:extLst>
              <a:ext uri="{FF2B5EF4-FFF2-40B4-BE49-F238E27FC236}">
                <a16:creationId xmlns:a16="http://schemas.microsoft.com/office/drawing/2014/main" id="{3ECD998A-972E-F6FD-2B30-1617C0A308B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33562" y="2532507"/>
            <a:ext cx="457200" cy="457200"/>
          </a:xfrm>
          <a:prstGeom prst="rect">
            <a:avLst/>
          </a:prstGeom>
        </p:spPr>
      </p:pic>
      <p:pic>
        <p:nvPicPr>
          <p:cNvPr id="36" name="Graphic 35" descr="Research with solid fill">
            <a:extLst>
              <a:ext uri="{FF2B5EF4-FFF2-40B4-BE49-F238E27FC236}">
                <a16:creationId xmlns:a16="http://schemas.microsoft.com/office/drawing/2014/main" id="{F37D1D5C-4693-CF5F-8833-3D16A425164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512601" y="2992587"/>
            <a:ext cx="453099" cy="453099"/>
          </a:xfrm>
          <a:prstGeom prst="rect">
            <a:avLst/>
          </a:prstGeom>
        </p:spPr>
      </p:pic>
      <p:pic>
        <p:nvPicPr>
          <p:cNvPr id="38" name="Graphic 37" descr="Head with gears with solid fill">
            <a:extLst>
              <a:ext uri="{FF2B5EF4-FFF2-40B4-BE49-F238E27FC236}">
                <a16:creationId xmlns:a16="http://schemas.microsoft.com/office/drawing/2014/main" id="{06E983D1-1F4D-383F-EDE7-BB68CF8BE28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11706" y="3340958"/>
            <a:ext cx="457200" cy="457200"/>
          </a:xfrm>
          <a:prstGeom prst="rect">
            <a:avLst/>
          </a:prstGeom>
        </p:spPr>
      </p:pic>
      <p:pic>
        <p:nvPicPr>
          <p:cNvPr id="40" name="Graphic 39" descr="Internet with solid fill">
            <a:extLst>
              <a:ext uri="{FF2B5EF4-FFF2-40B4-BE49-F238E27FC236}">
                <a16:creationId xmlns:a16="http://schemas.microsoft.com/office/drawing/2014/main" id="{0CD31D27-7839-A696-4ABB-78579CF4995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361668" y="3734203"/>
            <a:ext cx="506130" cy="506130"/>
          </a:xfrm>
          <a:prstGeom prst="rect">
            <a:avLst/>
          </a:prstGeom>
        </p:spPr>
      </p:pic>
      <p:pic>
        <p:nvPicPr>
          <p:cNvPr id="42" name="Graphic 41" descr="Target with solid fill">
            <a:extLst>
              <a:ext uri="{FF2B5EF4-FFF2-40B4-BE49-F238E27FC236}">
                <a16:creationId xmlns:a16="http://schemas.microsoft.com/office/drawing/2014/main" id="{96AED70D-2BD0-5744-B207-4A8173BAE5A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406770" y="4135573"/>
            <a:ext cx="493295" cy="493295"/>
          </a:xfrm>
          <a:prstGeom prst="rect">
            <a:avLst/>
          </a:prstGeom>
        </p:spPr>
      </p:pic>
      <p:pic>
        <p:nvPicPr>
          <p:cNvPr id="44" name="Graphic 43" descr="Document with solid fill">
            <a:extLst>
              <a:ext uri="{FF2B5EF4-FFF2-40B4-BE49-F238E27FC236}">
                <a16:creationId xmlns:a16="http://schemas.microsoft.com/office/drawing/2014/main" id="{24DCDAAB-1D69-3B0B-60A9-6FCEE350428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247326" y="4522816"/>
            <a:ext cx="457201" cy="457201"/>
          </a:xfrm>
          <a:prstGeom prst="rect">
            <a:avLst/>
          </a:prstGeom>
        </p:spPr>
      </p:pic>
      <p:sp>
        <p:nvSpPr>
          <p:cNvPr id="46" name="TextBox 45">
            <a:extLst>
              <a:ext uri="{FF2B5EF4-FFF2-40B4-BE49-F238E27FC236}">
                <a16:creationId xmlns:a16="http://schemas.microsoft.com/office/drawing/2014/main" id="{932C53A2-E84E-8967-846E-38779CF9F480}"/>
              </a:ext>
            </a:extLst>
          </p:cNvPr>
          <p:cNvSpPr txBox="1"/>
          <p:nvPr/>
        </p:nvSpPr>
        <p:spPr>
          <a:xfrm>
            <a:off x="6431280" y="3085154"/>
            <a:ext cx="6096000" cy="369332"/>
          </a:xfrm>
          <a:prstGeom prst="rect">
            <a:avLst/>
          </a:prstGeom>
          <a:noFill/>
        </p:spPr>
        <p:txBody>
          <a:bodyPr wrap="square">
            <a:spAutoFit/>
          </a:bodyPr>
          <a:lstStyle/>
          <a:p>
            <a:r>
              <a:rPr lang="en-IN" sz="1800" b="1" u="sng" dirty="0">
                <a:effectLst/>
                <a:latin typeface="Aptos" panose="020B0004020202020204" pitchFamily="34" charset="0"/>
                <a:ea typeface="Aptos" panose="020B0004020202020204" pitchFamily="34" charset="0"/>
                <a:cs typeface="Times New Roman" panose="02020603050405020304" pitchFamily="18" charset="0"/>
              </a:rPr>
              <a:t>Flow Diagram</a:t>
            </a:r>
            <a:endParaRPr lang="en-IN" u="sng" dirty="0"/>
          </a:p>
        </p:txBody>
      </p:sp>
      <p:sp>
        <p:nvSpPr>
          <p:cNvPr id="47" name="Flowchart: Alternate Process 46">
            <a:extLst>
              <a:ext uri="{FF2B5EF4-FFF2-40B4-BE49-F238E27FC236}">
                <a16:creationId xmlns:a16="http://schemas.microsoft.com/office/drawing/2014/main" id="{12D1485E-D12A-6DC5-DBA8-49EDF5E829CD}"/>
              </a:ext>
            </a:extLst>
          </p:cNvPr>
          <p:cNvSpPr/>
          <p:nvPr/>
        </p:nvSpPr>
        <p:spPr>
          <a:xfrm>
            <a:off x="7170820" y="3531956"/>
            <a:ext cx="4211053" cy="396198"/>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Segoe UI" panose="020B0502040204020203" pitchFamily="34" charset="0"/>
                <a:cs typeface="Segoe UI" panose="020B0502040204020203" pitchFamily="34" charset="0"/>
              </a:rPr>
              <a:t>Dataset </a:t>
            </a:r>
          </a:p>
        </p:txBody>
      </p:sp>
      <p:sp>
        <p:nvSpPr>
          <p:cNvPr id="6147" name="Flowchart: Alternate Process 6146">
            <a:extLst>
              <a:ext uri="{FF2B5EF4-FFF2-40B4-BE49-F238E27FC236}">
                <a16:creationId xmlns:a16="http://schemas.microsoft.com/office/drawing/2014/main" id="{13871F07-2886-C335-BB19-9CE525745A28}"/>
              </a:ext>
            </a:extLst>
          </p:cNvPr>
          <p:cNvSpPr/>
          <p:nvPr/>
        </p:nvSpPr>
        <p:spPr>
          <a:xfrm>
            <a:off x="7170820" y="4253006"/>
            <a:ext cx="4211053" cy="396199"/>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Segoe UI" panose="020B0502040204020203" pitchFamily="34" charset="0"/>
                <a:cs typeface="Segoe UI" panose="020B0502040204020203" pitchFamily="34" charset="0"/>
              </a:rPr>
              <a:t>Cleaning</a:t>
            </a:r>
          </a:p>
        </p:txBody>
      </p:sp>
      <p:sp>
        <p:nvSpPr>
          <p:cNvPr id="6150" name="Flowchart: Alternate Process 6149">
            <a:extLst>
              <a:ext uri="{FF2B5EF4-FFF2-40B4-BE49-F238E27FC236}">
                <a16:creationId xmlns:a16="http://schemas.microsoft.com/office/drawing/2014/main" id="{486DB16B-4307-D478-DC06-A4868C6C6DAE}"/>
              </a:ext>
            </a:extLst>
          </p:cNvPr>
          <p:cNvSpPr/>
          <p:nvPr/>
        </p:nvSpPr>
        <p:spPr>
          <a:xfrm>
            <a:off x="7170820" y="4984830"/>
            <a:ext cx="4211053" cy="396200"/>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Segoe UI" panose="020B0502040204020203" pitchFamily="34" charset="0"/>
                <a:cs typeface="Segoe UI" panose="020B0502040204020203" pitchFamily="34" charset="0"/>
              </a:rPr>
              <a:t>Analysis &amp; Visualization </a:t>
            </a:r>
          </a:p>
        </p:txBody>
      </p:sp>
      <p:sp>
        <p:nvSpPr>
          <p:cNvPr id="6152" name="Flowchart: Alternate Process 6151">
            <a:extLst>
              <a:ext uri="{FF2B5EF4-FFF2-40B4-BE49-F238E27FC236}">
                <a16:creationId xmlns:a16="http://schemas.microsoft.com/office/drawing/2014/main" id="{26CE58F0-46B8-6091-2D86-30DC8132F33C}"/>
              </a:ext>
            </a:extLst>
          </p:cNvPr>
          <p:cNvSpPr/>
          <p:nvPr/>
        </p:nvSpPr>
        <p:spPr>
          <a:xfrm>
            <a:off x="7170819" y="5670995"/>
            <a:ext cx="4211053" cy="396198"/>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Segoe UI" panose="020B0502040204020203" pitchFamily="34" charset="0"/>
                <a:cs typeface="Segoe UI" panose="020B0502040204020203" pitchFamily="34" charset="0"/>
              </a:rPr>
              <a:t>Insights</a:t>
            </a:r>
          </a:p>
        </p:txBody>
      </p:sp>
      <p:sp>
        <p:nvSpPr>
          <p:cNvPr id="6157" name="Arrow: Down 6156">
            <a:extLst>
              <a:ext uri="{FF2B5EF4-FFF2-40B4-BE49-F238E27FC236}">
                <a16:creationId xmlns:a16="http://schemas.microsoft.com/office/drawing/2014/main" id="{B96369CF-7018-7212-CC6C-F59E20D38CCE}"/>
              </a:ext>
            </a:extLst>
          </p:cNvPr>
          <p:cNvSpPr/>
          <p:nvPr/>
        </p:nvSpPr>
        <p:spPr>
          <a:xfrm>
            <a:off x="9276346" y="3948876"/>
            <a:ext cx="202926" cy="29145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cs typeface="Segoe UI" panose="020B0502040204020203" pitchFamily="34" charset="0"/>
            </a:endParaRPr>
          </a:p>
        </p:txBody>
      </p:sp>
      <p:sp>
        <p:nvSpPr>
          <p:cNvPr id="6161" name="Arrow: Down 6160">
            <a:extLst>
              <a:ext uri="{FF2B5EF4-FFF2-40B4-BE49-F238E27FC236}">
                <a16:creationId xmlns:a16="http://schemas.microsoft.com/office/drawing/2014/main" id="{8A80A5ED-27C1-6298-1473-3D7B91F4A1F5}"/>
              </a:ext>
            </a:extLst>
          </p:cNvPr>
          <p:cNvSpPr/>
          <p:nvPr/>
        </p:nvSpPr>
        <p:spPr>
          <a:xfrm>
            <a:off x="9276346" y="4682471"/>
            <a:ext cx="202928" cy="26747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cs typeface="Segoe UI" panose="020B0502040204020203" pitchFamily="34" charset="0"/>
            </a:endParaRPr>
          </a:p>
        </p:txBody>
      </p:sp>
      <p:sp>
        <p:nvSpPr>
          <p:cNvPr id="6164" name="Arrow: Down 6163">
            <a:extLst>
              <a:ext uri="{FF2B5EF4-FFF2-40B4-BE49-F238E27FC236}">
                <a16:creationId xmlns:a16="http://schemas.microsoft.com/office/drawing/2014/main" id="{25048FE1-DAF2-AFC9-2413-F1608CC70B10}"/>
              </a:ext>
            </a:extLst>
          </p:cNvPr>
          <p:cNvSpPr/>
          <p:nvPr/>
        </p:nvSpPr>
        <p:spPr>
          <a:xfrm>
            <a:off x="9276345" y="5401722"/>
            <a:ext cx="202924" cy="26927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40208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92B87-3B06-E6B8-385A-4D45539F6FAE}"/>
              </a:ext>
            </a:extLst>
          </p:cNvPr>
          <p:cNvSpPr>
            <a:spLocks noGrp="1"/>
          </p:cNvSpPr>
          <p:nvPr>
            <p:ph type="title"/>
          </p:nvPr>
        </p:nvSpPr>
        <p:spPr>
          <a:xfrm>
            <a:off x="1066800" y="366813"/>
            <a:ext cx="10058400" cy="1450757"/>
          </a:xfrm>
        </p:spPr>
        <p:txBody>
          <a:bodyPr>
            <a:normAutofit fontScale="90000"/>
          </a:bodyPr>
          <a:lstStyle/>
          <a:p>
            <a:br>
              <a:rPr lang="en-IN" b="1" dirty="0"/>
            </a:br>
            <a:br>
              <a:rPr lang="en-IN" b="1" dirty="0"/>
            </a:br>
            <a:br>
              <a:rPr lang="en-IN" b="1" dirty="0"/>
            </a:br>
            <a:r>
              <a:rPr lang="en-IN" sz="6000" b="1" dirty="0">
                <a:latin typeface="Segoe UI Semibold" panose="020B0702040204020203" pitchFamily="34" charset="0"/>
                <a:cs typeface="Segoe UI Semibold" panose="020B0702040204020203" pitchFamily="34" charset="0"/>
              </a:rPr>
              <a:t>Expected</a:t>
            </a:r>
            <a:r>
              <a:rPr lang="en-IN" sz="6700" b="1" dirty="0"/>
              <a:t> Outcomes                       </a:t>
            </a:r>
            <a:endParaRPr lang="en-IN" dirty="0"/>
          </a:p>
        </p:txBody>
      </p:sp>
      <p:sp>
        <p:nvSpPr>
          <p:cNvPr id="3" name="Content Placeholder 2">
            <a:extLst>
              <a:ext uri="{FF2B5EF4-FFF2-40B4-BE49-F238E27FC236}">
                <a16:creationId xmlns:a16="http://schemas.microsoft.com/office/drawing/2014/main" id="{023190FC-A274-D861-5F33-0B5C78B7BC12}"/>
              </a:ext>
            </a:extLst>
          </p:cNvPr>
          <p:cNvSpPr>
            <a:spLocks noGrp="1"/>
          </p:cNvSpPr>
          <p:nvPr>
            <p:ph idx="1"/>
          </p:nvPr>
        </p:nvSpPr>
        <p:spPr>
          <a:xfrm>
            <a:off x="1201553" y="1965157"/>
            <a:ext cx="10058400" cy="2005264"/>
          </a:xfrm>
        </p:spPr>
        <p:txBody>
          <a:bodyPr>
            <a:normAutofit fontScale="47500" lnSpcReduction="20000"/>
          </a:bodyPr>
          <a:lstStyle/>
          <a:p>
            <a:pPr lvl="0">
              <a:buFont typeface="Wingdings" panose="05000000000000000000" pitchFamily="2" charset="2"/>
              <a:buChar char="q"/>
            </a:pPr>
            <a:r>
              <a:rPr lang="en-IN" sz="4300" dirty="0">
                <a:latin typeface="Segoe UI" panose="020B0502040204020203" pitchFamily="34" charset="0"/>
                <a:cs typeface="Segoe UI" panose="020B0502040204020203" pitchFamily="34" charset="0"/>
              </a:rPr>
              <a:t>Understand social media usage trends </a:t>
            </a:r>
          </a:p>
          <a:p>
            <a:pPr lvl="0">
              <a:buFont typeface="Wingdings" panose="05000000000000000000" pitchFamily="2" charset="2"/>
              <a:buChar char="q"/>
            </a:pPr>
            <a:r>
              <a:rPr lang="en-IN" sz="4300" dirty="0">
                <a:latin typeface="Segoe UI" panose="020B0502040204020203" pitchFamily="34" charset="0"/>
                <a:cs typeface="Segoe UI" panose="020B0502040204020203" pitchFamily="34" charset="0"/>
              </a:rPr>
              <a:t>Identify factors affecting mental health </a:t>
            </a:r>
          </a:p>
          <a:p>
            <a:pPr lvl="0">
              <a:buFont typeface="Wingdings" panose="05000000000000000000" pitchFamily="2" charset="2"/>
              <a:buChar char="q"/>
            </a:pPr>
            <a:r>
              <a:rPr lang="en-IN" sz="4300" dirty="0">
                <a:latin typeface="Segoe UI" panose="020B0502040204020203" pitchFamily="34" charset="0"/>
                <a:cs typeface="Segoe UI" panose="020B0502040204020203" pitchFamily="34" charset="0"/>
              </a:rPr>
              <a:t>Discover relationships between screen time and psychological well-being </a:t>
            </a:r>
          </a:p>
          <a:p>
            <a:pPr lvl="0">
              <a:buFont typeface="Wingdings" panose="05000000000000000000" pitchFamily="2" charset="2"/>
              <a:buChar char="q"/>
            </a:pPr>
            <a:r>
              <a:rPr lang="en-IN" sz="4300" dirty="0">
                <a:latin typeface="Segoe UI" panose="020B0502040204020203" pitchFamily="34" charset="0"/>
                <a:cs typeface="Segoe UI" panose="020B0502040204020203" pitchFamily="34" charset="0"/>
              </a:rPr>
              <a:t>Generate visual insights for awareness </a:t>
            </a:r>
          </a:p>
          <a:p>
            <a:pPr lvl="0">
              <a:buFont typeface="Wingdings" panose="05000000000000000000" pitchFamily="2" charset="2"/>
              <a:buChar char="q"/>
            </a:pPr>
            <a:r>
              <a:rPr lang="en-IN" sz="4300" dirty="0">
                <a:latin typeface="Segoe UI" panose="020B0502040204020203" pitchFamily="34" charset="0"/>
                <a:cs typeface="Segoe UI" panose="020B0502040204020203" pitchFamily="34" charset="0"/>
              </a:rPr>
              <a:t>Provide data-supported recommendations </a:t>
            </a:r>
          </a:p>
          <a:p>
            <a:endParaRPr lang="en-IN" dirty="0"/>
          </a:p>
        </p:txBody>
      </p:sp>
      <p:sp>
        <p:nvSpPr>
          <p:cNvPr id="5" name="TextBox 4">
            <a:extLst>
              <a:ext uri="{FF2B5EF4-FFF2-40B4-BE49-F238E27FC236}">
                <a16:creationId xmlns:a16="http://schemas.microsoft.com/office/drawing/2014/main" id="{CF796721-70BF-51AE-C370-328EF22391DF}"/>
              </a:ext>
            </a:extLst>
          </p:cNvPr>
          <p:cNvSpPr txBox="1"/>
          <p:nvPr/>
        </p:nvSpPr>
        <p:spPr>
          <a:xfrm>
            <a:off x="1201553" y="4118008"/>
            <a:ext cx="6096000" cy="2061526"/>
          </a:xfrm>
          <a:prstGeom prst="rect">
            <a:avLst/>
          </a:prstGeom>
          <a:noFill/>
        </p:spPr>
        <p:txBody>
          <a:bodyPr wrap="square">
            <a:spAutoFit/>
          </a:bodyPr>
          <a:lstStyle/>
          <a:p>
            <a:pPr>
              <a:lnSpc>
                <a:spcPct val="107000"/>
              </a:lnSpc>
              <a:spcAft>
                <a:spcPts val="800"/>
              </a:spcAft>
              <a:buNone/>
            </a:pPr>
            <a:r>
              <a:rPr lang="en-IN" sz="2400" b="1" u="sng" kern="100" dirty="0">
                <a:effectLst/>
                <a:latin typeface="Segoe UI" panose="020B0502040204020203" pitchFamily="34" charset="0"/>
                <a:ea typeface="Aptos" panose="020B0004020202020204" pitchFamily="34" charset="0"/>
                <a:cs typeface="Segoe UI" panose="020B0502040204020203" pitchFamily="34" charset="0"/>
              </a:rPr>
              <a:t>Expected Deliverables</a:t>
            </a:r>
          </a:p>
          <a:p>
            <a:pPr>
              <a:lnSpc>
                <a:spcPct val="107000"/>
              </a:lnSpc>
              <a:spcAft>
                <a:spcPts val="800"/>
              </a:spcAft>
              <a:buNone/>
            </a:pPr>
            <a:r>
              <a:rPr lang="en-IN" kern="100" dirty="0">
                <a:effectLst/>
                <a:latin typeface="Segoe UI" panose="020B0502040204020203" pitchFamily="34" charset="0"/>
                <a:ea typeface="Aptos" panose="020B0004020202020204" pitchFamily="34" charset="0"/>
                <a:cs typeface="Segoe UI" panose="020B0502040204020203" pitchFamily="34" charset="0"/>
              </a:rPr>
              <a:t>✔ Analytical Dashboard</a:t>
            </a:r>
          </a:p>
          <a:p>
            <a:pPr>
              <a:lnSpc>
                <a:spcPct val="107000"/>
              </a:lnSpc>
              <a:spcAft>
                <a:spcPts val="800"/>
              </a:spcAft>
              <a:buNone/>
            </a:pPr>
            <a:r>
              <a:rPr lang="en-IN" kern="100" dirty="0">
                <a:effectLst/>
                <a:latin typeface="Segoe UI" panose="020B0502040204020203" pitchFamily="34" charset="0"/>
                <a:ea typeface="Aptos" panose="020B0004020202020204" pitchFamily="34" charset="0"/>
                <a:cs typeface="Segoe UI" panose="020B0502040204020203" pitchFamily="34" charset="0"/>
              </a:rPr>
              <a:t>✔ Visual Reports</a:t>
            </a:r>
          </a:p>
          <a:p>
            <a:pPr>
              <a:lnSpc>
                <a:spcPct val="107000"/>
              </a:lnSpc>
              <a:spcAft>
                <a:spcPts val="800"/>
              </a:spcAft>
              <a:buNone/>
            </a:pPr>
            <a:r>
              <a:rPr lang="en-IN" kern="100" dirty="0">
                <a:effectLst/>
                <a:latin typeface="Segoe UI" panose="020B0502040204020203" pitchFamily="34" charset="0"/>
                <a:ea typeface="Aptos" panose="020B0004020202020204" pitchFamily="34" charset="0"/>
                <a:cs typeface="Segoe UI" panose="020B0502040204020203" pitchFamily="34" charset="0"/>
              </a:rPr>
              <a:t>✔ Research Findings</a:t>
            </a:r>
          </a:p>
          <a:p>
            <a:pPr>
              <a:lnSpc>
                <a:spcPct val="107000"/>
              </a:lnSpc>
              <a:spcAft>
                <a:spcPts val="800"/>
              </a:spcAft>
              <a:buNone/>
            </a:pPr>
            <a:r>
              <a:rPr lang="en-IN" kern="100" dirty="0">
                <a:effectLst/>
                <a:latin typeface="Segoe UI" panose="020B0502040204020203" pitchFamily="34" charset="0"/>
                <a:ea typeface="Aptos" panose="020B0004020202020204" pitchFamily="34" charset="0"/>
                <a:cs typeface="Segoe UI" panose="020B0502040204020203" pitchFamily="34" charset="0"/>
              </a:rPr>
              <a:t>✔ Final Project Documentation</a:t>
            </a:r>
          </a:p>
        </p:txBody>
      </p:sp>
      <p:pic>
        <p:nvPicPr>
          <p:cNvPr id="7172" name="Picture 4" descr="A Tale of Two Epidemics | AAB">
            <a:extLst>
              <a:ext uri="{FF2B5EF4-FFF2-40B4-BE49-F238E27FC236}">
                <a16:creationId xmlns:a16="http://schemas.microsoft.com/office/drawing/2014/main" id="{0EAB83B4-0436-6FF7-FD70-2EBE29E0FE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2139" y="3250646"/>
            <a:ext cx="3905184" cy="292888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The Impact of Social Media on Youth Mental Health — My Good Brain">
            <a:extLst>
              <a:ext uri="{FF2B5EF4-FFF2-40B4-BE49-F238E27FC236}">
                <a16:creationId xmlns:a16="http://schemas.microsoft.com/office/drawing/2014/main" id="{C3B73F4D-1C02-567B-13D0-5C29723C02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6688" y="125446"/>
            <a:ext cx="2873828" cy="1547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4994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CE648-75C6-6809-2CC7-9568E06F4B5F}"/>
              </a:ext>
            </a:extLst>
          </p:cNvPr>
          <p:cNvSpPr>
            <a:spLocks noGrp="1"/>
          </p:cNvSpPr>
          <p:nvPr>
            <p:ph type="title"/>
          </p:nvPr>
        </p:nvSpPr>
        <p:spPr/>
        <p:txBody>
          <a:bodyPr>
            <a:normAutofit/>
          </a:bodyPr>
          <a:lstStyle/>
          <a:p>
            <a:r>
              <a:rPr lang="en-IN" sz="5400" b="1" dirty="0">
                <a:latin typeface="Segoe UI Semibold" panose="020B0702040204020203" pitchFamily="34" charset="0"/>
                <a:cs typeface="Segoe UI Semibold" panose="020B0702040204020203" pitchFamily="34" charset="0"/>
              </a:rPr>
              <a:t>Conclusion &amp; Future Scope</a:t>
            </a:r>
            <a:endParaRPr lang="en-IN" sz="5400" dirty="0">
              <a:latin typeface="Segoe UI Semibold" panose="020B0702040204020203" pitchFamily="34" charset="0"/>
              <a:cs typeface="Segoe UI Semibold" panose="020B0702040204020203" pitchFamily="34" charset="0"/>
            </a:endParaRPr>
          </a:p>
        </p:txBody>
      </p:sp>
      <p:sp>
        <p:nvSpPr>
          <p:cNvPr id="3" name="Content Placeholder 2">
            <a:extLst>
              <a:ext uri="{FF2B5EF4-FFF2-40B4-BE49-F238E27FC236}">
                <a16:creationId xmlns:a16="http://schemas.microsoft.com/office/drawing/2014/main" id="{062486C0-2FD5-CC7E-7F91-02257DFFDE7C}"/>
              </a:ext>
            </a:extLst>
          </p:cNvPr>
          <p:cNvSpPr>
            <a:spLocks noGrp="1"/>
          </p:cNvSpPr>
          <p:nvPr>
            <p:ph idx="1"/>
          </p:nvPr>
        </p:nvSpPr>
        <p:spPr/>
        <p:txBody>
          <a:bodyPr/>
          <a:lstStyle/>
          <a:p>
            <a:r>
              <a:rPr lang="en-IN" b="1" dirty="0">
                <a:latin typeface="Segoe UI" panose="020B0502040204020203" pitchFamily="34" charset="0"/>
                <a:cs typeface="Segoe UI" panose="020B0502040204020203" pitchFamily="34" charset="0"/>
              </a:rPr>
              <a:t>Conclusion</a:t>
            </a:r>
            <a:endParaRPr lang="en-IN" dirty="0">
              <a:latin typeface="Segoe UI" panose="020B0502040204020203" pitchFamily="34" charset="0"/>
              <a:cs typeface="Segoe UI" panose="020B0502040204020203" pitchFamily="34" charset="0"/>
            </a:endParaRPr>
          </a:p>
          <a:p>
            <a:r>
              <a:rPr lang="en-IN" dirty="0">
                <a:latin typeface="Segoe UI" panose="020B0502040204020203" pitchFamily="34" charset="0"/>
                <a:cs typeface="Segoe UI" panose="020B0502040204020203" pitchFamily="34" charset="0"/>
              </a:rPr>
              <a:t>This project aims to provide a comprehensive understanding of how social media influences mental health using data-driven analysis. The findings can help users, educators, and researchers better understand digital behaviour and its psychological impact.</a:t>
            </a:r>
          </a:p>
          <a:p>
            <a:r>
              <a:rPr lang="en-IN" b="1" dirty="0">
                <a:latin typeface="Segoe UI" panose="020B0502040204020203" pitchFamily="34" charset="0"/>
                <a:cs typeface="Segoe UI" panose="020B0502040204020203" pitchFamily="34" charset="0"/>
              </a:rPr>
              <a:t>Future Scope</a:t>
            </a:r>
            <a:endParaRPr lang="en-IN" dirty="0">
              <a:latin typeface="Segoe UI" panose="020B0502040204020203" pitchFamily="34" charset="0"/>
              <a:cs typeface="Segoe UI" panose="020B0502040204020203" pitchFamily="34" charset="0"/>
            </a:endParaRPr>
          </a:p>
          <a:p>
            <a:pPr lvl="0"/>
            <a:r>
              <a:rPr lang="en-IN" dirty="0">
                <a:latin typeface="Segoe UI" panose="020B0502040204020203" pitchFamily="34" charset="0"/>
                <a:cs typeface="Segoe UI" panose="020B0502040204020203" pitchFamily="34" charset="0"/>
              </a:rPr>
              <a:t>Real-time monitoring system </a:t>
            </a:r>
          </a:p>
          <a:p>
            <a:pPr lvl="0"/>
            <a:r>
              <a:rPr lang="en-IN" dirty="0">
                <a:latin typeface="Segoe UI" panose="020B0502040204020203" pitchFamily="34" charset="0"/>
                <a:cs typeface="Segoe UI" panose="020B0502040204020203" pitchFamily="34" charset="0"/>
              </a:rPr>
              <a:t>Machine Learning prediction models </a:t>
            </a:r>
          </a:p>
          <a:p>
            <a:pPr lvl="0"/>
            <a:r>
              <a:rPr lang="en-IN" dirty="0">
                <a:latin typeface="Segoe UI" panose="020B0502040204020203" pitchFamily="34" charset="0"/>
                <a:cs typeface="Segoe UI" panose="020B0502040204020203" pitchFamily="34" charset="0"/>
              </a:rPr>
              <a:t>Mental health risk detection </a:t>
            </a:r>
          </a:p>
          <a:p>
            <a:pPr lvl="0"/>
            <a:r>
              <a:rPr lang="en-IN" dirty="0">
                <a:latin typeface="Segoe UI" panose="020B0502040204020203" pitchFamily="34" charset="0"/>
                <a:cs typeface="Segoe UI" panose="020B0502040204020203" pitchFamily="34" charset="0"/>
              </a:rPr>
              <a:t>Personalized recommendations </a:t>
            </a:r>
          </a:p>
          <a:p>
            <a:endParaRPr lang="en-IN" dirty="0"/>
          </a:p>
        </p:txBody>
      </p:sp>
      <p:pic>
        <p:nvPicPr>
          <p:cNvPr id="8196" name="Picture 4" descr="One week break from social media improves overall well-being, depression,  anxiety: Study | Health">
            <a:extLst>
              <a:ext uri="{FF2B5EF4-FFF2-40B4-BE49-F238E27FC236}">
                <a16:creationId xmlns:a16="http://schemas.microsoft.com/office/drawing/2014/main" id="{ACE68812-A9BA-4F87-893F-C28E65F771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7789" y="3429001"/>
            <a:ext cx="4450079" cy="22258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6180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4E383-9381-B1F3-BC77-889C5109988C}"/>
              </a:ext>
            </a:extLst>
          </p:cNvPr>
          <p:cNvSpPr>
            <a:spLocks noGrp="1"/>
          </p:cNvSpPr>
          <p:nvPr>
            <p:ph type="ctrTitle"/>
          </p:nvPr>
        </p:nvSpPr>
        <p:spPr/>
        <p:txBody>
          <a:bodyPr/>
          <a:lstStyle/>
          <a:p>
            <a:pPr algn="ctr"/>
            <a:r>
              <a:rPr lang="en-US" dirty="0">
                <a:latin typeface="Segoe UI Semibold" panose="020B0702040204020203" pitchFamily="34" charset="0"/>
                <a:cs typeface="Segoe UI Semibold" panose="020B0702040204020203" pitchFamily="34" charset="0"/>
              </a:rPr>
              <a:t>ANY QUESTIONS?</a:t>
            </a:r>
            <a:endParaRPr lang="en-IN" dirty="0">
              <a:latin typeface="Segoe UI Semibold" panose="020B0702040204020203" pitchFamily="34" charset="0"/>
              <a:cs typeface="Segoe UI Semibold" panose="020B0702040204020203" pitchFamily="34" charset="0"/>
            </a:endParaRPr>
          </a:p>
        </p:txBody>
      </p:sp>
      <p:sp>
        <p:nvSpPr>
          <p:cNvPr id="3" name="Subtitle 2">
            <a:extLst>
              <a:ext uri="{FF2B5EF4-FFF2-40B4-BE49-F238E27FC236}">
                <a16:creationId xmlns:a16="http://schemas.microsoft.com/office/drawing/2014/main" id="{CAEB7F16-8CA8-4463-D1DD-76B15CB9610E}"/>
              </a:ext>
            </a:extLst>
          </p:cNvPr>
          <p:cNvSpPr>
            <a:spLocks noGrp="1"/>
          </p:cNvSpPr>
          <p:nvPr>
            <p:ph type="subTitle" idx="1"/>
          </p:nvPr>
        </p:nvSpPr>
        <p:spPr/>
        <p:txBody>
          <a:bodyPr/>
          <a:lstStyle/>
          <a:p>
            <a:pPr algn="ctr"/>
            <a:r>
              <a:rPr lang="en-US" dirty="0">
                <a:latin typeface="Segoe UI Semibold" panose="020B0702040204020203" pitchFamily="34" charset="0"/>
                <a:cs typeface="Segoe UI Semibold" panose="020B0702040204020203" pitchFamily="34" charset="0"/>
              </a:rPr>
              <a:t>thank you for your attention</a:t>
            </a:r>
          </a:p>
          <a:p>
            <a:pPr algn="ctr"/>
            <a:r>
              <a:rPr lang="en-US" sz="1000" dirty="0">
                <a:latin typeface="Segoe UI Semibold" panose="020B0702040204020203" pitchFamily="34" charset="0"/>
                <a:cs typeface="Segoe UI Semibold" panose="020B0702040204020203" pitchFamily="34" charset="0"/>
              </a:rPr>
              <a:t>Ganesh | Deepika | bhuwan | srividhya | vrinda</a:t>
            </a:r>
          </a:p>
        </p:txBody>
      </p:sp>
    </p:spTree>
    <p:extLst>
      <p:ext uri="{BB962C8B-B14F-4D97-AF65-F5344CB8AC3E}">
        <p14:creationId xmlns:p14="http://schemas.microsoft.com/office/powerpoint/2010/main" val="3058388462"/>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E3DA18C2-75F1-4980-A5F0-165F6F71DE6D}"/>
    </a:ext>
  </a:extLst>
</a:theme>
</file>

<file path=docProps/app.xml><?xml version="1.0" encoding="utf-8"?>
<Properties xmlns="http://schemas.openxmlformats.org/officeDocument/2006/extended-properties" xmlns:vt="http://schemas.openxmlformats.org/officeDocument/2006/docPropsVTypes">
  <Template>Retrospect</Template>
  <TotalTime>485</TotalTime>
  <Words>491</Words>
  <Application>Microsoft Office PowerPoint</Application>
  <PresentationFormat>Widescreen</PresentationFormat>
  <Paragraphs>132</Paragraphs>
  <Slides>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Aptos</vt:lpstr>
      <vt:lpstr>Arial</vt:lpstr>
      <vt:lpstr>Calibri</vt:lpstr>
      <vt:lpstr>Calibri Light</vt:lpstr>
      <vt:lpstr>Segoe UI</vt:lpstr>
      <vt:lpstr>Segoe UI Semibold</vt:lpstr>
      <vt:lpstr>Wingdings</vt:lpstr>
      <vt:lpstr>Retrospect</vt:lpstr>
      <vt:lpstr>Impact of Social Media usage on Mental Health A Data-Driven Analysis of Social Media Usage and Psychological Well-being  M.Sc. Data Science(60 ECTS) Department of Data Science  Guided By: Prof.Farhan Khan</vt:lpstr>
      <vt:lpstr>Problem Statement</vt:lpstr>
      <vt:lpstr>Project Objective</vt:lpstr>
      <vt:lpstr>Data Representation</vt:lpstr>
      <vt:lpstr>             Methodology / How We Are Working</vt:lpstr>
      <vt:lpstr>   Expected Outcomes                       </vt:lpstr>
      <vt:lpstr>Conclusion &amp; Future Scope</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Vrinda Suni</dc:creator>
  <cp:lastModifiedBy>Vrinda Suni</cp:lastModifiedBy>
  <cp:revision>6</cp:revision>
  <dcterms:created xsi:type="dcterms:W3CDTF">2026-06-12T15:21:13Z</dcterms:created>
  <dcterms:modified xsi:type="dcterms:W3CDTF">2026-06-13T10:44:51Z</dcterms:modified>
</cp:coreProperties>
</file>